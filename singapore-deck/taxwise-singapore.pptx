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e1c384e7691400f" /><Relationship Type="http://schemas.openxmlformats.org/package/2006/relationships/metadata/core-properties" Target="/docProps/core.xml" Id="Rbed0d1d63aa045f6" /><Relationship Type="http://schemas.openxmlformats.org/officeDocument/2006/relationships/extended-properties" Target="/docProps/app.xml" Id="Rabef0dcc69104511" /><Relationship Type="http://schemas.openxmlformats.org/officeDocument/2006/relationships/custom-properties" Target="/docProps/custom.xml" Id="Reb36ccb5b34946e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971844bca4c4e0d"/>
  </p:notesMasterIdLst>
  <p:sldIdLst>
    <p:sldId id="256" r:id="R9e683e08bf174d1f"/>
    <p:sldId id="257" r:id="R503837f8324f487b"/>
    <p:sldId id="258" r:id="Rf76489e367214a7d"/>
    <p:sldId id="259" r:id="R1048d14356884e0e"/>
    <p:sldId id="260" r:id="R69a8b10c3ba0489a"/>
    <p:sldId id="261" r:id="R2b327740ad464d1e"/>
    <p:sldId id="262" r:id="R4ca50b55df674e02"/>
    <p:sldId id="263" r:id="R81dc2763e57a494b"/>
    <p:sldId id="264" r:id="R2642b53ed92c4772"/>
    <p:sldId id="265" r:id="Rccf784f25963471e"/>
    <p:sldId id="266" r:id="R6f426ec893744e9e"/>
    <p:sldId id="267" r:id="Rb326ff331d4d4957"/>
    <p:sldId id="268" r:id="R5d421d63604f40c7"/>
    <p:sldId id="269" r:id="R99558aef726e43b8"/>
    <p:sldId id="270" r:id="R231ac74756a24e66"/>
    <p:sldId id="271" r:id="R375302379f014af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e683e08bf174d1f" /><Relationship Type="http://schemas.openxmlformats.org/officeDocument/2006/relationships/slide" Target="/ppt/slides/slide2.xml" Id="R503837f8324f487b" /><Relationship Type="http://schemas.openxmlformats.org/officeDocument/2006/relationships/slide" Target="/ppt/slides/slide3.xml" Id="Rf76489e367214a7d" /><Relationship Type="http://schemas.openxmlformats.org/officeDocument/2006/relationships/slide" Target="/ppt/slides/slide4.xml" Id="R1048d14356884e0e" /><Relationship Type="http://schemas.openxmlformats.org/officeDocument/2006/relationships/slide" Target="/ppt/slides/slide5.xml" Id="R69a8b10c3ba0489a" /><Relationship Type="http://schemas.openxmlformats.org/officeDocument/2006/relationships/slide" Target="/ppt/slides/slide6.xml" Id="R2b327740ad464d1e" /><Relationship Type="http://schemas.openxmlformats.org/officeDocument/2006/relationships/slide" Target="/ppt/slides/slide7.xml" Id="R4ca50b55df674e02" /><Relationship Type="http://schemas.openxmlformats.org/officeDocument/2006/relationships/slide" Target="/ppt/slides/slide8.xml" Id="R81dc2763e57a494b" /><Relationship Type="http://schemas.openxmlformats.org/officeDocument/2006/relationships/slide" Target="/ppt/slides/slide9.xml" Id="R2642b53ed92c4772" /><Relationship Type="http://schemas.openxmlformats.org/officeDocument/2006/relationships/slide" Target="/ppt/slides/slide10.xml" Id="Rccf784f25963471e" /><Relationship Type="http://schemas.openxmlformats.org/officeDocument/2006/relationships/slide" Target="/ppt/slides/slide11.xml" Id="R6f426ec893744e9e" /><Relationship Type="http://schemas.openxmlformats.org/officeDocument/2006/relationships/slide" Target="/ppt/slides/slide12.xml" Id="Rb326ff331d4d4957" /><Relationship Type="http://schemas.openxmlformats.org/officeDocument/2006/relationships/slide" Target="/ppt/slides/slide13.xml" Id="R5d421d63604f40c7" /><Relationship Type="http://schemas.openxmlformats.org/officeDocument/2006/relationships/slide" Target="/ppt/slides/slide14.xml" Id="R99558aef726e43b8" /><Relationship Type="http://schemas.openxmlformats.org/officeDocument/2006/relationships/slide" Target="/ppt/slides/slide15.xml" Id="R231ac74756a24e66" /><Relationship Type="http://schemas.openxmlformats.org/officeDocument/2006/relationships/slide" Target="/ppt/slides/slide16.xml" Id="R375302379f014af2" /><Relationship Type="http://schemas.openxmlformats.org/officeDocument/2006/relationships/notesMaster" Target="/ppt/notesMasters/notesMaster1.xml" Id="R8971844bca4c4e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8f793d7431a419b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68b938a965e42b6" /><Relationship Type="http://schemas.openxmlformats.org/officeDocument/2006/relationships/slide" Target="/ppt/slides/slide2.xml" Id="R04d5eee254224d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3e9d050626e495c" /><Relationship Type="http://schemas.openxmlformats.org/officeDocument/2006/relationships/slide" Target="/ppt/slides/slide3.xml" Id="R193f55df172540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c2e06b800334b5d" /><Relationship Type="http://schemas.openxmlformats.org/officeDocument/2006/relationships/slide" Target="/ppt/slides/slide4.xml" Id="R6548cc72db1645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7321ee5041947f9" /><Relationship Type="http://schemas.openxmlformats.org/officeDocument/2006/relationships/slide" Target="/ppt/slides/slide5.xml" Id="Rd1db9b8f16ec4c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b667f1af5934e8e" /><Relationship Type="http://schemas.openxmlformats.org/officeDocument/2006/relationships/slide" Target="/ppt/slides/slide6.xml" Id="Rdfbf0bb71cab44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abce8f8516d4a81" /><Relationship Type="http://schemas.openxmlformats.org/officeDocument/2006/relationships/slide" Target="/ppt/slides/slide7.xml" Id="Rf598c7c0945e4e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738c5443a3d4982" /><Relationship Type="http://schemas.openxmlformats.org/officeDocument/2006/relationships/slide" Target="/ppt/slides/slide8.xml" Id="R9230e668511c43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638a9785f13486d" /><Relationship Type="http://schemas.openxmlformats.org/officeDocument/2006/relationships/slide" Target="/ppt/slides/slide9.xml" Id="Rf6234527c30743f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d702339c7ac48ee" /><Relationship Type="http://schemas.openxmlformats.org/officeDocument/2006/relationships/slide" Target="/ppt/slides/slide10.xml" Id="Rd37f4989ab084d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4f100e27d6547ce" /><Relationship Type="http://schemas.openxmlformats.org/officeDocument/2006/relationships/slide" Target="/ppt/slides/slide11.xml" Id="R5a5812c6ff9a43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992881ca6f642b9" /><Relationship Type="http://schemas.openxmlformats.org/officeDocument/2006/relationships/slide" Target="/ppt/slides/slide12.xml" Id="Raa01ac30cb324ce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12740856433496f" /><Relationship Type="http://schemas.openxmlformats.org/officeDocument/2006/relationships/slide" Target="/ppt/slides/slide13.xml" Id="Ra03396a8744340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06623eed8bf4660" /><Relationship Type="http://schemas.openxmlformats.org/officeDocument/2006/relationships/slide" Target="/ppt/slides/slide14.xml" Id="R837f1e243751476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521724652264fc3" /><Relationship Type="http://schemas.openxmlformats.org/officeDocument/2006/relationships/slide" Target="/ppt/slides/slide15.xml" Id="R30d273b1d863455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57cd3c997604539" /><Relationship Type="http://schemas.openxmlformats.org/officeDocument/2006/relationships/slide" Target="/ppt/slides/slide16.xml" Id="R8d4f828210fd43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by establishing that this is an established practice, not a new venture. Ten years, 500 clients, 30 people in-house. Chennai is the second office. Do not rush the four figures — let them land before moving 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These are the three practice lines as published on the website. The point to land is that they are not separate products: one team does the recurring compliance, the management reporting and the transaction work.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Pivot. Everything so far has been India. From here the deck is about Singapore.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Three qualitative arguments only — there are deliberately no market statistics on this slide. Drop your own research in here if the audience expects numbers; the layout leaves a clean band below the cards for a stat row.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This is the problem slide. Do not soften it. The cost of a local hire is fixed and it lands before any of the work gets done. Pause on the third point — obligations do not scale down, which is what catches smaller entities out.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Pivot to the offer.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down the four steps in order. Every name on this slide is a real filing: Form F5 is the quarterly GST return, ECI is the estimated chargeable income filing, Form C-S or C is the corporate return, and ACRA takes the annual return plus XBRL accounts. Deliberately no rates or deadlines — those move.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commercial claim. Say plainly that the saving is structural: preparation happens in Bangalore, sign-off happens with a Singapore-qualified CA, and the client carries no headcount. Be ready to substantiate the 50 per cent figure if asked — have a worked comparison to hand.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Pivot to the cross-border work, which is where most of the real engagement sits.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Both poles, then the money movement between them. FEMA governs the India leg on every transaction. ODI covers Indian money going out, FC-GPR covers money coming in, and the India-Singapore treaty governs relief. If the prospect has an existing structure, this is the slide to go off-script 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adjacent work, grouped as the client sees it. Valuation matters most to anyone raising or transferring shares — Rule 11UA and FEMA pricing both bite.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differentiator: all of this is in-house and on one payroll. No sub-contracting and no associate network means one point of accountability. The Singapore-qualified CA is the point to press with this audience.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Unusual for a CA firm and worth dwelling on. Engineers on staff means the practice systems are built around a filing calendar rather than a sales pipeline, and it means we can build a client a tool when they need 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Partner-led. The person who scopes the engagement is the person who reviews it. Hand over to HK Vinay here if he is in the room.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on the three steps and leave the contact block up. The ask is a thirty-minute scoping call, nothing larger.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d322132f05402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3f9fc4d0e642d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ed5ef37d384a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8552b08fdc41d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50b356d8d645d0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6af50aa81f62405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37974e8dc447c3" /><Relationship Type="http://schemas.openxmlformats.org/officeDocument/2006/relationships/image" Target="/ppt/media/image.png" Id="Ra4af6cbf496d41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d6916fd724e47" /><Relationship Type="http://schemas.openxmlformats.org/officeDocument/2006/relationships/notesSlide" Target="/ppt/notesSlides/notesSlide1.xml" Id="R63c83abf9cdb48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e1ba09424482b" /><Relationship Type="http://schemas.openxmlformats.org/officeDocument/2006/relationships/notesSlide" Target="/ppt/notesSlides/notesSlide2.xml" Id="R09b01a6b689545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61639fa4a4291" /><Relationship Type="http://schemas.openxmlformats.org/officeDocument/2006/relationships/notesSlide" Target="/ppt/notesSlides/notesSlide3.xml" Id="R9959b5d99cfd4e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3f4536f944710" /><Relationship Type="http://schemas.openxmlformats.org/officeDocument/2006/relationships/notesSlide" Target="/ppt/notesSlides/notesSlide4.xml" Id="R09d060dd78b74c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1ab524d204fa7" /><Relationship Type="http://schemas.openxmlformats.org/officeDocument/2006/relationships/notesSlide" Target="/ppt/notesSlides/notesSlide5.xml" Id="R14f7d97508cc49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3bc7af3734889" /><Relationship Type="http://schemas.openxmlformats.org/officeDocument/2006/relationships/notesSlide" Target="/ppt/notesSlides/notesSlide6.xml" Id="Rf412a86383b741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579dad3570467c" /><Relationship Type="http://schemas.openxmlformats.org/officeDocument/2006/relationships/notesSlide" Target="/ppt/notesSlides/notesSlide7.xml" Id="R9060bd0809ef4b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6a285d47a47d4" /><Relationship Type="http://schemas.openxmlformats.org/officeDocument/2006/relationships/notesSlide" Target="/ppt/notesSlides/notesSlide8.xml" Id="Rb2d0df8655474f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891b0035304033" /><Relationship Type="http://schemas.openxmlformats.org/officeDocument/2006/relationships/notesSlide" Target="/ppt/notesSlides/notesSlide9.xml" Id="R3ec226f86d144c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954891fb14ff5" /><Relationship Type="http://schemas.openxmlformats.org/officeDocument/2006/relationships/notesSlide" Target="/ppt/notesSlides/notesSlide10.xml" Id="Rcfd9f8b6e4be4f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94aaf99e044d9" /><Relationship Type="http://schemas.openxmlformats.org/officeDocument/2006/relationships/notesSlide" Target="/ppt/notesSlides/notesSlide11.xml" Id="R8fe7e811991f49a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6a56baafc4b42" /><Relationship Type="http://schemas.openxmlformats.org/officeDocument/2006/relationships/notesSlide" Target="/ppt/notesSlides/notesSlide12.xml" Id="Re26a68d513ae40f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18312b16441f0" /><Relationship Type="http://schemas.openxmlformats.org/officeDocument/2006/relationships/notesSlide" Target="/ppt/notesSlides/notesSlide13.xml" Id="R4ac301bf728f45b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ff969259e494b" /><Relationship Type="http://schemas.openxmlformats.org/officeDocument/2006/relationships/notesSlide" Target="/ppt/notesSlides/notesSlide14.xml" Id="R5939a8b0bdef42d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9c6bcccd64af3" /><Relationship Type="http://schemas.openxmlformats.org/officeDocument/2006/relationships/notesSlide" Target="/ppt/notesSlides/notesSlide15.xml" Id="R5b0fbd00090842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00" name="!!scene-orb-gold"/>
          <p:cNvSpPr/>
          <p:nvPr/>
        </p:nvSpPr>
        <p:spPr>
          <a:xfrm xmlns:a="http://schemas.openxmlformats.org/drawingml/2006/main">
            <a:off x="7380000" y="432000"/>
            <a:ext cx="4680000" cy="46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!!scene-orb-steel"/>
          <p:cNvSpPr/>
          <p:nvPr/>
        </p:nvSpPr>
        <p:spPr>
          <a:xfrm xmlns:a="http://schemas.openxmlformats.org/drawingml/2006/main">
            <a:off x="1440000" y="306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2" name="!!scene-wash"/>
          <p:cNvSpPr/>
          <p:nvPr/>
        </p:nvSpPr>
        <p:spPr>
          <a:xfrm xmlns:a="http://schemas.openxmlformats.org/drawingml/2006/main">
            <a:off x="0" y="4896000"/>
            <a:ext cx="12193200" cy="196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!!scene-rule-navy"/>
          <p:cNvSpPr/>
          <p:nvPr/>
        </p:nvSpPr>
        <p:spPr>
          <a:xfrm xmlns:a="http://schemas.openxmlformats.org/drawingml/2006/main">
            <a:off x="11509200" y="4392000"/>
            <a:ext cx="18000" cy="12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4" name="!!scene-rule-gold"/>
          <p:cNvSpPr/>
          <p:nvPr/>
        </p:nvSpPr>
        <p:spPr>
          <a:xfrm xmlns:a="http://schemas.openxmlformats.org/drawingml/2006/main">
            <a:off x="5040000" y="4104000"/>
            <a:ext cx="2088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5" name="!!scene-dot"/>
          <p:cNvSpPr/>
          <p:nvPr/>
        </p:nvSpPr>
        <p:spPr>
          <a:xfrm xmlns:a="http://schemas.openxmlformats.org/drawingml/2006/main">
            <a:off x="7081200" y="4068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00006" name="Picture 1" descr="TaxWise Consultants shield mark, reversed in off-whi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f6cbf496d41a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677200" y="1188000"/>
            <a:ext cx="835200" cy="936000"/>
          </a:xfrm>
          <a:prstGeom xmlns:a="http://schemas.openxmlformats.org/drawingml/2006/main" prst="rect">
            <a:avLst/>
          </a:prstGeom>
        </p:spPr>
      </p:pic>
      <p:sp>
        <p:nvSpPr>
          <p:cNvPr id="100007" name="!!#s1-eye-loc"/>
          <p:cNvSpPr txBox="1"/>
          <p:nvPr/>
        </p:nvSpPr>
        <p:spPr>
          <a:xfrm xmlns:a="http://schemas.openxmlformats.org/drawingml/2006/main">
            <a:off x="684000" y="2448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BANGALORE · CHENNAI · SINGAPORE</a:t>
            </a:r>
          </a:p>
        </p:txBody>
      </p:sp>
      <p:sp>
        <p:nvSpPr>
          <p:cNvPr id="100008" name="!!#s1-title"/>
          <p:cNvSpPr txBox="1"/>
          <p:nvPr/>
        </p:nvSpPr>
        <p:spPr>
          <a:xfrm xmlns:a="http://schemas.openxmlformats.org/drawingml/2006/main">
            <a:off x="684000" y="2772000"/>
            <a:ext cx="10825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5800" b="1">
                <a:solidFill>
                  <a:srgbClr val="F5F4F2"/>
                </a:solidFill>
                <a:latin typeface="Georgia"/>
                <a:ea typeface="Georgia"/>
              </a:rPr>
              <a:t>TaxWise Consultants</a:t>
            </a:r>
          </a:p>
        </p:txBody>
      </p:sp>
      <p:sp>
        <p:nvSpPr>
          <p:cNvPr id="100009" name="!!#s1-strap"/>
          <p:cNvSpPr txBox="1"/>
          <p:nvPr/>
        </p:nvSpPr>
        <p:spPr>
          <a:xfrm xmlns:a="http://schemas.openxmlformats.org/drawingml/2006/main">
            <a:off x="1778400" y="5148000"/>
            <a:ext cx="864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Cross-border finance, tax and compliance for companies operating between India and Singapore.</a:t>
            </a:r>
          </a:p>
        </p:txBody>
      </p:sp>
      <p:sp>
        <p:nvSpPr>
          <p:cNvPr id="100010" name="!!#s1-meta"/>
          <p:cNvSpPr txBox="1"/>
          <p:nvPr/>
        </p:nvSpPr>
        <p:spPr>
          <a:xfrm xmlns:a="http://schemas.openxmlformats.org/drawingml/2006/main">
            <a:off x="684000" y="5976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00" spc="180">
                <a:solidFill>
                  <a:srgbClr val="8A9BBF"/>
                </a:solidFill>
                <a:latin typeface="Arial"/>
                <a:ea typeface="Arial"/>
              </a:rPr>
              <a:t>SINGAPORE PRACTICE  ·  2026  ·  TWCHARTERED.COM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08" grpId="0"/>
      <p:bldP spid="100009" grpId="1"/>
    </p:bldLst>
  </p:timing>
</p:sld>
</file>

<file path=ppt/slides/slide2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11" name="!!scene-orb-gold"/>
          <p:cNvSpPr/>
          <p:nvPr/>
        </p:nvSpPr>
        <p:spPr>
          <a:xfrm xmlns:a="http://schemas.openxmlformats.org/drawingml/2006/main">
            <a:off x="8640000" y="342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2" name="!!scene-orb-steel"/>
          <p:cNvSpPr/>
          <p:nvPr/>
        </p:nvSpPr>
        <p:spPr>
          <a:xfrm xmlns:a="http://schemas.openxmlformats.org/drawingml/2006/main">
            <a:off x="792000" y="3240000"/>
            <a:ext cx="2880000" cy="28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!!scene-wash"/>
          <p:cNvSpPr/>
          <p:nvPr/>
        </p:nvSpPr>
        <p:spPr>
          <a:xfrm xmlns:a="http://schemas.openxmlformats.org/drawingml/2006/main">
            <a:off x="684000" y="4536000"/>
            <a:ext cx="10825200" cy="1404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4" name="!!scene-rule-navy"/>
          <p:cNvSpPr/>
          <p:nvPr/>
        </p:nvSpPr>
        <p:spPr>
          <a:xfrm xmlns:a="http://schemas.openxmlformats.org/drawingml/2006/main">
            <a:off x="11509200" y="864000"/>
            <a:ext cx="18000" cy="36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6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7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8" name="!!#s2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019" name="!!#s2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practice today</a:t>
            </a:r>
          </a:p>
        </p:txBody>
      </p:sp>
      <p:sp>
        <p:nvSpPr>
          <p:cNvPr id="100020" name="!!#s2-lead"/>
          <p:cNvSpPr txBox="1"/>
          <p:nvPr/>
        </p:nvSpPr>
        <p:spPr>
          <a:xfrm xmlns:a="http://schemas.openxmlformats.org/drawingml/2006/main">
            <a:off x="684000" y="2376000"/>
            <a:ext cx="6768000" cy="2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900">
                <a:solidFill>
                  <a:srgbClr val="8A9BBF"/>
                </a:solidFill>
                <a:latin typeface="Arial"/>
                <a:ea typeface="Arial"/>
              </a:rPr>
              <a:t>TaxWise Consultants is a chartered accountancy and finance advisory firm headquartered in Bangalore, with a second office in Chennai. We are the finance and compliance function for companies that would rather not build one in-house.</a:t>
            </a:r>
          </a:p>
        </p:txBody>
      </p:sp>
      <p:sp>
        <p:nvSpPr>
          <p:cNvPr id="100021" name="!!#s2-eye-office"/>
          <p:cNvSpPr txBox="1"/>
          <p:nvPr/>
        </p:nvSpPr>
        <p:spPr>
          <a:xfrm xmlns:a="http://schemas.openxmlformats.org/drawingml/2006/main">
            <a:off x="7740000" y="2376000"/>
            <a:ext cx="376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REGISTERED OFFICE</a:t>
            </a:r>
          </a:p>
        </p:txBody>
      </p:sp>
      <p:sp>
        <p:nvSpPr>
          <p:cNvPr id="100022" name="!!#s2-addr"/>
          <p:cNvSpPr txBox="1"/>
          <p:nvPr/>
        </p:nvSpPr>
        <p:spPr>
          <a:xfrm xmlns:a="http://schemas.openxmlformats.org/drawingml/2006/main">
            <a:off x="7740000" y="2682000"/>
            <a:ext cx="3769200" cy="88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600">
                <a:solidFill>
                  <a:srgbClr val="8A9BBF"/>
                </a:solidFill>
                <a:latin typeface="Arial"/>
                <a:ea typeface="Arial"/>
              </a:rPr>
              <a:t>307, 1st Floor, 14th Main Road, RMV Extension, Sadhashivnagar, Bangalore 560 080</a:t>
            </a:r>
          </a:p>
        </p:txBody>
      </p:sp>
      <p:sp>
        <p:nvSpPr>
          <p:cNvPr id="100023" name="!!#s2-div"/>
          <p:cNvSpPr/>
          <p:nvPr/>
        </p:nvSpPr>
        <p:spPr>
          <a:xfrm xmlns:a="http://schemas.openxmlformats.org/drawingml/2006/main">
            <a:off x="7740000" y="3672000"/>
            <a:ext cx="3769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4" name="!!#s2-eye-office2"/>
          <p:cNvSpPr txBox="1"/>
          <p:nvPr/>
        </p:nvSpPr>
        <p:spPr>
          <a:xfrm xmlns:a="http://schemas.openxmlformats.org/drawingml/2006/main">
            <a:off x="7740000" y="3798000"/>
            <a:ext cx="376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SECOND OFFICE</a:t>
            </a:r>
          </a:p>
        </p:txBody>
      </p:sp>
      <p:sp>
        <p:nvSpPr>
          <p:cNvPr id="100025" name="!!#s2-addr2"/>
          <p:cNvSpPr txBox="1"/>
          <p:nvPr/>
        </p:nvSpPr>
        <p:spPr>
          <a:xfrm xmlns:a="http://schemas.openxmlformats.org/drawingml/2006/main">
            <a:off x="7740000" y="4086000"/>
            <a:ext cx="37692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600">
                <a:solidFill>
                  <a:srgbClr val="8A9BBF"/>
                </a:solidFill>
                <a:latin typeface="Arial"/>
                <a:ea typeface="Arial"/>
              </a:rPr>
              <a:t>Chennai</a:t>
            </a:r>
          </a:p>
        </p:txBody>
      </p:sp>
      <p:sp>
        <p:nvSpPr>
          <p:cNvPr id="100026" name="!!#s2-kpi0"/>
          <p:cNvSpPr txBox="1"/>
          <p:nvPr/>
        </p:nvSpPr>
        <p:spPr>
          <a:xfrm xmlns:a="http://schemas.openxmlformats.org/drawingml/2006/main">
            <a:off x="936000" y="4752000"/>
            <a:ext cx="22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10+</a:t>
            </a:r>
          </a:p>
        </p:txBody>
      </p:sp>
      <p:sp>
        <p:nvSpPr>
          <p:cNvPr id="100027" name="!!#s2-kpisub0"/>
          <p:cNvSpPr txBox="1"/>
          <p:nvPr/>
        </p:nvSpPr>
        <p:spPr>
          <a:xfrm xmlns:a="http://schemas.openxmlformats.org/drawingml/2006/main">
            <a:off x="936000" y="5454000"/>
            <a:ext cx="2210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Years in practice</a:t>
            </a:r>
          </a:p>
        </p:txBody>
      </p:sp>
      <p:sp>
        <p:nvSpPr>
          <p:cNvPr id="100028" name="!!#s2-kpi1"/>
          <p:cNvSpPr txBox="1"/>
          <p:nvPr/>
        </p:nvSpPr>
        <p:spPr>
          <a:xfrm xmlns:a="http://schemas.openxmlformats.org/drawingml/2006/main">
            <a:off x="3722400" y="4752000"/>
            <a:ext cx="22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500+</a:t>
            </a:r>
          </a:p>
        </p:txBody>
      </p:sp>
      <p:sp>
        <p:nvSpPr>
          <p:cNvPr id="100029" name="!!#s2-kpisub1"/>
          <p:cNvSpPr txBox="1"/>
          <p:nvPr/>
        </p:nvSpPr>
        <p:spPr>
          <a:xfrm xmlns:a="http://schemas.openxmlformats.org/drawingml/2006/main">
            <a:off x="3722400" y="5454000"/>
            <a:ext cx="2210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Clients advised</a:t>
            </a:r>
          </a:p>
        </p:txBody>
      </p:sp>
      <p:sp>
        <p:nvSpPr>
          <p:cNvPr id="100030" name="!!#s2-kpi2"/>
          <p:cNvSpPr txBox="1"/>
          <p:nvPr/>
        </p:nvSpPr>
        <p:spPr>
          <a:xfrm xmlns:a="http://schemas.openxmlformats.org/drawingml/2006/main">
            <a:off x="6508800" y="4752000"/>
            <a:ext cx="22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30+</a:t>
            </a:r>
          </a:p>
        </p:txBody>
      </p:sp>
      <p:sp>
        <p:nvSpPr>
          <p:cNvPr id="100031" name="!!#s2-kpisub2"/>
          <p:cNvSpPr txBox="1"/>
          <p:nvPr/>
        </p:nvSpPr>
        <p:spPr>
          <a:xfrm xmlns:a="http://schemas.openxmlformats.org/drawingml/2006/main">
            <a:off x="6508800" y="5454000"/>
            <a:ext cx="2210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In-house specialists</a:t>
            </a:r>
          </a:p>
        </p:txBody>
      </p:sp>
      <p:sp>
        <p:nvSpPr>
          <p:cNvPr id="100032" name="!!#s2-kpi3"/>
          <p:cNvSpPr txBox="1"/>
          <p:nvPr/>
        </p:nvSpPr>
        <p:spPr>
          <a:xfrm xmlns:a="http://schemas.openxmlformats.org/drawingml/2006/main">
            <a:off x="9298800" y="4752000"/>
            <a:ext cx="22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50 Cr+</a:t>
            </a:r>
          </a:p>
        </p:txBody>
      </p:sp>
      <p:sp>
        <p:nvSpPr>
          <p:cNvPr id="100033" name="!!#s2-kpisub3"/>
          <p:cNvSpPr txBox="1"/>
          <p:nvPr/>
        </p:nvSpPr>
        <p:spPr>
          <a:xfrm xmlns:a="http://schemas.openxmlformats.org/drawingml/2006/main">
            <a:off x="9298800" y="5454000"/>
            <a:ext cx="2210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Rupees saved in tax</a:t>
            </a:r>
          </a:p>
        </p:txBody>
      </p:sp>
      <p:sp>
        <p:nvSpPr>
          <p:cNvPr id="100034" name="!!#s2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35" name="!!#s2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02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19" grpId="0"/>
      <p:bldP spid="100020" grpId="1"/>
    </p:bldLst>
  </p:timing>
</p:sld>
</file>

<file path=ppt/slides/slide3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36" name="!!scene-orb-gold"/>
          <p:cNvSpPr/>
          <p:nvPr/>
        </p:nvSpPr>
        <p:spPr>
          <a:xfrm xmlns:a="http://schemas.openxmlformats.org/drawingml/2006/main">
            <a:off x="864000" y="2880000"/>
            <a:ext cx="3780000" cy="37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7" name="!!scene-orb-steel"/>
          <p:cNvSpPr/>
          <p:nvPr/>
        </p:nvSpPr>
        <p:spPr>
          <a:xfrm xmlns:a="http://schemas.openxmlformats.org/drawingml/2006/main">
            <a:off x="8100000" y="54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8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9" name="!!scene-rule-navy"/>
          <p:cNvSpPr/>
          <p:nvPr/>
        </p:nvSpPr>
        <p:spPr>
          <a:xfrm xmlns:a="http://schemas.openxmlformats.org/drawingml/2006/main">
            <a:off x="115092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0" name="!!scene-rule-gold"/>
          <p:cNvSpPr/>
          <p:nvPr/>
        </p:nvSpPr>
        <p:spPr>
          <a:xfrm xmlns:a="http://schemas.openxmlformats.org/drawingml/2006/main">
            <a:off x="684000" y="2052000"/>
            <a:ext cx="432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1" name="!!scene-dot"/>
          <p:cNvSpPr/>
          <p:nvPr/>
        </p:nvSpPr>
        <p:spPr>
          <a:xfrm xmlns:a="http://schemas.openxmlformats.org/drawingml/2006/main">
            <a:off x="495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2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3" name="!!#s3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WHAT WE DO</a:t>
            </a:r>
          </a:p>
        </p:txBody>
      </p:sp>
      <p:sp>
        <p:nvSpPr>
          <p:cNvPr id="100044" name="!!#s3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Three practices, one finance function</a:t>
            </a:r>
          </a:p>
        </p:txBody>
      </p:sp>
      <p:sp>
        <p:nvSpPr>
          <p:cNvPr id="100045" name="!!#s3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46" name="!!#s3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Core CA Practice</a:t>
            </a:r>
          </a:p>
        </p:txBody>
      </p:sp>
      <p:sp>
        <p:nvSpPr>
          <p:cNvPr id="100047" name="!!#s3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Statutory audit, direct tax, GST and ROC filings. Assessments and representation.</a:t>
            </a:r>
          </a:p>
        </p:txBody>
      </p:sp>
      <p:sp>
        <p:nvSpPr>
          <p:cNvPr id="100048" name="!!#s3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9" name="!!#s3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50" name="!!#s3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CFO Advisory</a:t>
            </a:r>
          </a:p>
        </p:txBody>
      </p:sp>
      <p:sp>
        <p:nvSpPr>
          <p:cNvPr id="100051" name="!!#s3-cbody1"/>
          <p:cNvSpPr txBox="1"/>
          <p:nvPr/>
        </p:nvSpPr>
        <p:spPr>
          <a:xfrm xmlns:a="http://schemas.openxmlformats.org/drawingml/2006/main">
            <a:off x="46512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Management reporting, working-capital control, budgeting, internal controls and board packs.</a:t>
            </a:r>
          </a:p>
        </p:txBody>
      </p:sp>
      <p:sp>
        <p:nvSpPr>
          <p:cNvPr id="100052" name="!!#s3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3" name="!!#s3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54" name="!!#s3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Startup Advisory</a:t>
            </a:r>
          </a:p>
        </p:txBody>
      </p:sp>
      <p:sp>
        <p:nvSpPr>
          <p:cNvPr id="100055" name="!!#s3-cbody2"/>
          <p:cNvSpPr txBox="1"/>
          <p:nvPr/>
        </p:nvSpPr>
        <p:spPr>
          <a:xfrm xmlns:a="http://schemas.openxmlformats.org/drawingml/2006/main">
            <a:off x="8370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Incorporation, ESOP structuring, Rule 11UA valuations, due diligence and fundraise support.</a:t>
            </a:r>
          </a:p>
        </p:txBody>
      </p:sp>
      <p:sp>
        <p:nvSpPr>
          <p:cNvPr id="100056" name="!!#s3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57" name="!!#s3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03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44" grpId="0"/>
      <p:bldP spid="100046" grpId="1"/>
    </p:bldLst>
  </p:timing>
</p:sld>
</file>

<file path=ppt/slides/slide4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58" name="!!scene-orb-gold"/>
          <p:cNvSpPr/>
          <p:nvPr/>
        </p:nvSpPr>
        <p:spPr>
          <a:xfrm xmlns:a="http://schemas.openxmlformats.org/drawingml/2006/main">
            <a:off x="6840000" y="720000"/>
            <a:ext cx="4680000" cy="46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9" name="!!scene-orb-steel"/>
          <p:cNvSpPr/>
          <p:nvPr/>
        </p:nvSpPr>
        <p:spPr>
          <a:xfrm xmlns:a="http://schemas.openxmlformats.org/drawingml/2006/main">
            <a:off x="1080000" y="324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0" name="!!scene-wash"/>
          <p:cNvSpPr/>
          <p:nvPr/>
        </p:nvSpPr>
        <p:spPr>
          <a:xfrm xmlns:a="http://schemas.openxmlformats.org/drawingml/2006/main">
            <a:off x="0" y="0"/>
            <a:ext cx="12193200" cy="93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1" name="!!scene-rule-navy"/>
          <p:cNvSpPr/>
          <p:nvPr/>
        </p:nvSpPr>
        <p:spPr>
          <a:xfrm xmlns:a="http://schemas.openxmlformats.org/drawingml/2006/main">
            <a:off x="11509200" y="1080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2" name="!!scene-rule-gold"/>
          <p:cNvSpPr/>
          <p:nvPr/>
        </p:nvSpPr>
        <p:spPr>
          <a:xfrm xmlns:a="http://schemas.openxmlformats.org/drawingml/2006/main">
            <a:off x="684000" y="4752000"/>
            <a:ext cx="648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3" name="!!scene-dot"/>
          <p:cNvSpPr/>
          <p:nvPr/>
        </p:nvSpPr>
        <p:spPr>
          <a:xfrm xmlns:a="http://schemas.openxmlformats.org/drawingml/2006/main">
            <a:off x="7117200" y="47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4" name="!!#s4-topbar"/>
          <p:cNvSpPr txBox="1"/>
          <p:nvPr/>
        </p:nvSpPr>
        <p:spPr>
          <a:xfrm xmlns:a="http://schemas.openxmlformats.org/drawingml/2006/main">
            <a:off x="684000" y="342000"/>
            <a:ext cx="86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00" spc="20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65" name="!!#s4-num"/>
          <p:cNvSpPr txBox="1"/>
          <p:nvPr/>
        </p:nvSpPr>
        <p:spPr>
          <a:xfrm xmlns:a="http://schemas.openxmlformats.org/drawingml/2006/main">
            <a:off x="684000" y="1872000"/>
            <a:ext cx="2160000" cy="15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9600" b="1">
                <a:solidFill>
                  <a:srgbClr val="C9A84C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100066" name="!!#s4-title"/>
          <p:cNvSpPr txBox="1"/>
          <p:nvPr/>
        </p:nvSpPr>
        <p:spPr>
          <a:xfrm xmlns:a="http://schemas.openxmlformats.org/drawingml/2006/main">
            <a:off x="684000" y="3564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5200" b="1">
                <a:solidFill>
                  <a:srgbClr val="F5F4F2"/>
                </a:solidFill>
                <a:latin typeface="Georgia"/>
                <a:ea typeface="Georgia"/>
              </a:rPr>
              <a:t>Why Singapore</a:t>
            </a:r>
          </a:p>
        </p:txBody>
      </p:sp>
      <p:sp>
        <p:nvSpPr>
          <p:cNvPr id="100067" name="!!#s4-strap"/>
          <p:cNvSpPr txBox="1"/>
          <p:nvPr/>
        </p:nvSpPr>
        <p:spPr>
          <a:xfrm xmlns:a="http://schemas.openxmlformats.org/drawingml/2006/main">
            <a:off x="684000" y="5004000"/>
            <a:ext cx="936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The regional holding seat for Asian operations — and the jurisdiction our clients keep asking about.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66" grpId="0"/>
      <p:bldP spid="100065" grpId="1"/>
    </p:bldLst>
  </p:timing>
</p:sld>
</file>

<file path=ppt/slides/slide5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68" name="!!scene-orb-gold"/>
          <p:cNvSpPr/>
          <p:nvPr/>
        </p:nvSpPr>
        <p:spPr>
          <a:xfrm xmlns:a="http://schemas.openxmlformats.org/drawingml/2006/main">
            <a:off x="9000000" y="36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9" name="!!scene-orb-steel"/>
          <p:cNvSpPr/>
          <p:nvPr/>
        </p:nvSpPr>
        <p:spPr>
          <a:xfrm xmlns:a="http://schemas.openxmlformats.org/drawingml/2006/main">
            <a:off x="576000" y="3600000"/>
            <a:ext cx="2880000" cy="28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0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1" name="!!scene-rule-navy"/>
          <p:cNvSpPr/>
          <p:nvPr/>
        </p:nvSpPr>
        <p:spPr>
          <a:xfrm xmlns:a="http://schemas.openxmlformats.org/drawingml/2006/main">
            <a:off x="11509200" y="2736000"/>
            <a:ext cx="18000" cy="27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2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3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4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5" name="!!#s5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01 · WHY SINGAPORE</a:t>
            </a:r>
          </a:p>
        </p:txBody>
      </p:sp>
      <p:sp>
        <p:nvSpPr>
          <p:cNvPr id="100076" name="!!#s5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Singapore opportunity</a:t>
            </a:r>
          </a:p>
        </p:txBody>
      </p:sp>
      <p:sp>
        <p:nvSpPr>
          <p:cNvPr id="100077" name="!!#s5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78" name="!!#s5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Gateway, not destination</a:t>
            </a:r>
          </a:p>
        </p:txBody>
      </p:sp>
      <p:sp>
        <p:nvSpPr>
          <p:cNvPr id="100079" name="!!#s5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 Singapore entity is the holding layer above India, South-East Asia and the Gulf.</a:t>
            </a:r>
          </a:p>
        </p:txBody>
      </p:sp>
      <p:sp>
        <p:nvSpPr>
          <p:cNvPr id="100080" name="!!#s5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1" name="!!#s5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82" name="!!#s5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Rule-of-law premium</a:t>
            </a:r>
          </a:p>
        </p:txBody>
      </p:sp>
      <p:sp>
        <p:nvSpPr>
          <p:cNvPr id="100083" name="!!#s5-cbody1"/>
          <p:cNvSpPr txBox="1"/>
          <p:nvPr/>
        </p:nvSpPr>
        <p:spPr>
          <a:xfrm xmlns:a="http://schemas.openxmlformats.org/drawingml/2006/main">
            <a:off x="46512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Predictable regulation, English-language filing and a deep tax-treaty network.</a:t>
            </a:r>
          </a:p>
        </p:txBody>
      </p:sp>
      <p:sp>
        <p:nvSpPr>
          <p:cNvPr id="100084" name="!!#s5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5" name="!!#s5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86" name="!!#s5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Investor-readable structure</a:t>
            </a:r>
          </a:p>
        </p:txBody>
      </p:sp>
      <p:sp>
        <p:nvSpPr>
          <p:cNvPr id="100087" name="!!#s5-cbody2"/>
          <p:cNvSpPr txBox="1"/>
          <p:nvPr/>
        </p:nvSpPr>
        <p:spPr>
          <a:xfrm xmlns:a="http://schemas.openxmlformats.org/drawingml/2006/main">
            <a:off x="8370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Funds underwrite a Singapore holdco faster than a purely Indian cap table.</a:t>
            </a:r>
          </a:p>
        </p:txBody>
      </p:sp>
      <p:sp>
        <p:nvSpPr>
          <p:cNvPr id="100088" name="!!#s5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89" name="!!#s5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05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76" grpId="0"/>
      <p:bldP spid="100078" grpId="1"/>
    </p:bldLst>
  </p:timing>
</p:sld>
</file>

<file path=ppt/slides/slide6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90" name="!!scene-orb-gold"/>
          <p:cNvSpPr/>
          <p:nvPr/>
        </p:nvSpPr>
        <p:spPr>
          <a:xfrm xmlns:a="http://schemas.openxmlformats.org/drawingml/2006/main">
            <a:off x="540000" y="2160000"/>
            <a:ext cx="4320000" cy="43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1" name="!!scene-orb-steel"/>
          <p:cNvSpPr/>
          <p:nvPr/>
        </p:nvSpPr>
        <p:spPr>
          <a:xfrm xmlns:a="http://schemas.openxmlformats.org/drawingml/2006/main">
            <a:off x="7560000" y="2880000"/>
            <a:ext cx="3780000" cy="37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2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3" name="!!scene-rule-navy"/>
          <p:cNvSpPr/>
          <p:nvPr/>
        </p:nvSpPr>
        <p:spPr>
          <a:xfrm xmlns:a="http://schemas.openxmlformats.org/drawingml/2006/main">
            <a:off x="115092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4" name="!!scene-rule-gold"/>
          <p:cNvSpPr/>
          <p:nvPr/>
        </p:nvSpPr>
        <p:spPr>
          <a:xfrm xmlns:a="http://schemas.openxmlformats.org/drawingml/2006/main">
            <a:off x="684000" y="2052000"/>
            <a:ext cx="324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5" name="!!scene-dot"/>
          <p:cNvSpPr/>
          <p:nvPr/>
        </p:nvSpPr>
        <p:spPr>
          <a:xfrm xmlns:a="http://schemas.openxmlformats.org/drawingml/2006/main">
            <a:off x="387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6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7" name="!!#s6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01 · WHY SINGAPORE</a:t>
            </a:r>
          </a:p>
        </p:txBody>
      </p:sp>
      <p:sp>
        <p:nvSpPr>
          <p:cNvPr id="100098" name="!!#s6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cost of compliance</a:t>
            </a:r>
          </a:p>
        </p:txBody>
      </p:sp>
      <p:sp>
        <p:nvSpPr>
          <p:cNvPr id="100099" name="!!#s6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100" name="!!#s6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A local hire is a fixed cost</a:t>
            </a:r>
          </a:p>
        </p:txBody>
      </p:sp>
      <p:sp>
        <p:nvSpPr>
          <p:cNvPr id="100101" name="!!#s6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Closing books, filing GST and signing ACRA returns commands a senior Singapore salary.</a:t>
            </a:r>
          </a:p>
        </p:txBody>
      </p:sp>
      <p:sp>
        <p:nvSpPr>
          <p:cNvPr id="100102" name="!!#s6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3" name="!!#s6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104" name="!!#s6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A CFO is out of reach</a:t>
            </a:r>
          </a:p>
        </p:txBody>
      </p:sp>
      <p:sp>
        <p:nvSpPr>
          <p:cNvPr id="100105" name="!!#s6-cbody1"/>
          <p:cNvSpPr txBox="1"/>
          <p:nvPr/>
        </p:nvSpPr>
        <p:spPr>
          <a:xfrm xmlns:a="http://schemas.openxmlformats.org/drawingml/2006/main">
            <a:off x="46512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At this stage a full-time CFO is not a hiring decision. It is a decision to go without one.</a:t>
            </a:r>
          </a:p>
        </p:txBody>
      </p:sp>
      <p:sp>
        <p:nvSpPr>
          <p:cNvPr id="100106" name="!!#s6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7" name="!!#s6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108" name="!!#s6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The work does not scale down</a:t>
            </a:r>
          </a:p>
        </p:txBody>
      </p:sp>
      <p:sp>
        <p:nvSpPr>
          <p:cNvPr id="100109" name="!!#s6-cbody2"/>
          <p:cNvSpPr txBox="1"/>
          <p:nvPr/>
        </p:nvSpPr>
        <p:spPr>
          <a:xfrm xmlns:a="http://schemas.openxmlformats.org/drawingml/2006/main">
            <a:off x="8370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Obligations are the same for a five-person entity as for a fifty-person one. So is the risk.</a:t>
            </a:r>
          </a:p>
        </p:txBody>
      </p:sp>
      <p:sp>
        <p:nvSpPr>
          <p:cNvPr id="100110" name="!!#s6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11" name="!!#s6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06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98" grpId="0"/>
      <p:bldP spid="100100" grpId="1"/>
    </p:bldLst>
  </p:timing>
</p:sld>
</file>

<file path=ppt/slides/slide7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12" name="!!scene-orb-gold"/>
          <p:cNvSpPr/>
          <p:nvPr/>
        </p:nvSpPr>
        <p:spPr>
          <a:xfrm xmlns:a="http://schemas.openxmlformats.org/drawingml/2006/main">
            <a:off x="7380000" y="1800000"/>
            <a:ext cx="4500000" cy="450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3" name="!!scene-orb-steel"/>
          <p:cNvSpPr/>
          <p:nvPr/>
        </p:nvSpPr>
        <p:spPr>
          <a:xfrm xmlns:a="http://schemas.openxmlformats.org/drawingml/2006/main">
            <a:off x="1260000" y="54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4" name="!!scene-wash"/>
          <p:cNvSpPr/>
          <p:nvPr/>
        </p:nvSpPr>
        <p:spPr>
          <a:xfrm xmlns:a="http://schemas.openxmlformats.org/drawingml/2006/main">
            <a:off x="0" y="0"/>
            <a:ext cx="12193200" cy="93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5" name="!!scene-rule-navy"/>
          <p:cNvSpPr/>
          <p:nvPr/>
        </p:nvSpPr>
        <p:spPr>
          <a:xfrm xmlns:a="http://schemas.openxmlformats.org/drawingml/2006/main">
            <a:off x="11509200" y="1080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6" name="!!scene-rule-gold"/>
          <p:cNvSpPr/>
          <p:nvPr/>
        </p:nvSpPr>
        <p:spPr>
          <a:xfrm xmlns:a="http://schemas.openxmlformats.org/drawingml/2006/main">
            <a:off x="684000" y="4752000"/>
            <a:ext cx="864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7" name="!!scene-dot"/>
          <p:cNvSpPr/>
          <p:nvPr/>
        </p:nvSpPr>
        <p:spPr>
          <a:xfrm xmlns:a="http://schemas.openxmlformats.org/drawingml/2006/main">
            <a:off x="9277200" y="47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8" name="!!#s7-topbar"/>
          <p:cNvSpPr txBox="1"/>
          <p:nvPr/>
        </p:nvSpPr>
        <p:spPr>
          <a:xfrm xmlns:a="http://schemas.openxmlformats.org/drawingml/2006/main">
            <a:off x="684000" y="342000"/>
            <a:ext cx="86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00" spc="20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19" name="!!#s7-num"/>
          <p:cNvSpPr txBox="1"/>
          <p:nvPr/>
        </p:nvSpPr>
        <p:spPr>
          <a:xfrm xmlns:a="http://schemas.openxmlformats.org/drawingml/2006/main">
            <a:off x="684000" y="1872000"/>
            <a:ext cx="2160000" cy="15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9600" b="1">
                <a:solidFill>
                  <a:srgbClr val="C9A84C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00120" name="!!#s7-title"/>
          <p:cNvSpPr txBox="1"/>
          <p:nvPr/>
        </p:nvSpPr>
        <p:spPr>
          <a:xfrm xmlns:a="http://schemas.openxmlformats.org/drawingml/2006/main">
            <a:off x="684000" y="3564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5200" b="1">
                <a:solidFill>
                  <a:srgbClr val="F5F4F2"/>
                </a:solidFill>
                <a:latin typeface="Georgia"/>
                <a:ea typeface="Georgia"/>
              </a:rPr>
              <a:t>Where TaxWise comes in</a:t>
            </a:r>
          </a:p>
        </p:txBody>
      </p:sp>
      <p:sp>
        <p:nvSpPr>
          <p:cNvPr id="100121" name="!!#s7-strap"/>
          <p:cNvSpPr txBox="1"/>
          <p:nvPr/>
        </p:nvSpPr>
        <p:spPr>
          <a:xfrm xmlns:a="http://schemas.openxmlformats.org/drawingml/2006/main">
            <a:off x="684000" y="5004000"/>
            <a:ext cx="936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We take the whole finance function — books, filings and the CFO seat — and run it from India, for Singapore.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20" grpId="0"/>
      <p:bldP spid="100119" grpId="1"/>
    </p:bldLst>
  </p:timing>
</p:sld>
</file>

<file path=ppt/slides/slide8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22" name="!!scene-orb-gold"/>
          <p:cNvSpPr/>
          <p:nvPr/>
        </p:nvSpPr>
        <p:spPr>
          <a:xfrm xmlns:a="http://schemas.openxmlformats.org/drawingml/2006/main">
            <a:off x="8460000" y="288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3" name="!!scene-orb-steel"/>
          <p:cNvSpPr/>
          <p:nvPr/>
        </p:nvSpPr>
        <p:spPr>
          <a:xfrm xmlns:a="http://schemas.openxmlformats.org/drawingml/2006/main">
            <a:off x="612000" y="342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4" name="!!scene-wash"/>
          <p:cNvSpPr/>
          <p:nvPr/>
        </p:nvSpPr>
        <p:spPr>
          <a:xfrm xmlns:a="http://schemas.openxmlformats.org/drawingml/2006/main">
            <a:off x="684000" y="24480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5" name="!!scene-rule-navy"/>
          <p:cNvSpPr/>
          <p:nvPr/>
        </p:nvSpPr>
        <p:spPr>
          <a:xfrm xmlns:a="http://schemas.openxmlformats.org/drawingml/2006/main">
            <a:off x="11509200" y="5742000"/>
            <a:ext cx="18000" cy="3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6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7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8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9" name="!!#s8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02 · WHERE TAXWISE COMES IN</a:t>
            </a:r>
          </a:p>
        </p:txBody>
      </p:sp>
      <p:sp>
        <p:nvSpPr>
          <p:cNvPr id="100130" name="!!#s8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compliance stack</a:t>
            </a:r>
          </a:p>
        </p:txBody>
      </p:sp>
      <p:sp>
        <p:nvSpPr>
          <p:cNvPr id="100131" name="!!#s8-chip0"/>
          <p:cNvSpPr/>
          <p:nvPr/>
        </p:nvSpPr>
        <p:spPr>
          <a:xfrm xmlns:a="http://schemas.openxmlformats.org/drawingml/2006/main">
            <a:off x="900000" y="25740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132" name="!!#s8-shead0"/>
          <p:cNvSpPr txBox="1"/>
          <p:nvPr/>
        </p:nvSpPr>
        <p:spPr>
          <a:xfrm xmlns:a="http://schemas.openxmlformats.org/drawingml/2006/main">
            <a:off x="1764000" y="24480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Bookkeeping &amp; accounting</a:t>
            </a:r>
          </a:p>
        </p:txBody>
      </p:sp>
      <p:sp>
        <p:nvSpPr>
          <p:cNvPr id="100133" name="!!#s8-sbody0"/>
          <p:cNvSpPr txBox="1"/>
          <p:nvPr/>
        </p:nvSpPr>
        <p:spPr>
          <a:xfrm xmlns:a="http://schemas.openxmlformats.org/drawingml/2006/main">
            <a:off x="4752000" y="24480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Day-to-day ledgers, reconciliations, management accounts and the year-end close.</a:t>
            </a:r>
          </a:p>
        </p:txBody>
      </p:sp>
      <p:sp>
        <p:nvSpPr>
          <p:cNvPr id="100134" name="!!#s8-row1"/>
          <p:cNvSpPr/>
          <p:nvPr/>
        </p:nvSpPr>
        <p:spPr>
          <a:xfrm xmlns:a="http://schemas.openxmlformats.org/drawingml/2006/main">
            <a:off x="684000" y="32976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5" name="!!#s8-chip1"/>
          <p:cNvSpPr/>
          <p:nvPr/>
        </p:nvSpPr>
        <p:spPr>
          <a:xfrm xmlns:a="http://schemas.openxmlformats.org/drawingml/2006/main">
            <a:off x="900000" y="34236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136" name="!!#s8-shead1"/>
          <p:cNvSpPr txBox="1"/>
          <p:nvPr/>
        </p:nvSpPr>
        <p:spPr>
          <a:xfrm xmlns:a="http://schemas.openxmlformats.org/drawingml/2006/main">
            <a:off x="1764000" y="32976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GST</a:t>
            </a:r>
          </a:p>
        </p:txBody>
      </p:sp>
      <p:sp>
        <p:nvSpPr>
          <p:cNvPr id="100137" name="!!#s8-sbody1"/>
          <p:cNvSpPr txBox="1"/>
          <p:nvPr/>
        </p:nvSpPr>
        <p:spPr>
          <a:xfrm xmlns:a="http://schemas.openxmlformats.org/drawingml/2006/main">
            <a:off x="4752000" y="32976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Registration, quarterly Form F5 returns and input-tax review.</a:t>
            </a:r>
          </a:p>
        </p:txBody>
      </p:sp>
      <p:sp>
        <p:nvSpPr>
          <p:cNvPr id="100138" name="!!#s8-row2"/>
          <p:cNvSpPr/>
          <p:nvPr/>
        </p:nvSpPr>
        <p:spPr>
          <a:xfrm xmlns:a="http://schemas.openxmlformats.org/drawingml/2006/main">
            <a:off x="684000" y="41472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9" name="!!#s8-chip2"/>
          <p:cNvSpPr/>
          <p:nvPr/>
        </p:nvSpPr>
        <p:spPr>
          <a:xfrm xmlns:a="http://schemas.openxmlformats.org/drawingml/2006/main">
            <a:off x="900000" y="42732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140" name="!!#s8-shead2"/>
          <p:cNvSpPr txBox="1"/>
          <p:nvPr/>
        </p:nvSpPr>
        <p:spPr>
          <a:xfrm xmlns:a="http://schemas.openxmlformats.org/drawingml/2006/main">
            <a:off x="1764000" y="41472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Income tax</a:t>
            </a:r>
          </a:p>
        </p:txBody>
      </p:sp>
      <p:sp>
        <p:nvSpPr>
          <p:cNvPr id="100141" name="!!#s8-sbody2"/>
          <p:cNvSpPr txBox="1"/>
          <p:nvPr/>
        </p:nvSpPr>
        <p:spPr>
          <a:xfrm xmlns:a="http://schemas.openxmlformats.org/drawingml/2006/main">
            <a:off x="4752000" y="41472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ECI, Form C-S or Form C, and withholding tax on cross-border payments.</a:t>
            </a:r>
          </a:p>
        </p:txBody>
      </p:sp>
      <p:sp>
        <p:nvSpPr>
          <p:cNvPr id="100142" name="!!#s8-row3"/>
          <p:cNvSpPr/>
          <p:nvPr/>
        </p:nvSpPr>
        <p:spPr>
          <a:xfrm xmlns:a="http://schemas.openxmlformats.org/drawingml/2006/main">
            <a:off x="684000" y="49968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43" name="!!#s8-chip3"/>
          <p:cNvSpPr/>
          <p:nvPr/>
        </p:nvSpPr>
        <p:spPr>
          <a:xfrm xmlns:a="http://schemas.openxmlformats.org/drawingml/2006/main">
            <a:off x="900000" y="51228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00144" name="!!#s8-shead3"/>
          <p:cNvSpPr txBox="1"/>
          <p:nvPr/>
        </p:nvSpPr>
        <p:spPr>
          <a:xfrm xmlns:a="http://schemas.openxmlformats.org/drawingml/2006/main">
            <a:off x="1764000" y="49968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ACRA</a:t>
            </a:r>
          </a:p>
        </p:txBody>
      </p:sp>
      <p:sp>
        <p:nvSpPr>
          <p:cNvPr id="100145" name="!!#s8-sbody3"/>
          <p:cNvSpPr txBox="1"/>
          <p:nvPr/>
        </p:nvSpPr>
        <p:spPr>
          <a:xfrm xmlns:a="http://schemas.openxmlformats.org/drawingml/2006/main">
            <a:off x="4752000" y="49968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Annual Return, XBRL financial statements, statutory registers and resolutions.</a:t>
            </a:r>
          </a:p>
        </p:txBody>
      </p:sp>
      <p:cxnSp>
        <p:nvCxnSpPr>
          <p:cNvPr id="100146" name="Connector 1"/>
          <p:cNvCxnSpPr>
            <a:stCxn xmlns:a="http://schemas.openxmlformats.org/drawingml/2006/main" id="100131" idx="0"/>
            <a:endCxn xmlns:a="http://schemas.openxmlformats.org/drawingml/2006/main" id="100135" idx="0"/>
          </p:cNvCxnSpPr>
          <p:nvPr/>
        </p:nvCxnSpPr>
        <p:spPr>
          <a:xfrm xmlns:a="http://schemas.openxmlformats.org/drawingml/2006/main">
            <a:off x="1206000" y="3006000"/>
            <a:ext cx="0" cy="4176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C9A84C"/>
            </a:solidFill>
            <a:tailEnd type="triangle"/>
          </a:ln>
        </p:spPr>
      </p:cxnSp>
      <p:cxnSp>
        <p:nvCxnSpPr>
          <p:cNvPr id="100147" name="Connector 2"/>
          <p:cNvCxnSpPr>
            <a:stCxn xmlns:a="http://schemas.openxmlformats.org/drawingml/2006/main" id="100135" idx="0"/>
            <a:endCxn xmlns:a="http://schemas.openxmlformats.org/drawingml/2006/main" id="100139" idx="0"/>
          </p:cNvCxnSpPr>
          <p:nvPr/>
        </p:nvCxnSpPr>
        <p:spPr>
          <a:xfrm xmlns:a="http://schemas.openxmlformats.org/drawingml/2006/main">
            <a:off x="1206000" y="3855600"/>
            <a:ext cx="0" cy="4176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C9A84C"/>
            </a:solidFill>
            <a:tailEnd type="triangle"/>
          </a:ln>
        </p:spPr>
      </p:cxnSp>
      <p:cxnSp>
        <p:nvCxnSpPr>
          <p:cNvPr id="100148" name="Connector 3"/>
          <p:cNvCxnSpPr>
            <a:stCxn xmlns:a="http://schemas.openxmlformats.org/drawingml/2006/main" id="100139" idx="0"/>
            <a:endCxn xmlns:a="http://schemas.openxmlformats.org/drawingml/2006/main" id="100143" idx="0"/>
          </p:cNvCxnSpPr>
          <p:nvPr/>
        </p:nvCxnSpPr>
        <p:spPr>
          <a:xfrm xmlns:a="http://schemas.openxmlformats.org/drawingml/2006/main">
            <a:off x="1206000" y="4705200"/>
            <a:ext cx="0" cy="4176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C9A84C"/>
            </a:solidFill>
            <a:tailEnd type="triangle"/>
          </a:ln>
        </p:spPr>
      </p:cxnSp>
      <p:sp>
        <p:nvSpPr>
          <p:cNvPr id="100149" name="!!#s8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50" name="!!#s8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08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30" grpId="0"/>
      <p:bldP spid="100132" grpId="1"/>
    </p:bldLst>
  </p:timing>
</p:sld>
</file>

<file path=ppt/slides/slide9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51" name="!!scene-orb-gold"/>
          <p:cNvSpPr/>
          <p:nvPr/>
        </p:nvSpPr>
        <p:spPr>
          <a:xfrm xmlns:a="http://schemas.openxmlformats.org/drawingml/2006/main">
            <a:off x="6480000" y="1620000"/>
            <a:ext cx="5040000" cy="50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2" name="!!scene-orb-steel"/>
          <p:cNvSpPr/>
          <p:nvPr/>
        </p:nvSpPr>
        <p:spPr>
          <a:xfrm xmlns:a="http://schemas.openxmlformats.org/drawingml/2006/main">
            <a:off x="720000" y="72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3" name="!!scene-wash"/>
          <p:cNvSpPr/>
          <p:nvPr/>
        </p:nvSpPr>
        <p:spPr>
          <a:xfrm xmlns:a="http://schemas.openxmlformats.org/drawingml/2006/main">
            <a:off x="684000" y="2448000"/>
            <a:ext cx="51840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4" name="!!scene-rule-navy"/>
          <p:cNvSpPr/>
          <p:nvPr/>
        </p:nvSpPr>
        <p:spPr>
          <a:xfrm xmlns:a="http://schemas.openxmlformats.org/drawingml/2006/main">
            <a:off x="59040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5" name="!!scene-rule-gold"/>
          <p:cNvSpPr/>
          <p:nvPr/>
        </p:nvSpPr>
        <p:spPr>
          <a:xfrm xmlns:a="http://schemas.openxmlformats.org/drawingml/2006/main">
            <a:off x="684000" y="2052000"/>
            <a:ext cx="518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6" name="!!scene-dot"/>
          <p:cNvSpPr/>
          <p:nvPr/>
        </p:nvSpPr>
        <p:spPr>
          <a:xfrm xmlns:a="http://schemas.openxmlformats.org/drawingml/2006/main">
            <a:off x="5821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7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8" name="!!#s9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02 · WHERE TAXWISE COMES IN</a:t>
            </a:r>
          </a:p>
        </p:txBody>
      </p:sp>
      <p:sp>
        <p:nvSpPr>
          <p:cNvPr id="100159" name="!!#s9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Roughly half the cost</a:t>
            </a:r>
          </a:p>
        </p:txBody>
      </p:sp>
      <p:sp>
        <p:nvSpPr>
          <p:cNvPr id="100160" name="!!#s9-eye-diff"/>
          <p:cNvSpPr txBox="1"/>
          <p:nvPr/>
        </p:nvSpPr>
        <p:spPr>
          <a:xfrm xmlns:a="http://schemas.openxmlformats.org/drawingml/2006/main">
            <a:off x="936000" y="2574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DIFFERENCE</a:t>
            </a:r>
          </a:p>
        </p:txBody>
      </p:sp>
      <p:sp>
        <p:nvSpPr>
          <p:cNvPr id="100161" name="!!#s9-figure"/>
          <p:cNvSpPr txBox="1"/>
          <p:nvPr/>
        </p:nvSpPr>
        <p:spPr>
          <a:xfrm xmlns:a="http://schemas.openxmlformats.org/drawingml/2006/main">
            <a:off x="936000" y="2862000"/>
            <a:ext cx="4680000" cy="23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E8C97A"/>
                </a:solidFill>
                <a:latin typeface="Georgia"/>
                <a:ea typeface="Georgia"/>
              </a:rPr>
              <a:t>50%</a:t>
            </a:r>
          </a:p>
        </p:txBody>
      </p:sp>
      <p:sp>
        <p:nvSpPr>
          <p:cNvPr id="100162" name="!!#s9-figsub"/>
          <p:cNvSpPr txBox="1"/>
          <p:nvPr/>
        </p:nvSpPr>
        <p:spPr>
          <a:xfrm xmlns:a="http://schemas.openxmlformats.org/drawingml/2006/main">
            <a:off x="936000" y="5220000"/>
            <a:ext cx="468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Less than comparable local cost</a:t>
            </a:r>
          </a:p>
        </p:txBody>
      </p:sp>
      <p:sp>
        <p:nvSpPr>
          <p:cNvPr id="100163" name="!!#s9-lead"/>
          <p:cNvSpPr txBox="1"/>
          <p:nvPr/>
        </p:nvSpPr>
        <p:spPr>
          <a:xfrm xmlns:a="http://schemas.openxmlformats.org/drawingml/2006/main">
            <a:off x="6325200" y="2448000"/>
            <a:ext cx="5184000" cy="13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900">
                <a:solidFill>
                  <a:srgbClr val="8A9BBF"/>
                </a:solidFill>
                <a:latin typeface="Arial"/>
                <a:ea typeface="Arial"/>
              </a:rPr>
              <a:t>Prepared by our team in Bangalore, reviewed by a Singapore-qualified CA before filing. The difference is structural, not a discount.</a:t>
            </a:r>
          </a:p>
        </p:txBody>
      </p:sp>
      <p:sp>
        <p:nvSpPr>
          <p:cNvPr id="100164" name="!!#s9-dash0"/>
          <p:cNvSpPr/>
          <p:nvPr/>
        </p:nvSpPr>
        <p:spPr>
          <a:xfrm xmlns:a="http://schemas.openxmlformats.org/drawingml/2006/main">
            <a:off x="6325200" y="40788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5" name="!!#s9-chip0"/>
          <p:cNvSpPr txBox="1"/>
          <p:nvPr/>
        </p:nvSpPr>
        <p:spPr>
          <a:xfrm xmlns:a="http://schemas.openxmlformats.org/drawingml/2006/main">
            <a:off x="6840000" y="3942000"/>
            <a:ext cx="466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Prepared in Bangalore by a 30-person team.</a:t>
            </a:r>
          </a:p>
        </p:txBody>
      </p:sp>
      <p:sp>
        <p:nvSpPr>
          <p:cNvPr id="100166" name="!!#s9-dash1"/>
          <p:cNvSpPr/>
          <p:nvPr/>
        </p:nvSpPr>
        <p:spPr>
          <a:xfrm xmlns:a="http://schemas.openxmlformats.org/drawingml/2006/main">
            <a:off x="6325200" y="47808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7" name="!!#s9-chip1"/>
          <p:cNvSpPr txBox="1"/>
          <p:nvPr/>
        </p:nvSpPr>
        <p:spPr>
          <a:xfrm xmlns:a="http://schemas.openxmlformats.org/drawingml/2006/main">
            <a:off x="6840000" y="4644000"/>
            <a:ext cx="466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Reviewed and signed off by a Singapore CA.</a:t>
            </a:r>
          </a:p>
        </p:txBody>
      </p:sp>
      <p:sp>
        <p:nvSpPr>
          <p:cNvPr id="100168" name="!!#s9-dash2"/>
          <p:cNvSpPr/>
          <p:nvPr/>
        </p:nvSpPr>
        <p:spPr>
          <a:xfrm xmlns:a="http://schemas.openxmlformats.org/drawingml/2006/main">
            <a:off x="6325200" y="54828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9" name="!!#s9-chip2"/>
          <p:cNvSpPr txBox="1"/>
          <p:nvPr/>
        </p:nvSpPr>
        <p:spPr>
          <a:xfrm xmlns:a="http://schemas.openxmlformats.org/drawingml/2006/main">
            <a:off x="6840000" y="5346000"/>
            <a:ext cx="466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No salary, CPF, software or recruitment cost.</a:t>
            </a:r>
          </a:p>
        </p:txBody>
      </p:sp>
      <p:sp>
        <p:nvSpPr>
          <p:cNvPr id="100170" name="!!#s9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71" name="!!#s9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09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1" dur="550" fill="hold"/>
                                        <p:tgtEl>
                                          <p:spTgt spid="100161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59" grpId="0"/>
      <p:bldP spid="100161" grpId="1"/>
    </p:bldLst>
  </p:timing>
</p:sld>
</file>

<file path=ppt/slides/slide10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72" name="!!scene-orb-gold"/>
          <p:cNvSpPr/>
          <p:nvPr/>
        </p:nvSpPr>
        <p:spPr>
          <a:xfrm xmlns:a="http://schemas.openxmlformats.org/drawingml/2006/main">
            <a:off x="720000" y="1080000"/>
            <a:ext cx="4680000" cy="46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3" name="!!scene-orb-steel"/>
          <p:cNvSpPr/>
          <p:nvPr/>
        </p:nvSpPr>
        <p:spPr>
          <a:xfrm xmlns:a="http://schemas.openxmlformats.org/drawingml/2006/main">
            <a:off x="7920000" y="2880000"/>
            <a:ext cx="3600000" cy="360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4" name="!!scene-wash"/>
          <p:cNvSpPr/>
          <p:nvPr/>
        </p:nvSpPr>
        <p:spPr>
          <a:xfrm xmlns:a="http://schemas.openxmlformats.org/drawingml/2006/main">
            <a:off x="0" y="0"/>
            <a:ext cx="12193200" cy="93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5" name="!!scene-rule-navy"/>
          <p:cNvSpPr/>
          <p:nvPr/>
        </p:nvSpPr>
        <p:spPr>
          <a:xfrm xmlns:a="http://schemas.openxmlformats.org/drawingml/2006/main">
            <a:off x="11509200" y="1080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6" name="!!scene-rule-gold"/>
          <p:cNvSpPr/>
          <p:nvPr/>
        </p:nvSpPr>
        <p:spPr>
          <a:xfrm xmlns:a="http://schemas.openxmlformats.org/drawingml/2006/main">
            <a:off x="684000" y="4752000"/>
            <a:ext cx="432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7" name="!!scene-dot"/>
          <p:cNvSpPr/>
          <p:nvPr/>
        </p:nvSpPr>
        <p:spPr>
          <a:xfrm xmlns:a="http://schemas.openxmlformats.org/drawingml/2006/main">
            <a:off x="4957200" y="47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8" name="!!#s10-topbar"/>
          <p:cNvSpPr txBox="1"/>
          <p:nvPr/>
        </p:nvSpPr>
        <p:spPr>
          <a:xfrm xmlns:a="http://schemas.openxmlformats.org/drawingml/2006/main">
            <a:off x="684000" y="342000"/>
            <a:ext cx="86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00" spc="20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79" name="!!#s10-num"/>
          <p:cNvSpPr txBox="1"/>
          <p:nvPr/>
        </p:nvSpPr>
        <p:spPr>
          <a:xfrm xmlns:a="http://schemas.openxmlformats.org/drawingml/2006/main">
            <a:off x="684000" y="1872000"/>
            <a:ext cx="2160000" cy="15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9600" b="1">
                <a:solidFill>
                  <a:srgbClr val="C9A84C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00180" name="!!#s10-title"/>
          <p:cNvSpPr txBox="1"/>
          <p:nvPr/>
        </p:nvSpPr>
        <p:spPr>
          <a:xfrm xmlns:a="http://schemas.openxmlformats.org/drawingml/2006/main">
            <a:off x="684000" y="3564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5200" b="1">
                <a:solidFill>
                  <a:srgbClr val="F5F4F2"/>
                </a:solidFill>
                <a:latin typeface="Georgia"/>
                <a:ea typeface="Georgia"/>
              </a:rPr>
              <a:t>Across the corridor</a:t>
            </a:r>
          </a:p>
        </p:txBody>
      </p:sp>
      <p:sp>
        <p:nvSpPr>
          <p:cNvPr id="100181" name="!!#s10-strap"/>
          <p:cNvSpPr txBox="1"/>
          <p:nvPr/>
        </p:nvSpPr>
        <p:spPr>
          <a:xfrm xmlns:a="http://schemas.openxmlformats.org/drawingml/2006/main">
            <a:off x="684000" y="5004000"/>
            <a:ext cx="936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Most of our clients are not choosing between India and Singapore. They are operating in both.</a:t>
            </a:r>
          </a:p>
        </p:txBody>
      </p:sp>
      <p:sp>
        <p:nvSpPr>
          <p:cNvPr id="100182" name="!!actor-corridor"/>
          <p:cNvSpPr/>
          <p:nvPr/>
        </p:nvSpPr>
        <p:spPr>
          <a:xfrm xmlns:a="http://schemas.openxmlformats.org/drawingml/2006/main">
            <a:off x="4658400" y="3096000"/>
            <a:ext cx="2880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80" grpId="0"/>
      <p:bldP spid="100179" grpId="1"/>
    </p:bldLst>
  </p:timing>
</p:sld>
</file>

<file path=ppt/slides/slide11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83" name="!!scene-orb-gold"/>
          <p:cNvSpPr/>
          <p:nvPr/>
        </p:nvSpPr>
        <p:spPr>
          <a:xfrm xmlns:a="http://schemas.openxmlformats.org/drawingml/2006/main">
            <a:off x="4500000" y="36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4" name="!!scene-orb-steel"/>
          <p:cNvSpPr/>
          <p:nvPr/>
        </p:nvSpPr>
        <p:spPr>
          <a:xfrm xmlns:a="http://schemas.openxmlformats.org/drawingml/2006/main">
            <a:off x="8820000" y="342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5" name="!!scene-wash"/>
          <p:cNvSpPr/>
          <p:nvPr/>
        </p:nvSpPr>
        <p:spPr>
          <a:xfrm xmlns:a="http://schemas.openxmlformats.org/drawingml/2006/main">
            <a:off x="684000" y="2412000"/>
            <a:ext cx="5184000" cy="205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6" name="!!scene-rule-navy"/>
          <p:cNvSpPr/>
          <p:nvPr/>
        </p:nvSpPr>
        <p:spPr>
          <a:xfrm xmlns:a="http://schemas.openxmlformats.org/drawingml/2006/main">
            <a:off x="6094800" y="2664000"/>
            <a:ext cx="18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7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8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9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0" name="!!#s11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03 · ACROSS THE CORRIDOR</a:t>
            </a:r>
          </a:p>
        </p:txBody>
      </p:sp>
      <p:sp>
        <p:nvSpPr>
          <p:cNvPr id="100191" name="!!#s11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India–Singapore corridor</a:t>
            </a:r>
          </a:p>
        </p:txBody>
      </p:sp>
      <p:sp>
        <p:nvSpPr>
          <p:cNvPr id="100192" name="!!actor-corridor"/>
          <p:cNvSpPr/>
          <p:nvPr/>
        </p:nvSpPr>
        <p:spPr>
          <a:xfrm xmlns:a="http://schemas.openxmlformats.org/drawingml/2006/main">
            <a:off x="684000" y="4788000"/>
            <a:ext cx="108252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3" name="!!#s11-pole2"/>
          <p:cNvSpPr/>
          <p:nvPr/>
        </p:nvSpPr>
        <p:spPr>
          <a:xfrm xmlns:a="http://schemas.openxmlformats.org/drawingml/2006/main">
            <a:off x="6325200" y="2412000"/>
            <a:ext cx="5184000" cy="205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4" name="!!#s11-eye-pole0"/>
          <p:cNvSpPr txBox="1"/>
          <p:nvPr/>
        </p:nvSpPr>
        <p:spPr>
          <a:xfrm xmlns:a="http://schemas.openxmlformats.org/drawingml/2006/main">
            <a:off x="936000" y="2592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INDIA</a:t>
            </a:r>
          </a:p>
        </p:txBody>
      </p:sp>
      <p:sp>
        <p:nvSpPr>
          <p:cNvPr id="100195" name="!!#s11-phead0"/>
          <p:cNvSpPr txBox="1"/>
          <p:nvPr/>
        </p:nvSpPr>
        <p:spPr>
          <a:xfrm xmlns:a="http://schemas.openxmlformats.org/drawingml/2006/main">
            <a:off x="936000" y="2880000"/>
            <a:ext cx="4680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Setting up in India</a:t>
            </a:r>
          </a:p>
        </p:txBody>
      </p:sp>
      <p:sp>
        <p:nvSpPr>
          <p:cNvPr id="100196" name="!!#s11-pbody0"/>
          <p:cNvSpPr txBox="1"/>
          <p:nvPr/>
        </p:nvSpPr>
        <p:spPr>
          <a:xfrm xmlns:a="http://schemas.openxmlformats.org/drawingml/2006/main">
            <a:off x="936000" y="3276000"/>
            <a:ext cx="4680000" cy="9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SPICe+ incorporation, PAN and TAN, GST registration, FC-GPR and ROC compliance.</a:t>
            </a:r>
          </a:p>
        </p:txBody>
      </p:sp>
      <p:sp>
        <p:nvSpPr>
          <p:cNvPr id="100197" name="!!#s11-eye-pole1"/>
          <p:cNvSpPr txBox="1"/>
          <p:nvPr/>
        </p:nvSpPr>
        <p:spPr>
          <a:xfrm xmlns:a="http://schemas.openxmlformats.org/drawingml/2006/main">
            <a:off x="6577200" y="2592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SINGAPORE</a:t>
            </a:r>
          </a:p>
        </p:txBody>
      </p:sp>
      <p:sp>
        <p:nvSpPr>
          <p:cNvPr id="100198" name="!!#s11-phead1"/>
          <p:cNvSpPr txBox="1"/>
          <p:nvPr/>
        </p:nvSpPr>
        <p:spPr>
          <a:xfrm xmlns:a="http://schemas.openxmlformats.org/drawingml/2006/main">
            <a:off x="6577200" y="2880000"/>
            <a:ext cx="4680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Setting up in Singapore</a:t>
            </a:r>
          </a:p>
        </p:txBody>
      </p:sp>
      <p:sp>
        <p:nvSpPr>
          <p:cNvPr id="100199" name="!!#s11-pbody1"/>
          <p:cNvSpPr txBox="1"/>
          <p:nvPr/>
        </p:nvSpPr>
        <p:spPr>
          <a:xfrm xmlns:a="http://schemas.openxmlformats.org/drawingml/2006/main">
            <a:off x="6577200" y="3276000"/>
            <a:ext cx="4680000" cy="9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ACRA incorporation, resident director, company secretary, bank account and GST.</a:t>
            </a:r>
          </a:p>
        </p:txBody>
      </p:sp>
      <p:sp>
        <p:nvSpPr>
          <p:cNvPr id="100200" name="!!#s11-tag0"/>
          <p:cNvSpPr/>
          <p:nvPr/>
        </p:nvSpPr>
        <p:spPr>
          <a:xfrm xmlns:a="http://schemas.openxmlformats.org/drawingml/2006/main">
            <a:off x="1980000" y="4676400"/>
            <a:ext cx="1512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160">
                <a:solidFill>
                  <a:srgbClr val="0E1B2F"/>
                </a:solidFill>
                <a:latin typeface="Arial"/>
                <a:ea typeface="Arial"/>
              </a:rPr>
              <a:t>FEMA</a:t>
            </a:r>
          </a:p>
        </p:txBody>
      </p:sp>
      <p:sp>
        <p:nvSpPr>
          <p:cNvPr id="100201" name="!!#s11-tag1"/>
          <p:cNvSpPr/>
          <p:nvPr/>
        </p:nvSpPr>
        <p:spPr>
          <a:xfrm xmlns:a="http://schemas.openxmlformats.org/drawingml/2006/main">
            <a:off x="5342400" y="4676400"/>
            <a:ext cx="1512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160">
                <a:solidFill>
                  <a:srgbClr val="0E1B2F"/>
                </a:solidFill>
                <a:latin typeface="Arial"/>
                <a:ea typeface="Arial"/>
              </a:rPr>
              <a:t>ODI &amp; FDI</a:t>
            </a:r>
          </a:p>
        </p:txBody>
      </p:sp>
      <p:sp>
        <p:nvSpPr>
          <p:cNvPr id="100202" name="!!#s11-tag2"/>
          <p:cNvSpPr/>
          <p:nvPr/>
        </p:nvSpPr>
        <p:spPr>
          <a:xfrm xmlns:a="http://schemas.openxmlformats.org/drawingml/2006/main">
            <a:off x="8704800" y="4676400"/>
            <a:ext cx="1512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160">
                <a:solidFill>
                  <a:srgbClr val="0E1B2F"/>
                </a:solidFill>
                <a:latin typeface="Arial"/>
                <a:ea typeface="Arial"/>
              </a:rPr>
              <a:t>DTAA RELIEF</a:t>
            </a:r>
          </a:p>
        </p:txBody>
      </p:sp>
      <p:sp>
        <p:nvSpPr>
          <p:cNvPr id="100203" name="!!#s11-eye-cross"/>
          <p:cNvSpPr txBox="1"/>
          <p:nvPr/>
        </p:nvSpPr>
        <p:spPr>
          <a:xfrm xmlns:a="http://schemas.openxmlformats.org/drawingml/2006/main">
            <a:off x="684000" y="5022000"/>
            <a:ext cx="720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MOVING MONEY BETWEEN THEM</a:t>
            </a:r>
          </a:p>
        </p:txBody>
      </p:sp>
      <p:sp>
        <p:nvSpPr>
          <p:cNvPr id="100204" name="!!#s11-crossb"/>
          <p:cNvSpPr txBox="1"/>
          <p:nvPr/>
        </p:nvSpPr>
        <p:spPr>
          <a:xfrm xmlns:a="http://schemas.openxmlformats.org/drawingml/2006/main">
            <a:off x="684000" y="5310000"/>
            <a:ext cx="10825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Repatriation of funds, dividend and royalty flows, transfer-pricing documentation, and FEMA compliance on every leg.</a:t>
            </a:r>
          </a:p>
        </p:txBody>
      </p:sp>
      <p:sp>
        <p:nvSpPr>
          <p:cNvPr id="100205" name="!!#s11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06" name="!!#s11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11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91" grpId="0"/>
      <p:bldP spid="100195" grpId="1"/>
    </p:bldLst>
  </p:timing>
</p:sld>
</file>

<file path=ppt/slides/slide12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07" name="!!scene-orb-gold"/>
          <p:cNvSpPr/>
          <p:nvPr/>
        </p:nvSpPr>
        <p:spPr>
          <a:xfrm xmlns:a="http://schemas.openxmlformats.org/drawingml/2006/main">
            <a:off x="8640000" y="270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8" name="!!scene-orb-steel"/>
          <p:cNvSpPr/>
          <p:nvPr/>
        </p:nvSpPr>
        <p:spPr>
          <a:xfrm xmlns:a="http://schemas.openxmlformats.org/drawingml/2006/main">
            <a:off x="720000" y="90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9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0" name="!!scene-rule-navy"/>
          <p:cNvSpPr/>
          <p:nvPr/>
        </p:nvSpPr>
        <p:spPr>
          <a:xfrm xmlns:a="http://schemas.openxmlformats.org/drawingml/2006/main">
            <a:off x="11509200" y="2304000"/>
            <a:ext cx="18000" cy="33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1" name="!!scene-rule-gold"/>
          <p:cNvSpPr/>
          <p:nvPr/>
        </p:nvSpPr>
        <p:spPr>
          <a:xfrm xmlns:a="http://schemas.openxmlformats.org/drawingml/2006/main">
            <a:off x="684000" y="2052000"/>
            <a:ext cx="792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2" name="!!scene-dot"/>
          <p:cNvSpPr/>
          <p:nvPr/>
        </p:nvSpPr>
        <p:spPr>
          <a:xfrm xmlns:a="http://schemas.openxmlformats.org/drawingml/2006/main">
            <a:off x="855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3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4" name="!!#s12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03 · ACROSS THE CORRIDOR</a:t>
            </a:r>
          </a:p>
        </p:txBody>
      </p:sp>
      <p:sp>
        <p:nvSpPr>
          <p:cNvPr id="100215" name="!!#s12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Beyond compliance</a:t>
            </a:r>
          </a:p>
        </p:txBody>
      </p:sp>
      <p:sp>
        <p:nvSpPr>
          <p:cNvPr id="100216" name="!!actor-corridor"/>
          <p:cNvSpPr/>
          <p:nvPr/>
        </p:nvSpPr>
        <p:spPr>
          <a:xfrm xmlns:a="http://schemas.openxmlformats.org/drawingml/2006/main">
            <a:off x="12960000" y="4788000"/>
            <a:ext cx="108252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7" name="!!#s12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218" name="!!#s12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Mergers &amp; acquisitions</a:t>
            </a:r>
          </a:p>
        </p:txBody>
      </p:sp>
      <p:sp>
        <p:nvSpPr>
          <p:cNvPr id="100219" name="!!#s12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Buy-side and sell-side structuring, financial and tax due diligence, SPA schedules.</a:t>
            </a:r>
          </a:p>
        </p:txBody>
      </p:sp>
      <p:sp>
        <p:nvSpPr>
          <p:cNvPr id="100220" name="!!#s12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21" name="!!#s12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222" name="!!#s12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Valuation</a:t>
            </a:r>
          </a:p>
        </p:txBody>
      </p:sp>
      <p:sp>
        <p:nvSpPr>
          <p:cNvPr id="100223" name="!!#s12-cbody1"/>
          <p:cNvSpPr txBox="1"/>
          <p:nvPr/>
        </p:nvSpPr>
        <p:spPr>
          <a:xfrm xmlns:a="http://schemas.openxmlformats.org/drawingml/2006/main">
            <a:off x="46512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Rule 11UA and FEMA pricing. Independent reports for funding rounds and transfers.</a:t>
            </a:r>
          </a:p>
        </p:txBody>
      </p:sp>
      <p:sp>
        <p:nvSpPr>
          <p:cNvPr id="100224" name="!!#s12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25" name="!!#s12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226" name="!!#s12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Payroll</a:t>
            </a:r>
          </a:p>
        </p:txBody>
      </p:sp>
      <p:sp>
        <p:nvSpPr>
          <p:cNvPr id="100227" name="!!#s12-cbody2"/>
          <p:cNvSpPr txBox="1"/>
          <p:nvPr/>
        </p:nvSpPr>
        <p:spPr>
          <a:xfrm xmlns:a="http://schemas.openxmlformats.org/drawingml/2006/main">
            <a:off x="8370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CPF, IR8A and IR21 in Singapore; PF, ESI, professional tax and TDS in India.</a:t>
            </a:r>
          </a:p>
        </p:txBody>
      </p:sp>
      <p:sp>
        <p:nvSpPr>
          <p:cNvPr id="100228" name="!!#s12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29" name="!!#s12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12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15" grpId="0"/>
      <p:bldP spid="100218" grpId="1"/>
    </p:bldLst>
  </p:timing>
</p:sld>
</file>

<file path=ppt/slides/slide13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30" name="!!scene-orb-gold"/>
          <p:cNvSpPr/>
          <p:nvPr/>
        </p:nvSpPr>
        <p:spPr>
          <a:xfrm xmlns:a="http://schemas.openxmlformats.org/drawingml/2006/main">
            <a:off x="648000" y="720000"/>
            <a:ext cx="3960000" cy="39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1" name="!!scene-orb-steel"/>
          <p:cNvSpPr/>
          <p:nvPr/>
        </p:nvSpPr>
        <p:spPr>
          <a:xfrm xmlns:a="http://schemas.openxmlformats.org/drawingml/2006/main">
            <a:off x="8280000" y="306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2" name="!!scene-wash"/>
          <p:cNvSpPr/>
          <p:nvPr/>
        </p:nvSpPr>
        <p:spPr>
          <a:xfrm xmlns:a="http://schemas.openxmlformats.org/drawingml/2006/main">
            <a:off x="684000" y="2448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3" name="!!scene-rule-navy"/>
          <p:cNvSpPr/>
          <p:nvPr/>
        </p:nvSpPr>
        <p:spPr>
          <a:xfrm xmlns:a="http://schemas.openxmlformats.org/drawingml/2006/main">
            <a:off x="6094800" y="2448000"/>
            <a:ext cx="18000" cy="28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4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5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6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7" name="!!#s13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238" name="!!#s13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team behind the work</a:t>
            </a:r>
          </a:p>
        </p:txBody>
      </p:sp>
      <p:sp>
        <p:nvSpPr>
          <p:cNvPr id="100239" name="!!#s13-eye-t0"/>
          <p:cNvSpPr txBox="1"/>
          <p:nvPr/>
        </p:nvSpPr>
        <p:spPr>
          <a:xfrm xmlns:a="http://schemas.openxmlformats.org/drawingml/2006/main">
            <a:off x="936000" y="2527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240" name="!!#s13-thead0"/>
          <p:cNvSpPr txBox="1"/>
          <p:nvPr/>
        </p:nvSpPr>
        <p:spPr>
          <a:xfrm xmlns:a="http://schemas.openxmlformats.org/drawingml/2006/main">
            <a:off x="936000" y="2736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Chartered Accountants, India</a:t>
            </a:r>
          </a:p>
        </p:txBody>
      </p:sp>
      <p:sp>
        <p:nvSpPr>
          <p:cNvPr id="100241" name="!!#s13-tbody0"/>
          <p:cNvSpPr txBox="1"/>
          <p:nvPr/>
        </p:nvSpPr>
        <p:spPr>
          <a:xfrm xmlns:a="http://schemas.openxmlformats.org/drawingml/2006/main">
            <a:off x="936000" y="3081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In-house, on our own payroll. Audit, direct tax and GST.</a:t>
            </a:r>
          </a:p>
        </p:txBody>
      </p:sp>
      <p:sp>
        <p:nvSpPr>
          <p:cNvPr id="100242" name="!!#s13-cell1"/>
          <p:cNvSpPr/>
          <p:nvPr/>
        </p:nvSpPr>
        <p:spPr>
          <a:xfrm xmlns:a="http://schemas.openxmlformats.org/drawingml/2006/main">
            <a:off x="6325200" y="2448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43" name="!!#s13-eye-t1"/>
          <p:cNvSpPr txBox="1"/>
          <p:nvPr/>
        </p:nvSpPr>
        <p:spPr>
          <a:xfrm xmlns:a="http://schemas.openxmlformats.org/drawingml/2006/main">
            <a:off x="6577200" y="2527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244" name="!!#s13-thead1"/>
          <p:cNvSpPr txBox="1"/>
          <p:nvPr/>
        </p:nvSpPr>
        <p:spPr>
          <a:xfrm xmlns:a="http://schemas.openxmlformats.org/drawingml/2006/main">
            <a:off x="6577200" y="2736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Chartered Accountant, Singapore</a:t>
            </a:r>
          </a:p>
        </p:txBody>
      </p:sp>
      <p:sp>
        <p:nvSpPr>
          <p:cNvPr id="100245" name="!!#s13-tbody1"/>
          <p:cNvSpPr txBox="1"/>
          <p:nvPr/>
        </p:nvSpPr>
        <p:spPr>
          <a:xfrm xmlns:a="http://schemas.openxmlformats.org/drawingml/2006/main">
            <a:off x="6577200" y="3081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Reviews and signs off every Singapore filing.</a:t>
            </a:r>
          </a:p>
        </p:txBody>
      </p:sp>
      <p:sp>
        <p:nvSpPr>
          <p:cNvPr id="100246" name="!!#s13-cell2"/>
          <p:cNvSpPr/>
          <p:nvPr/>
        </p:nvSpPr>
        <p:spPr>
          <a:xfrm xmlns:a="http://schemas.openxmlformats.org/drawingml/2006/main">
            <a:off x="684000" y="3996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47" name="!!#s13-eye-t2"/>
          <p:cNvSpPr txBox="1"/>
          <p:nvPr/>
        </p:nvSpPr>
        <p:spPr>
          <a:xfrm xmlns:a="http://schemas.openxmlformats.org/drawingml/2006/main">
            <a:off x="936000" y="4075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248" name="!!#s13-thead2"/>
          <p:cNvSpPr txBox="1"/>
          <p:nvPr/>
        </p:nvSpPr>
        <p:spPr>
          <a:xfrm xmlns:a="http://schemas.openxmlformats.org/drawingml/2006/main">
            <a:off x="936000" y="4284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Legal</a:t>
            </a:r>
          </a:p>
        </p:txBody>
      </p:sp>
      <p:sp>
        <p:nvSpPr>
          <p:cNvPr id="100249" name="!!#s13-tbody2"/>
          <p:cNvSpPr txBox="1"/>
          <p:nvPr/>
        </p:nvSpPr>
        <p:spPr>
          <a:xfrm xmlns:a="http://schemas.openxmlformats.org/drawingml/2006/main">
            <a:off x="936000" y="4629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Agreements, SPAs and regulatory correspondence.</a:t>
            </a:r>
          </a:p>
        </p:txBody>
      </p:sp>
      <p:sp>
        <p:nvSpPr>
          <p:cNvPr id="100250" name="!!#s13-cell3"/>
          <p:cNvSpPr/>
          <p:nvPr/>
        </p:nvSpPr>
        <p:spPr>
          <a:xfrm xmlns:a="http://schemas.openxmlformats.org/drawingml/2006/main">
            <a:off x="6325200" y="3996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51" name="!!#s13-eye-t3"/>
          <p:cNvSpPr txBox="1"/>
          <p:nvPr/>
        </p:nvSpPr>
        <p:spPr>
          <a:xfrm xmlns:a="http://schemas.openxmlformats.org/drawingml/2006/main">
            <a:off x="6577200" y="4075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00252" name="!!#s13-thead3"/>
          <p:cNvSpPr txBox="1"/>
          <p:nvPr/>
        </p:nvSpPr>
        <p:spPr>
          <a:xfrm xmlns:a="http://schemas.openxmlformats.org/drawingml/2006/main">
            <a:off x="6577200" y="4284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Company secretarial</a:t>
            </a:r>
          </a:p>
        </p:txBody>
      </p:sp>
      <p:sp>
        <p:nvSpPr>
          <p:cNvPr id="100253" name="!!#s13-tbody3"/>
          <p:cNvSpPr txBox="1"/>
          <p:nvPr/>
        </p:nvSpPr>
        <p:spPr>
          <a:xfrm xmlns:a="http://schemas.openxmlformats.org/drawingml/2006/main">
            <a:off x="6577200" y="4629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Registers, resolutions and board filings, both jurisdictions.</a:t>
            </a:r>
          </a:p>
        </p:txBody>
      </p:sp>
      <p:sp>
        <p:nvSpPr>
          <p:cNvPr id="100254" name="!!#s13-band"/>
          <p:cNvSpPr/>
          <p:nvPr/>
        </p:nvSpPr>
        <p:spPr>
          <a:xfrm xmlns:a="http://schemas.openxmlformats.org/drawingml/2006/main">
            <a:off x="684000" y="5544000"/>
            <a:ext cx="10825200" cy="468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55" name="!!#s13-bandfig"/>
          <p:cNvSpPr txBox="1"/>
          <p:nvPr/>
        </p:nvSpPr>
        <p:spPr>
          <a:xfrm xmlns:a="http://schemas.openxmlformats.org/drawingml/2006/main">
            <a:off x="936000" y="5544000"/>
            <a:ext cx="1224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C9A84C"/>
                </a:solidFill>
                <a:latin typeface="Georgia"/>
                <a:ea typeface="Georgia"/>
              </a:rPr>
              <a:t>30+</a:t>
            </a:r>
          </a:p>
        </p:txBody>
      </p:sp>
      <p:sp>
        <p:nvSpPr>
          <p:cNvPr id="100256" name="!!#s13-bandtxt"/>
          <p:cNvSpPr txBox="1"/>
          <p:nvPr/>
        </p:nvSpPr>
        <p:spPr>
          <a:xfrm xmlns:a="http://schemas.openxmlformats.org/drawingml/2006/main">
            <a:off x="2232000" y="5544000"/>
            <a:ext cx="90612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people, all on one payroll. No sub-contracting.</a:t>
            </a:r>
          </a:p>
        </p:txBody>
      </p:sp>
      <p:sp>
        <p:nvSpPr>
          <p:cNvPr id="100257" name="!!#s13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58" name="!!#s13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13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38" grpId="0"/>
      <p:bldP spid="100240" grpId="1"/>
    </p:bldLst>
  </p:timing>
</p:sld>
</file>

<file path=ppt/slides/slide14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59" name="!!scene-orb-gold"/>
          <p:cNvSpPr/>
          <p:nvPr/>
        </p:nvSpPr>
        <p:spPr>
          <a:xfrm xmlns:a="http://schemas.openxmlformats.org/drawingml/2006/main">
            <a:off x="7920000" y="900000"/>
            <a:ext cx="4140000" cy="41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0" name="!!scene-orb-steel"/>
          <p:cNvSpPr/>
          <p:nvPr/>
        </p:nvSpPr>
        <p:spPr>
          <a:xfrm xmlns:a="http://schemas.openxmlformats.org/drawingml/2006/main">
            <a:off x="900000" y="324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1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2" name="!!scene-rule-navy"/>
          <p:cNvSpPr/>
          <p:nvPr/>
        </p:nvSpPr>
        <p:spPr>
          <a:xfrm xmlns:a="http://schemas.openxmlformats.org/drawingml/2006/main">
            <a:off x="11509200" y="2592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3" name="!!scene-rule-gold"/>
          <p:cNvSpPr/>
          <p:nvPr/>
        </p:nvSpPr>
        <p:spPr>
          <a:xfrm xmlns:a="http://schemas.openxmlformats.org/drawingml/2006/main">
            <a:off x="684000" y="2052000"/>
            <a:ext cx="576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4" name="!!scene-dot"/>
          <p:cNvSpPr/>
          <p:nvPr/>
        </p:nvSpPr>
        <p:spPr>
          <a:xfrm xmlns:a="http://schemas.openxmlformats.org/drawingml/2006/main">
            <a:off x="639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5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6" name="!!#s14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267" name="!!#s14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Technology we build ourselves</a:t>
            </a:r>
          </a:p>
        </p:txBody>
      </p:sp>
      <p:sp>
        <p:nvSpPr>
          <p:cNvPr id="100268" name="!!#s14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269" name="!!#s14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In-house engineering team</a:t>
            </a:r>
          </a:p>
        </p:txBody>
      </p:sp>
      <p:sp>
        <p:nvSpPr>
          <p:cNvPr id="100270" name="!!#s14-cbody0"/>
          <p:cNvSpPr txBox="1"/>
          <p:nvPr/>
        </p:nvSpPr>
        <p:spPr>
          <a:xfrm xmlns:a="http://schemas.openxmlformats.org/drawingml/2006/main">
            <a:off x="936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Software engineers on staff, working alongside the accountants.</a:t>
            </a:r>
          </a:p>
        </p:txBody>
      </p:sp>
      <p:sp>
        <p:nvSpPr>
          <p:cNvPr id="100271" name="!!#s14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72" name="!!#s14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273" name="!!#s14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Accounting &amp; tax CRM</a:t>
            </a:r>
          </a:p>
        </p:txBody>
      </p:sp>
      <p:sp>
        <p:nvSpPr>
          <p:cNvPr id="100274" name="!!#s14-cbody1"/>
          <p:cNvSpPr txBox="1"/>
          <p:nvPr/>
        </p:nvSpPr>
        <p:spPr>
          <a:xfrm xmlns:a="http://schemas.openxmlformats.org/drawingml/2006/main">
            <a:off x="46512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Systems built around deadlines, engagements, documents and filings.</a:t>
            </a:r>
          </a:p>
        </p:txBody>
      </p:sp>
      <p:sp>
        <p:nvSpPr>
          <p:cNvPr id="100275" name="!!#s14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76" name="!!#s14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277" name="!!#s14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Custom finance software</a:t>
            </a:r>
          </a:p>
        </p:txBody>
      </p:sp>
      <p:sp>
        <p:nvSpPr>
          <p:cNvPr id="100278" name="!!#s14-cbody2"/>
          <p:cNvSpPr txBox="1"/>
          <p:nvPr/>
        </p:nvSpPr>
        <p:spPr>
          <a:xfrm xmlns:a="http://schemas.openxmlformats.org/drawingml/2006/main">
            <a:off x="8370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Where a finance process needs a tool that does not exist, we build it.</a:t>
            </a:r>
          </a:p>
        </p:txBody>
      </p:sp>
      <p:sp>
        <p:nvSpPr>
          <p:cNvPr id="100279" name="!!#s14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80" name="!!#s14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14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67" grpId="0"/>
      <p:bldP spid="100269" grpId="1"/>
    </p:bldLst>
  </p:timing>
</p:sld>
</file>

<file path=ppt/slides/slide15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81" name="!!scene-orb-gold"/>
          <p:cNvSpPr/>
          <p:nvPr/>
        </p:nvSpPr>
        <p:spPr>
          <a:xfrm xmlns:a="http://schemas.openxmlformats.org/drawingml/2006/main">
            <a:off x="1080000" y="2340000"/>
            <a:ext cx="4320000" cy="43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2" name="!!scene-orb-steel"/>
          <p:cNvSpPr/>
          <p:nvPr/>
        </p:nvSpPr>
        <p:spPr>
          <a:xfrm xmlns:a="http://schemas.openxmlformats.org/drawingml/2006/main">
            <a:off x="7740000" y="72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3" name="!!scene-wash"/>
          <p:cNvSpPr/>
          <p:nvPr/>
        </p:nvSpPr>
        <p:spPr>
          <a:xfrm xmlns:a="http://schemas.openxmlformats.org/drawingml/2006/main">
            <a:off x="684000" y="2448000"/>
            <a:ext cx="39600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4" name="!!scene-rule-navy"/>
          <p:cNvSpPr/>
          <p:nvPr/>
        </p:nvSpPr>
        <p:spPr>
          <a:xfrm xmlns:a="http://schemas.openxmlformats.org/drawingml/2006/main">
            <a:off x="48240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5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6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7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8" name="!!#s15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289" name="!!#s15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partner</a:t>
            </a:r>
          </a:p>
        </p:txBody>
      </p:sp>
      <p:sp>
        <p:nvSpPr>
          <p:cNvPr id="100290" name="!!#s15-eye-mp"/>
          <p:cNvSpPr txBox="1"/>
          <p:nvPr/>
        </p:nvSpPr>
        <p:spPr>
          <a:xfrm xmlns:a="http://schemas.openxmlformats.org/drawingml/2006/main">
            <a:off x="936000" y="2700000"/>
            <a:ext cx="3456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MANAGING PARTNER</a:t>
            </a:r>
          </a:p>
        </p:txBody>
      </p:sp>
      <p:sp>
        <p:nvSpPr>
          <p:cNvPr id="100291" name="!!#s15-name"/>
          <p:cNvSpPr txBox="1"/>
          <p:nvPr/>
        </p:nvSpPr>
        <p:spPr>
          <a:xfrm xmlns:a="http://schemas.openxmlformats.org/drawingml/2006/main">
            <a:off x="936000" y="3024000"/>
            <a:ext cx="3456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3400" b="1">
                <a:solidFill>
                  <a:srgbClr val="F5F4F2"/>
                </a:solidFill>
                <a:latin typeface="Georgia"/>
                <a:ea typeface="Georgia"/>
              </a:rPr>
              <a:t>HK Vinay</a:t>
            </a:r>
          </a:p>
        </p:txBody>
      </p:sp>
      <p:sp>
        <p:nvSpPr>
          <p:cNvPr id="100292" name="!!#s15-qual"/>
          <p:cNvSpPr txBox="1"/>
          <p:nvPr/>
        </p:nvSpPr>
        <p:spPr>
          <a:xfrm xmlns:a="http://schemas.openxmlformats.org/drawingml/2006/main">
            <a:off x="936000" y="3690000"/>
            <a:ext cx="3456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Chartered Accountant</a:t>
            </a:r>
          </a:p>
        </p:txBody>
      </p:sp>
      <p:sp>
        <p:nvSpPr>
          <p:cNvPr id="100293" name="!!#s15-pdiv"/>
          <p:cNvSpPr/>
          <p:nvPr/>
        </p:nvSpPr>
        <p:spPr>
          <a:xfrm xmlns:a="http://schemas.openxmlformats.org/drawingml/2006/main">
            <a:off x="936000" y="4284000"/>
            <a:ext cx="34560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4" name="!!#s15-based"/>
          <p:cNvSpPr txBox="1"/>
          <p:nvPr/>
        </p:nvSpPr>
        <p:spPr>
          <a:xfrm xmlns:a="http://schemas.openxmlformats.org/drawingml/2006/main">
            <a:off x="936000" y="4464000"/>
            <a:ext cx="34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Leads the practice from Bangalore.</a:t>
            </a:r>
          </a:p>
        </p:txBody>
      </p:sp>
      <p:sp>
        <p:nvSpPr>
          <p:cNvPr id="100295" name="!!#s15-pull"/>
          <p:cNvSpPr txBox="1"/>
          <p:nvPr/>
        </p:nvSpPr>
        <p:spPr>
          <a:xfrm xmlns:a="http://schemas.openxmlformats.org/drawingml/2006/main">
            <a:off x="5004000" y="2484000"/>
            <a:ext cx="6505200" cy="12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400">
                <a:solidFill>
                  <a:srgbClr val="F5F4F2"/>
                </a:solidFill>
                <a:latin typeface="Georgia"/>
                <a:ea typeface="Georgia"/>
              </a:rPr>
              <a:t>Every engagement is scoped and reviewed by the partner, not handed to an account manager.</a:t>
            </a:r>
          </a:p>
        </p:txBody>
      </p:sp>
      <p:sp>
        <p:nvSpPr>
          <p:cNvPr id="100296" name="!!#s15-cdash0"/>
          <p:cNvSpPr/>
          <p:nvPr/>
        </p:nvSpPr>
        <p:spPr>
          <a:xfrm xmlns:a="http://schemas.openxmlformats.org/drawingml/2006/main">
            <a:off x="5004000" y="42120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7" name="!!#s15-cred0"/>
          <p:cNvSpPr txBox="1"/>
          <p:nvPr/>
        </p:nvSpPr>
        <p:spPr>
          <a:xfrm xmlns:a="http://schemas.openxmlformats.org/drawingml/2006/main">
            <a:off x="5508000" y="4068000"/>
            <a:ext cx="60012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More than ten years in practice.</a:t>
            </a:r>
          </a:p>
        </p:txBody>
      </p:sp>
      <p:sp>
        <p:nvSpPr>
          <p:cNvPr id="100298" name="!!#s15-cdash1"/>
          <p:cNvSpPr/>
          <p:nvPr/>
        </p:nvSpPr>
        <p:spPr>
          <a:xfrm xmlns:a="http://schemas.openxmlformats.org/drawingml/2006/main">
            <a:off x="5004000" y="48420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9" name="!!#s15-cred1"/>
          <p:cNvSpPr txBox="1"/>
          <p:nvPr/>
        </p:nvSpPr>
        <p:spPr>
          <a:xfrm xmlns:a="http://schemas.openxmlformats.org/drawingml/2006/main">
            <a:off x="5508000" y="4698000"/>
            <a:ext cx="60012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More than 500 clients advised.</a:t>
            </a:r>
          </a:p>
        </p:txBody>
      </p:sp>
      <p:sp>
        <p:nvSpPr>
          <p:cNvPr id="100300" name="!!#s15-cdash2"/>
          <p:cNvSpPr/>
          <p:nvPr/>
        </p:nvSpPr>
        <p:spPr>
          <a:xfrm xmlns:a="http://schemas.openxmlformats.org/drawingml/2006/main">
            <a:off x="5004000" y="54720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1" name="!!#s15-cred2"/>
          <p:cNvSpPr txBox="1"/>
          <p:nvPr/>
        </p:nvSpPr>
        <p:spPr>
          <a:xfrm xmlns:a="http://schemas.openxmlformats.org/drawingml/2006/main">
            <a:off x="5508000" y="5328000"/>
            <a:ext cx="60012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Offices in Bangalore and Chennai.</a:t>
            </a:r>
          </a:p>
        </p:txBody>
      </p:sp>
      <p:sp>
        <p:nvSpPr>
          <p:cNvPr id="100302" name="!!#s15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303" name="!!#s15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15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89" grpId="0"/>
      <p:bldP spid="100295" grpId="1"/>
    </p:bldLst>
  </p:timing>
</p:sld>
</file>

<file path=ppt/slides/slide16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304" name="!!scene-orb-gold"/>
          <p:cNvSpPr/>
          <p:nvPr/>
        </p:nvSpPr>
        <p:spPr>
          <a:xfrm xmlns:a="http://schemas.openxmlformats.org/drawingml/2006/main">
            <a:off x="7560000" y="540000"/>
            <a:ext cx="4320000" cy="43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5" name="!!scene-orb-steel"/>
          <p:cNvSpPr/>
          <p:nvPr/>
        </p:nvSpPr>
        <p:spPr>
          <a:xfrm xmlns:a="http://schemas.openxmlformats.org/drawingml/2006/main">
            <a:off x="1080000" y="288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6" name="!!scene-wash"/>
          <p:cNvSpPr/>
          <p:nvPr/>
        </p:nvSpPr>
        <p:spPr>
          <a:xfrm xmlns:a="http://schemas.openxmlformats.org/drawingml/2006/main">
            <a:off x="684000" y="2448000"/>
            <a:ext cx="3391200" cy="22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7" name="!!scene-rule-navy"/>
          <p:cNvSpPr/>
          <p:nvPr/>
        </p:nvSpPr>
        <p:spPr>
          <a:xfrm xmlns:a="http://schemas.openxmlformats.org/drawingml/2006/main">
            <a:off x="11509200" y="5148000"/>
            <a:ext cx="18000" cy="7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8" name="!!scene-rule-gold"/>
          <p:cNvSpPr/>
          <p:nvPr/>
        </p:nvSpPr>
        <p:spPr>
          <a:xfrm xmlns:a="http://schemas.openxmlformats.org/drawingml/2006/main">
            <a:off x="684000" y="2052000"/>
            <a:ext cx="720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9" name="!!scene-dot"/>
          <p:cNvSpPr/>
          <p:nvPr/>
        </p:nvSpPr>
        <p:spPr>
          <a:xfrm xmlns:a="http://schemas.openxmlformats.org/drawingml/2006/main">
            <a:off x="783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0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1" name="!!#s16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NEXT</a:t>
            </a:r>
          </a:p>
        </p:txBody>
      </p:sp>
      <p:sp>
        <p:nvSpPr>
          <p:cNvPr id="100312" name="!!#s16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Next steps</a:t>
            </a:r>
          </a:p>
        </p:txBody>
      </p:sp>
      <p:sp>
        <p:nvSpPr>
          <p:cNvPr id="100313" name="!!#s16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314" name="!!#s16-chead0"/>
          <p:cNvSpPr txBox="1"/>
          <p:nvPr/>
        </p:nvSpPr>
        <p:spPr>
          <a:xfrm xmlns:a="http://schemas.openxmlformats.org/drawingml/2006/main">
            <a:off x="936000" y="3006000"/>
            <a:ext cx="2887200" cy="65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A scoping call</a:t>
            </a:r>
          </a:p>
        </p:txBody>
      </p:sp>
      <p:sp>
        <p:nvSpPr>
          <p:cNvPr id="100315" name="!!#s16-cbody0"/>
          <p:cNvSpPr txBox="1"/>
          <p:nvPr/>
        </p:nvSpPr>
        <p:spPr>
          <a:xfrm xmlns:a="http://schemas.openxmlformats.org/drawingml/2006/main">
            <a:off x="936000" y="3801600"/>
            <a:ext cx="2887200" cy="64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Thirty minutes on your close calendar.</a:t>
            </a:r>
          </a:p>
        </p:txBody>
      </p:sp>
      <p:sp>
        <p:nvSpPr>
          <p:cNvPr id="100316" name="!!#s16-card1"/>
          <p:cNvSpPr/>
          <p:nvPr/>
        </p:nvSpPr>
        <p:spPr>
          <a:xfrm xmlns:a="http://schemas.openxmlformats.org/drawingml/2006/main">
            <a:off x="4399200" y="2448000"/>
            <a:ext cx="3391200" cy="22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7" name="!!#s16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318" name="!!#s16-chead1"/>
          <p:cNvSpPr txBox="1"/>
          <p:nvPr/>
        </p:nvSpPr>
        <p:spPr>
          <a:xfrm xmlns:a="http://schemas.openxmlformats.org/drawingml/2006/main">
            <a:off x="4651200" y="3006000"/>
            <a:ext cx="2887200" cy="65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Scope and fee in writing</a:t>
            </a:r>
          </a:p>
        </p:txBody>
      </p:sp>
      <p:sp>
        <p:nvSpPr>
          <p:cNvPr id="100319" name="!!#s16-cbody1"/>
          <p:cNvSpPr txBox="1"/>
          <p:nvPr/>
        </p:nvSpPr>
        <p:spPr>
          <a:xfrm xmlns:a="http://schemas.openxmlformats.org/drawingml/2006/main">
            <a:off x="4651200" y="3801600"/>
            <a:ext cx="2887200" cy="64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What we run, and what it costs.</a:t>
            </a:r>
          </a:p>
        </p:txBody>
      </p:sp>
      <p:sp>
        <p:nvSpPr>
          <p:cNvPr id="100320" name="!!#s16-card2"/>
          <p:cNvSpPr/>
          <p:nvPr/>
        </p:nvSpPr>
        <p:spPr>
          <a:xfrm xmlns:a="http://schemas.openxmlformats.org/drawingml/2006/main">
            <a:off x="8118000" y="2448000"/>
            <a:ext cx="3391200" cy="22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21" name="!!#s16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322" name="!!#s16-chead2"/>
          <p:cNvSpPr txBox="1"/>
          <p:nvPr/>
        </p:nvSpPr>
        <p:spPr>
          <a:xfrm xmlns:a="http://schemas.openxmlformats.org/drawingml/2006/main">
            <a:off x="8370000" y="3006000"/>
            <a:ext cx="2887200" cy="65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Transition</a:t>
            </a:r>
          </a:p>
        </p:txBody>
      </p:sp>
      <p:sp>
        <p:nvSpPr>
          <p:cNvPr id="100323" name="!!#s16-cbody2"/>
          <p:cNvSpPr txBox="1"/>
          <p:nvPr/>
        </p:nvSpPr>
        <p:spPr>
          <a:xfrm xmlns:a="http://schemas.openxmlformats.org/drawingml/2006/main">
            <a:off x="8370000" y="3801600"/>
            <a:ext cx="2887200" cy="64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We run the first close alongside yours.</a:t>
            </a:r>
          </a:p>
        </p:txBody>
      </p:sp>
      <p:sp>
        <p:nvSpPr>
          <p:cNvPr id="100324" name="!!#s16-ctdiv"/>
          <p:cNvSpPr/>
          <p:nvPr/>
        </p:nvSpPr>
        <p:spPr>
          <a:xfrm xmlns:a="http://schemas.openxmlformats.org/drawingml/2006/main">
            <a:off x="684000" y="4932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25" name="!!#s16-eye-ct0"/>
          <p:cNvSpPr txBox="1"/>
          <p:nvPr/>
        </p:nvSpPr>
        <p:spPr>
          <a:xfrm xmlns:a="http://schemas.openxmlformats.org/drawingml/2006/main">
            <a:off x="684000" y="5094000"/>
            <a:ext cx="270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OFFICES</a:t>
            </a:r>
          </a:p>
        </p:txBody>
      </p:sp>
      <p:sp>
        <p:nvSpPr>
          <p:cNvPr id="100326" name="!!#s16-contact0"/>
          <p:cNvSpPr txBox="1"/>
          <p:nvPr/>
        </p:nvSpPr>
        <p:spPr>
          <a:xfrm xmlns:a="http://schemas.openxmlformats.org/drawingml/2006/main">
            <a:off x="684000" y="5364000"/>
            <a:ext cx="270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Bangalore · Chennai</a:t>
            </a:r>
          </a:p>
        </p:txBody>
      </p:sp>
      <p:sp>
        <p:nvSpPr>
          <p:cNvPr id="100327" name="!!#s16-eye-ct1"/>
          <p:cNvSpPr txBox="1"/>
          <p:nvPr/>
        </p:nvSpPr>
        <p:spPr>
          <a:xfrm xmlns:a="http://schemas.openxmlformats.org/drawingml/2006/main">
            <a:off x="3672000" y="5094000"/>
            <a:ext cx="270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TELEPHONE</a:t>
            </a:r>
          </a:p>
        </p:txBody>
      </p:sp>
      <p:sp>
        <p:nvSpPr>
          <p:cNvPr id="100328" name="!!#s16-contact1"/>
          <p:cNvSpPr txBox="1"/>
          <p:nvPr/>
        </p:nvSpPr>
        <p:spPr>
          <a:xfrm xmlns:a="http://schemas.openxmlformats.org/drawingml/2006/main">
            <a:off x="3672000" y="5364000"/>
            <a:ext cx="270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+91 9590360434</a:t>
            </a:r>
          </a:p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+91 9740540239</a:t>
            </a:r>
          </a:p>
        </p:txBody>
      </p:sp>
      <p:sp>
        <p:nvSpPr>
          <p:cNvPr id="100329" name="!!#s16-eye-ct2"/>
          <p:cNvSpPr txBox="1"/>
          <p:nvPr/>
        </p:nvSpPr>
        <p:spPr>
          <a:xfrm xmlns:a="http://schemas.openxmlformats.org/drawingml/2006/main">
            <a:off x="6696000" y="5094000"/>
            <a:ext cx="4813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EMAIL</a:t>
            </a:r>
          </a:p>
        </p:txBody>
      </p:sp>
      <p:sp>
        <p:nvSpPr>
          <p:cNvPr id="100330" name="!!#s16-contact2"/>
          <p:cNvSpPr txBox="1"/>
          <p:nvPr/>
        </p:nvSpPr>
        <p:spPr>
          <a:xfrm xmlns:a="http://schemas.openxmlformats.org/drawingml/2006/main">
            <a:off x="6696000" y="5364000"/>
            <a:ext cx="48132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cavinaykarlagere@twchartered.com</a:t>
            </a:r>
          </a:p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twchartered.com</a:t>
            </a:r>
          </a:p>
        </p:txBody>
      </p:sp>
      <p:sp>
        <p:nvSpPr>
          <p:cNvPr id="100331" name="!!#s16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332" name="!!#s16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16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12" grpId="0"/>
      <p:bldP spid="100314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OfficeCLI/1.0.158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2026-10-24T04:16:41Z</dcterms:created>
  <cp:lastModifiedBy>OfficeCLI</cp:lastModifiedBy>
  <dcterms:modified xsi:type="dcterms:W3CDTF">2026-10-24T04:16:41Z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2026-10-24T04:18:03Z</vt:lpwstr>
  </op:property>
</op:Properties>
</file>