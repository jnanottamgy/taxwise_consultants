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5c21e9bbb5c494d" /><Relationship Type="http://schemas.openxmlformats.org/package/2006/relationships/metadata/core-properties" Target="/docProps/core.xml" Id="R752d34647a25414c" /><Relationship Type="http://schemas.openxmlformats.org/officeDocument/2006/relationships/extended-properties" Target="/docProps/app.xml" Id="R4b88b46f8b924a06" /><Relationship Type="http://schemas.openxmlformats.org/officeDocument/2006/relationships/custom-properties" Target="/docProps/custom.xml" Id="R8611bd0c4faf4a2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d9098014392446c"/>
  </p:notesMasterIdLst>
  <p:sldIdLst>
    <p:sldId id="256" r:id="Rc82c1e4586844cbe"/>
    <p:sldId id="257" r:id="R1ecd0c2d38ea4ff7"/>
    <p:sldId id="258" r:id="R0b67fdfb65dd4938"/>
    <p:sldId id="259" r:id="R2a3412ee89ae4bad"/>
    <p:sldId id="260" r:id="R858e3b5818bd42a0"/>
    <p:sldId id="261" r:id="R5c08c2423a814be4"/>
    <p:sldId id="262" r:id="R2c56e49ab70f4df7"/>
    <p:sldId id="263" r:id="Rb57e1375ba794110"/>
    <p:sldId id="264" r:id="R02a332757ccd493d"/>
    <p:sldId id="265" r:id="Rfdbf7b436a034ed8"/>
    <p:sldId id="266" r:id="Rc29a35b79f2f4bac"/>
    <p:sldId id="267" r:id="R5095b204a9f24a4c"/>
    <p:sldId id="268" r:id="R48241aefa5764a73"/>
    <p:sldId id="269" r:id="Rcc96421997d14ac8"/>
    <p:sldId id="270" r:id="R89f28dc322be40da"/>
    <p:sldId id="271" r:id="R4debc71e9eee4129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82c1e4586844cbe" /><Relationship Type="http://schemas.openxmlformats.org/officeDocument/2006/relationships/slide" Target="/ppt/slides/slide2.xml" Id="R1ecd0c2d38ea4ff7" /><Relationship Type="http://schemas.openxmlformats.org/officeDocument/2006/relationships/slide" Target="/ppt/slides/slide3.xml" Id="R0b67fdfb65dd4938" /><Relationship Type="http://schemas.openxmlformats.org/officeDocument/2006/relationships/slide" Target="/ppt/slides/slide4.xml" Id="R2a3412ee89ae4bad" /><Relationship Type="http://schemas.openxmlformats.org/officeDocument/2006/relationships/slide" Target="/ppt/slides/slide5.xml" Id="R858e3b5818bd42a0" /><Relationship Type="http://schemas.openxmlformats.org/officeDocument/2006/relationships/slide" Target="/ppt/slides/slide6.xml" Id="R5c08c2423a814be4" /><Relationship Type="http://schemas.openxmlformats.org/officeDocument/2006/relationships/slide" Target="/ppt/slides/slide7.xml" Id="R2c56e49ab70f4df7" /><Relationship Type="http://schemas.openxmlformats.org/officeDocument/2006/relationships/slide" Target="/ppt/slides/slide8.xml" Id="Rb57e1375ba794110" /><Relationship Type="http://schemas.openxmlformats.org/officeDocument/2006/relationships/slide" Target="/ppt/slides/slide9.xml" Id="R02a332757ccd493d" /><Relationship Type="http://schemas.openxmlformats.org/officeDocument/2006/relationships/slide" Target="/ppt/slides/slide10.xml" Id="Rfdbf7b436a034ed8" /><Relationship Type="http://schemas.openxmlformats.org/officeDocument/2006/relationships/slide" Target="/ppt/slides/slide11.xml" Id="Rc29a35b79f2f4bac" /><Relationship Type="http://schemas.openxmlformats.org/officeDocument/2006/relationships/slide" Target="/ppt/slides/slide12.xml" Id="R5095b204a9f24a4c" /><Relationship Type="http://schemas.openxmlformats.org/officeDocument/2006/relationships/slide" Target="/ppt/slides/slide13.xml" Id="R48241aefa5764a73" /><Relationship Type="http://schemas.openxmlformats.org/officeDocument/2006/relationships/slide" Target="/ppt/slides/slide14.xml" Id="Rcc96421997d14ac8" /><Relationship Type="http://schemas.openxmlformats.org/officeDocument/2006/relationships/slide" Target="/ppt/slides/slide15.xml" Id="R89f28dc322be40da" /><Relationship Type="http://schemas.openxmlformats.org/officeDocument/2006/relationships/slide" Target="/ppt/slides/slide16.xml" Id="R4debc71e9eee4129" /><Relationship Type="http://schemas.openxmlformats.org/officeDocument/2006/relationships/notesMaster" Target="/ppt/notesMasters/notesMaster1.xml" Id="R0d909801439244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91a97fdffa4474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15f0fb9be214ae9" /><Relationship Type="http://schemas.openxmlformats.org/officeDocument/2006/relationships/slide" Target="/ppt/slides/slide2.xml" Id="Rc4386bfd31b04a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0fe8878b69a4bb0" /><Relationship Type="http://schemas.openxmlformats.org/officeDocument/2006/relationships/slide" Target="/ppt/slides/slide3.xml" Id="R35ac0b0d6e7143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b389a5b7b8340c7" /><Relationship Type="http://schemas.openxmlformats.org/officeDocument/2006/relationships/slide" Target="/ppt/slides/slide4.xml" Id="Rf0b0c5c5d88a44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226f612b5774794" /><Relationship Type="http://schemas.openxmlformats.org/officeDocument/2006/relationships/slide" Target="/ppt/slides/slide5.xml" Id="R99446dbba70a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d713af57d5c4ee8" /><Relationship Type="http://schemas.openxmlformats.org/officeDocument/2006/relationships/slide" Target="/ppt/slides/slide6.xml" Id="Ra67a6b557a184e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197b5ace2004f3a" /><Relationship Type="http://schemas.openxmlformats.org/officeDocument/2006/relationships/slide" Target="/ppt/slides/slide7.xml" Id="R478ab0ccab594c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8f4f5590bf422f" /><Relationship Type="http://schemas.openxmlformats.org/officeDocument/2006/relationships/slide" Target="/ppt/slides/slide8.xml" Id="R0f3cf56918484f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9741a56289e4c1d" /><Relationship Type="http://schemas.openxmlformats.org/officeDocument/2006/relationships/slide" Target="/ppt/slides/slide9.xml" Id="Re4bb4e8b6be94c3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b5c55e3d1454f58" /><Relationship Type="http://schemas.openxmlformats.org/officeDocument/2006/relationships/slide" Target="/ppt/slides/slide10.xml" Id="Rb84d8c22115a49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b68ed101c164cd7" /><Relationship Type="http://schemas.openxmlformats.org/officeDocument/2006/relationships/slide" Target="/ppt/slides/slide11.xml" Id="R7df2d34f618940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2ab4a0e66394382" /><Relationship Type="http://schemas.openxmlformats.org/officeDocument/2006/relationships/slide" Target="/ppt/slides/slide12.xml" Id="R7ad452772c6543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752653a220d487f" /><Relationship Type="http://schemas.openxmlformats.org/officeDocument/2006/relationships/slide" Target="/ppt/slides/slide13.xml" Id="R7ac0cb70b9bd49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9f1bbfa95364736" /><Relationship Type="http://schemas.openxmlformats.org/officeDocument/2006/relationships/slide" Target="/ppt/slides/slide14.xml" Id="R5d539eb6ea2944a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2608918c6ba41d6" /><Relationship Type="http://schemas.openxmlformats.org/officeDocument/2006/relationships/slide" Target="/ppt/slides/slide15.xml" Id="Rbf4665d8a2c2411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a3c73620b14b28" /><Relationship Type="http://schemas.openxmlformats.org/officeDocument/2006/relationships/slide" Target="/ppt/slides/slide16.xml" Id="Ra2d210fa97cf42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by establishing that this is an established practice, not a new venture. Ten years, 500 clients, 30 people in-house. Chennai is the second office. Do not rush the three figures — let them land before moving 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These are the three practice lines as published on the website. The point to land is that they are not separate products: one team does the recurring compliance, the management reporting and the transaction work.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Pivot. Everything so far has been India. From here the deck is about Singapore.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qualitative arguments only — there are deliberately no market statistics on this slide. Drop your own research in here if the audience expects numbers; the layout leaves a clean band below the cards for a stat row.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This is the problem slide. Do not soften it. The cost of a local hire is fixed and it lands before any of the work gets done. Pause on the third point — obligations do not scale down, which is what catches smaller entities 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 to the offer.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down the four steps in order. Every name on this slide is a real filing: Form F5 is the quarterly GST return, ECI is the estimated chargeable income filing, Form C-S or C is the corporate return, and ACRA takes the annual return plus XBRL accounts. Deliberately no rates or deadlines — those move.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commercial claim. Say plainly that the saving is structural: preparation happens in Bangalore, sign-off happens with a Singapore-qualified CA, and the client carries no headcount. Be ready to substantiate the 50 per cent figure if asked — have a worked comparison to hand.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Pivot to the cross-border work, which is where most of the real engagement sits.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Both poles, then the money movement between them. FEMA governs the India leg on every transaction. ODI covers Indian money going out, FC-GPR covers money coming in, and the India-Singapore treaty governs relief. If the prospect has an existing structure, this is the slide to go off-script 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adjacent work, grouped as the client sees it. Valuation matters most to anyone raising or transferring shares — Rule 11UA and FEMA pricing both bite.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differentiator: all of this is in-house and on one payroll. No sub-contracting and no associate network means one point of accountability. The Singapore-qualified CA is the point to press with this audience.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Unusual for a CA firm and worth dwelling on. Engineers on staff means the practice systems are built around a filing calendar rather than a sales pipeline, and it means we can build a client a tool when they need one.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Partner-led, and say it plainly: the partner who scopes an engagement is the one who reviews it. Four partners, so a Singapore client is never waiting on one person's calendar. Hand over to whichever partner is in the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Close on the three steps and leave the contact block up. The ask is a thirty-minute scoping call, nothing larger.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22db660ad480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1c687318e7453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c03713425f4e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be85eb32e5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db65ab53dc4df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10e32e42bfca4e1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9dea4a60a4db5" /><Relationship Type="http://schemas.openxmlformats.org/officeDocument/2006/relationships/image" Target="/ppt/media/image.png" Id="R3359aa6afd6044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ab497397b4f84" /><Relationship Type="http://schemas.openxmlformats.org/officeDocument/2006/relationships/notesSlide" Target="/ppt/notesSlides/notesSlide1.xml" Id="Rd79a8c98f83942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d4ca5c7c84e5b" /><Relationship Type="http://schemas.openxmlformats.org/officeDocument/2006/relationships/notesSlide" Target="/ppt/notesSlides/notesSlide2.xml" Id="R29f2c891c15c49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181abf3db4b51" /><Relationship Type="http://schemas.openxmlformats.org/officeDocument/2006/relationships/notesSlide" Target="/ppt/notesSlides/notesSlide3.xml" Id="R0af48c79db874c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a57276f744072" /><Relationship Type="http://schemas.openxmlformats.org/officeDocument/2006/relationships/notesSlide" Target="/ppt/notesSlides/notesSlide4.xml" Id="Ra9dc37e640b64a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e664a892b440e2" /><Relationship Type="http://schemas.openxmlformats.org/officeDocument/2006/relationships/notesSlide" Target="/ppt/notesSlides/notesSlide5.xml" Id="Rbf9e87d9c1f241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df50bff5f41e3" /><Relationship Type="http://schemas.openxmlformats.org/officeDocument/2006/relationships/notesSlide" Target="/ppt/notesSlides/notesSlide6.xml" Id="Rc664dd2a999148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9d545deb94ed1" /><Relationship Type="http://schemas.openxmlformats.org/officeDocument/2006/relationships/notesSlide" Target="/ppt/notesSlides/notesSlide7.xml" Id="Rc48a7f44b2a74e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d5f351da344a8" /><Relationship Type="http://schemas.openxmlformats.org/officeDocument/2006/relationships/notesSlide" Target="/ppt/notesSlides/notesSlide8.xml" Id="R431d86c6903a43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610a2ce8f4755" /><Relationship Type="http://schemas.openxmlformats.org/officeDocument/2006/relationships/notesSlide" Target="/ppt/notesSlides/notesSlide9.xml" Id="R58d23beb646340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49606848d42d9" /><Relationship Type="http://schemas.openxmlformats.org/officeDocument/2006/relationships/notesSlide" Target="/ppt/notesSlides/notesSlide10.xml" Id="Ra10206c83764466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e3884f4fe45d7" /><Relationship Type="http://schemas.openxmlformats.org/officeDocument/2006/relationships/notesSlide" Target="/ppt/notesSlides/notesSlide11.xml" Id="R70b2bf779419445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0b00e5abf45e5" /><Relationship Type="http://schemas.openxmlformats.org/officeDocument/2006/relationships/notesSlide" Target="/ppt/notesSlides/notesSlide12.xml" Id="R8aa5d5e02e3347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5ffce0f024438" /><Relationship Type="http://schemas.openxmlformats.org/officeDocument/2006/relationships/notesSlide" Target="/ppt/notesSlides/notesSlide13.xml" Id="R95dfd57e9fc547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7b7376456498f" /><Relationship Type="http://schemas.openxmlformats.org/officeDocument/2006/relationships/notesSlide" Target="/ppt/notesSlides/notesSlide14.xml" Id="Rc83e5aa7a927424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da977870849c8" /><Relationship Type="http://schemas.openxmlformats.org/officeDocument/2006/relationships/notesSlide" Target="/ppt/notesSlides/notesSlide15.xml" Id="R62aa36e8d3044d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00" name="!!scene-orb-gold"/>
          <p:cNvSpPr/>
          <p:nvPr/>
        </p:nvSpPr>
        <p:spPr>
          <a:xfrm xmlns:a="http://schemas.openxmlformats.org/drawingml/2006/main">
            <a:off x="7380000" y="432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!!scene-orb-steel"/>
          <p:cNvSpPr/>
          <p:nvPr/>
        </p:nvSpPr>
        <p:spPr>
          <a:xfrm xmlns:a="http://schemas.openxmlformats.org/drawingml/2006/main">
            <a:off x="1440000" y="306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2" name="!!scene-wash"/>
          <p:cNvSpPr/>
          <p:nvPr/>
        </p:nvSpPr>
        <p:spPr>
          <a:xfrm xmlns:a="http://schemas.openxmlformats.org/drawingml/2006/main">
            <a:off x="0" y="4896000"/>
            <a:ext cx="12193200" cy="196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!!scene-rule-navy"/>
          <p:cNvSpPr/>
          <p:nvPr/>
        </p:nvSpPr>
        <p:spPr>
          <a:xfrm xmlns:a="http://schemas.openxmlformats.org/drawingml/2006/main">
            <a:off x="11509200" y="4392000"/>
            <a:ext cx="18000" cy="12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4" name="!!scene-rule-gold"/>
          <p:cNvSpPr/>
          <p:nvPr/>
        </p:nvSpPr>
        <p:spPr>
          <a:xfrm xmlns:a="http://schemas.openxmlformats.org/drawingml/2006/main">
            <a:off x="5040000" y="4104000"/>
            <a:ext cx="2088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5" name="!!scene-dot"/>
          <p:cNvSpPr/>
          <p:nvPr/>
        </p:nvSpPr>
        <p:spPr>
          <a:xfrm xmlns:a="http://schemas.openxmlformats.org/drawingml/2006/main">
            <a:off x="7081200" y="4068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00006" name="Picture 1" descr="TaxWise Consultants shield mark, reversed in off-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9aa6afd6044a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677200" y="1188000"/>
            <a:ext cx="835200" cy="936000"/>
          </a:xfrm>
          <a:prstGeom xmlns:a="http://schemas.openxmlformats.org/drawingml/2006/main" prst="rect">
            <a:avLst/>
          </a:prstGeom>
        </p:spPr>
      </p:pic>
      <p:sp>
        <p:nvSpPr>
          <p:cNvPr id="100007" name="!!#s1-eye-loc"/>
          <p:cNvSpPr txBox="1"/>
          <p:nvPr/>
        </p:nvSpPr>
        <p:spPr>
          <a:xfrm xmlns:a="http://schemas.openxmlformats.org/drawingml/2006/main">
            <a:off x="684000" y="2448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BANGALORE · CHENNAI · SINGAPORE</a:t>
            </a:r>
          </a:p>
        </p:txBody>
      </p:sp>
      <p:sp>
        <p:nvSpPr>
          <p:cNvPr id="100008" name="!!#s1-title"/>
          <p:cNvSpPr txBox="1"/>
          <p:nvPr/>
        </p:nvSpPr>
        <p:spPr>
          <a:xfrm xmlns:a="http://schemas.openxmlformats.org/drawingml/2006/main">
            <a:off x="684000" y="2772000"/>
            <a:ext cx="10825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5800" b="1">
                <a:solidFill>
                  <a:srgbClr val="F5F4F2"/>
                </a:solidFill>
                <a:latin typeface="Georgia"/>
                <a:ea typeface="Georgia"/>
              </a:rPr>
              <a:t>TaxWise Consultants</a:t>
            </a:r>
          </a:p>
        </p:txBody>
      </p:sp>
      <p:sp>
        <p:nvSpPr>
          <p:cNvPr id="100009" name="!!#s1-strap"/>
          <p:cNvSpPr txBox="1"/>
          <p:nvPr/>
        </p:nvSpPr>
        <p:spPr>
          <a:xfrm xmlns:a="http://schemas.openxmlformats.org/drawingml/2006/main">
            <a:off x="1778400" y="5148000"/>
            <a:ext cx="864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Cross-border finance, tax and compliance for companies operating between India and Singapore.</a:t>
            </a:r>
          </a:p>
        </p:txBody>
      </p:sp>
      <p:sp>
        <p:nvSpPr>
          <p:cNvPr id="100010" name="!!#s1-meta"/>
          <p:cNvSpPr txBox="1"/>
          <p:nvPr/>
        </p:nvSpPr>
        <p:spPr>
          <a:xfrm xmlns:a="http://schemas.openxmlformats.org/drawingml/2006/main">
            <a:off x="684000" y="5976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100" spc="180">
                <a:solidFill>
                  <a:srgbClr val="8A9BBF"/>
                </a:solidFill>
                <a:latin typeface="Arial"/>
                <a:ea typeface="Arial"/>
              </a:rPr>
              <a:t>SINGAPORE PRACTICE  ·  2026  ·  TWCHARTERED.COM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08" grpId="0"/>
      <p:bldP spid="100009" grpId="1"/>
    </p:bldLst>
  </p:timing>
</p:sld>
</file>

<file path=ppt/slides/slide2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11" name="!!scene-orb-gold"/>
          <p:cNvSpPr/>
          <p:nvPr/>
        </p:nvSpPr>
        <p:spPr>
          <a:xfrm xmlns:a="http://schemas.openxmlformats.org/drawingml/2006/main">
            <a:off x="8640000" y="342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2" name="!!scene-orb-steel"/>
          <p:cNvSpPr/>
          <p:nvPr/>
        </p:nvSpPr>
        <p:spPr>
          <a:xfrm xmlns:a="http://schemas.openxmlformats.org/drawingml/2006/main">
            <a:off x="792000" y="3240000"/>
            <a:ext cx="2880000" cy="28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!!scene-wash"/>
          <p:cNvSpPr/>
          <p:nvPr/>
        </p:nvSpPr>
        <p:spPr>
          <a:xfrm xmlns:a="http://schemas.openxmlformats.org/drawingml/2006/main">
            <a:off x="684000" y="4536000"/>
            <a:ext cx="10825200" cy="140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4" name="!!scene-rule-navy"/>
          <p:cNvSpPr/>
          <p:nvPr/>
        </p:nvSpPr>
        <p:spPr>
          <a:xfrm xmlns:a="http://schemas.openxmlformats.org/drawingml/2006/main">
            <a:off x="11509200" y="864000"/>
            <a:ext cx="18000" cy="36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6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7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!!#s2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019" name="!!#s2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practice today</a:t>
            </a:r>
          </a:p>
        </p:txBody>
      </p:sp>
      <p:sp>
        <p:nvSpPr>
          <p:cNvPr id="100020" name="!!#s2-lead"/>
          <p:cNvSpPr txBox="1"/>
          <p:nvPr/>
        </p:nvSpPr>
        <p:spPr>
          <a:xfrm xmlns:a="http://schemas.openxmlformats.org/drawingml/2006/main">
            <a:off x="684000" y="2376000"/>
            <a:ext cx="6768000" cy="2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900">
                <a:solidFill>
                  <a:srgbClr val="8A9BBF"/>
                </a:solidFill>
                <a:latin typeface="Arial"/>
                <a:ea typeface="Arial"/>
              </a:rPr>
              <a:t>TaxWise Consultants is a chartered accountancy and finance advisory firm headquartered in Bangalore, with a second office in Chennai. We are the finance and compliance function for companies that would rather not build one in-house.</a:t>
            </a:r>
          </a:p>
        </p:txBody>
      </p:sp>
      <p:sp>
        <p:nvSpPr>
          <p:cNvPr id="100021" name="!!#s2-eye-office"/>
          <p:cNvSpPr txBox="1"/>
          <p:nvPr/>
        </p:nvSpPr>
        <p:spPr>
          <a:xfrm xmlns:a="http://schemas.openxmlformats.org/drawingml/2006/main">
            <a:off x="7740000" y="2376000"/>
            <a:ext cx="376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REGISTERED OFFICE</a:t>
            </a:r>
          </a:p>
        </p:txBody>
      </p:sp>
      <p:sp>
        <p:nvSpPr>
          <p:cNvPr id="100022" name="!!#s2-addr"/>
          <p:cNvSpPr txBox="1"/>
          <p:nvPr/>
        </p:nvSpPr>
        <p:spPr>
          <a:xfrm xmlns:a="http://schemas.openxmlformats.org/drawingml/2006/main">
            <a:off x="7740000" y="2682000"/>
            <a:ext cx="3769200" cy="88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600">
                <a:solidFill>
                  <a:srgbClr val="8A9BBF"/>
                </a:solidFill>
                <a:latin typeface="Arial"/>
                <a:ea typeface="Arial"/>
              </a:rPr>
              <a:t>307, 1st Floor, 14th Main Road, RMV Extension, Sadhashivnagar, Bangalore 560 080</a:t>
            </a:r>
          </a:p>
        </p:txBody>
      </p:sp>
      <p:sp>
        <p:nvSpPr>
          <p:cNvPr id="100023" name="!!#s2-div"/>
          <p:cNvSpPr/>
          <p:nvPr/>
        </p:nvSpPr>
        <p:spPr>
          <a:xfrm xmlns:a="http://schemas.openxmlformats.org/drawingml/2006/main">
            <a:off x="7740000" y="3672000"/>
            <a:ext cx="3769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4" name="!!#s2-eye-office2"/>
          <p:cNvSpPr txBox="1"/>
          <p:nvPr/>
        </p:nvSpPr>
        <p:spPr>
          <a:xfrm xmlns:a="http://schemas.openxmlformats.org/drawingml/2006/main">
            <a:off x="7740000" y="3798000"/>
            <a:ext cx="376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SECOND OFFICE</a:t>
            </a:r>
          </a:p>
        </p:txBody>
      </p:sp>
      <p:sp>
        <p:nvSpPr>
          <p:cNvPr id="100025" name="!!#s2-addr2"/>
          <p:cNvSpPr txBox="1"/>
          <p:nvPr/>
        </p:nvSpPr>
        <p:spPr>
          <a:xfrm xmlns:a="http://schemas.openxmlformats.org/drawingml/2006/main">
            <a:off x="7740000" y="4086000"/>
            <a:ext cx="37692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600">
                <a:solidFill>
                  <a:srgbClr val="8A9BBF"/>
                </a:solidFill>
                <a:latin typeface="Arial"/>
                <a:ea typeface="Arial"/>
              </a:rPr>
              <a:t>Chennai</a:t>
            </a:r>
          </a:p>
        </p:txBody>
      </p:sp>
      <p:sp>
        <p:nvSpPr>
          <p:cNvPr id="100026" name="!!#s2-kpi0"/>
          <p:cNvSpPr txBox="1"/>
          <p:nvPr/>
        </p:nvSpPr>
        <p:spPr>
          <a:xfrm xmlns:a="http://schemas.openxmlformats.org/drawingml/2006/main">
            <a:off x="936000" y="4752000"/>
            <a:ext cx="31392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10+</a:t>
            </a:r>
          </a:p>
        </p:txBody>
      </p:sp>
      <p:sp>
        <p:nvSpPr>
          <p:cNvPr id="100027" name="!!#s2-kpisub0"/>
          <p:cNvSpPr txBox="1"/>
          <p:nvPr/>
        </p:nvSpPr>
        <p:spPr>
          <a:xfrm xmlns:a="http://schemas.openxmlformats.org/drawingml/2006/main">
            <a:off x="936000" y="5454000"/>
            <a:ext cx="313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Years in practice</a:t>
            </a:r>
          </a:p>
        </p:txBody>
      </p:sp>
      <p:sp>
        <p:nvSpPr>
          <p:cNvPr id="100028" name="!!#s2-kpi1"/>
          <p:cNvSpPr txBox="1"/>
          <p:nvPr/>
        </p:nvSpPr>
        <p:spPr>
          <a:xfrm xmlns:a="http://schemas.openxmlformats.org/drawingml/2006/main">
            <a:off x="4651200" y="4752000"/>
            <a:ext cx="31392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500+</a:t>
            </a:r>
          </a:p>
        </p:txBody>
      </p:sp>
      <p:sp>
        <p:nvSpPr>
          <p:cNvPr id="100029" name="!!#s2-kpisub1"/>
          <p:cNvSpPr txBox="1"/>
          <p:nvPr/>
        </p:nvSpPr>
        <p:spPr>
          <a:xfrm xmlns:a="http://schemas.openxmlformats.org/drawingml/2006/main">
            <a:off x="4651200" y="5454000"/>
            <a:ext cx="313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Clients advised</a:t>
            </a:r>
          </a:p>
        </p:txBody>
      </p:sp>
      <p:sp>
        <p:nvSpPr>
          <p:cNvPr id="100030" name="!!#s2-kpi2"/>
          <p:cNvSpPr txBox="1"/>
          <p:nvPr/>
        </p:nvSpPr>
        <p:spPr>
          <a:xfrm xmlns:a="http://schemas.openxmlformats.org/drawingml/2006/main">
            <a:off x="8370000" y="4752000"/>
            <a:ext cx="31392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C9A84C"/>
                </a:solidFill>
                <a:latin typeface="Georgia"/>
                <a:ea typeface="Georgia"/>
              </a:rPr>
              <a:t>30+</a:t>
            </a:r>
          </a:p>
        </p:txBody>
      </p:sp>
      <p:sp>
        <p:nvSpPr>
          <p:cNvPr id="100031" name="!!#s2-kpisub2"/>
          <p:cNvSpPr txBox="1"/>
          <p:nvPr/>
        </p:nvSpPr>
        <p:spPr>
          <a:xfrm xmlns:a="http://schemas.openxmlformats.org/drawingml/2006/main">
            <a:off x="8370000" y="5454000"/>
            <a:ext cx="3139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200" spc="80">
                <a:solidFill>
                  <a:srgbClr val="8A9BBF"/>
                </a:solidFill>
                <a:latin typeface="Arial"/>
                <a:ea typeface="Arial"/>
              </a:rPr>
              <a:t>In-house specialists</a:t>
            </a:r>
          </a:p>
        </p:txBody>
      </p:sp>
      <p:sp>
        <p:nvSpPr>
          <p:cNvPr id="100032" name="!!#s2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33" name="!!#s2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02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19" grpId="0"/>
      <p:bldP spid="100020" grpId="1"/>
    </p:bldLst>
  </p:timing>
</p:sld>
</file>

<file path=ppt/slides/slide3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34" name="!!scene-orb-gold"/>
          <p:cNvSpPr/>
          <p:nvPr/>
        </p:nvSpPr>
        <p:spPr>
          <a:xfrm xmlns:a="http://schemas.openxmlformats.org/drawingml/2006/main">
            <a:off x="864000" y="2880000"/>
            <a:ext cx="3780000" cy="37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!!scene-orb-steel"/>
          <p:cNvSpPr/>
          <p:nvPr/>
        </p:nvSpPr>
        <p:spPr>
          <a:xfrm xmlns:a="http://schemas.openxmlformats.org/drawingml/2006/main">
            <a:off x="8100000" y="54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6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7" name="!!scene-rule-navy"/>
          <p:cNvSpPr/>
          <p:nvPr/>
        </p:nvSpPr>
        <p:spPr>
          <a:xfrm xmlns:a="http://schemas.openxmlformats.org/drawingml/2006/main">
            <a:off x="115092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8" name="!!scene-rule-gold"/>
          <p:cNvSpPr/>
          <p:nvPr/>
        </p:nvSpPr>
        <p:spPr>
          <a:xfrm xmlns:a="http://schemas.openxmlformats.org/drawingml/2006/main">
            <a:off x="684000" y="2052000"/>
            <a:ext cx="43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9" name="!!scene-dot"/>
          <p:cNvSpPr/>
          <p:nvPr/>
        </p:nvSpPr>
        <p:spPr>
          <a:xfrm xmlns:a="http://schemas.openxmlformats.org/drawingml/2006/main">
            <a:off x="495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0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1" name="!!#s3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WHAT WE DO</a:t>
            </a:r>
          </a:p>
        </p:txBody>
      </p:sp>
      <p:sp>
        <p:nvSpPr>
          <p:cNvPr id="100042" name="!!#s3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Three practices, one finance function</a:t>
            </a:r>
          </a:p>
        </p:txBody>
      </p:sp>
      <p:sp>
        <p:nvSpPr>
          <p:cNvPr id="100043" name="!!#s3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44" name="!!#s3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Core CA Practice</a:t>
            </a:r>
          </a:p>
        </p:txBody>
      </p:sp>
      <p:sp>
        <p:nvSpPr>
          <p:cNvPr id="100045" name="!!#s3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Statutory audit, direct tax, GST and ROC filings. Assessments and representation.</a:t>
            </a:r>
          </a:p>
        </p:txBody>
      </p:sp>
      <p:sp>
        <p:nvSpPr>
          <p:cNvPr id="100046" name="!!#s3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7" name="!!#s3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48" name="!!#s3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CFO Advisory</a:t>
            </a:r>
          </a:p>
        </p:txBody>
      </p:sp>
      <p:sp>
        <p:nvSpPr>
          <p:cNvPr id="100049" name="!!#s3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Management reporting, working-capital control, budgeting, internal controls and board packs.</a:t>
            </a:r>
          </a:p>
        </p:txBody>
      </p:sp>
      <p:sp>
        <p:nvSpPr>
          <p:cNvPr id="100050" name="!!#s3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1" name="!!#s3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52" name="!!#s3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Startup Advisory</a:t>
            </a:r>
          </a:p>
        </p:txBody>
      </p:sp>
      <p:sp>
        <p:nvSpPr>
          <p:cNvPr id="100053" name="!!#s3-cbody2"/>
          <p:cNvSpPr txBox="1"/>
          <p:nvPr/>
        </p:nvSpPr>
        <p:spPr>
          <a:xfrm xmlns:a="http://schemas.openxmlformats.org/drawingml/2006/main">
            <a:off x="8370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Incorporation, ESOP structuring, Rule 11UA valuations, due diligence and fundraise support.</a:t>
            </a:r>
          </a:p>
        </p:txBody>
      </p:sp>
      <p:sp>
        <p:nvSpPr>
          <p:cNvPr id="100054" name="!!#s3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55" name="!!#s3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03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42" grpId="0"/>
      <p:bldP spid="100044" grpId="1"/>
    </p:bldLst>
  </p:timing>
</p:sld>
</file>

<file path=ppt/slides/slide4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56" name="!!scene-orb-gold"/>
          <p:cNvSpPr/>
          <p:nvPr/>
        </p:nvSpPr>
        <p:spPr>
          <a:xfrm xmlns:a="http://schemas.openxmlformats.org/drawingml/2006/main">
            <a:off x="6840000" y="720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7" name="!!scene-orb-steel"/>
          <p:cNvSpPr/>
          <p:nvPr/>
        </p:nvSpPr>
        <p:spPr>
          <a:xfrm xmlns:a="http://schemas.openxmlformats.org/drawingml/2006/main">
            <a:off x="1080000" y="324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8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9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0" name="!!scene-rule-gold"/>
          <p:cNvSpPr/>
          <p:nvPr/>
        </p:nvSpPr>
        <p:spPr>
          <a:xfrm xmlns:a="http://schemas.openxmlformats.org/drawingml/2006/main">
            <a:off x="684000" y="4752000"/>
            <a:ext cx="648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!!scene-dot"/>
          <p:cNvSpPr/>
          <p:nvPr/>
        </p:nvSpPr>
        <p:spPr>
          <a:xfrm xmlns:a="http://schemas.openxmlformats.org/drawingml/2006/main">
            <a:off x="711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2" name="!!#s4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63" name="!!#s4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100064" name="!!#s4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Why Singapore</a:t>
            </a:r>
          </a:p>
        </p:txBody>
      </p:sp>
      <p:sp>
        <p:nvSpPr>
          <p:cNvPr id="100065" name="!!#s4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The regional holding seat for Asian operations — and the jurisdiction our clients keep asking about.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64" grpId="0"/>
      <p:bldP spid="100063" grpId="1"/>
    </p:bldLst>
  </p:timing>
</p:sld>
</file>

<file path=ppt/slides/slide5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66" name="!!scene-orb-gold"/>
          <p:cNvSpPr/>
          <p:nvPr/>
        </p:nvSpPr>
        <p:spPr>
          <a:xfrm xmlns:a="http://schemas.openxmlformats.org/drawingml/2006/main">
            <a:off x="9000000" y="36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7" name="!!scene-orb-steel"/>
          <p:cNvSpPr/>
          <p:nvPr/>
        </p:nvSpPr>
        <p:spPr>
          <a:xfrm xmlns:a="http://schemas.openxmlformats.org/drawingml/2006/main">
            <a:off x="576000" y="3600000"/>
            <a:ext cx="2880000" cy="28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8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9" name="!!scene-rule-navy"/>
          <p:cNvSpPr/>
          <p:nvPr/>
        </p:nvSpPr>
        <p:spPr>
          <a:xfrm xmlns:a="http://schemas.openxmlformats.org/drawingml/2006/main">
            <a:off x="11509200" y="2736000"/>
            <a:ext cx="18000" cy="273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2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3" name="!!#s5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01 · WHY SINGAPORE</a:t>
            </a:r>
          </a:p>
        </p:txBody>
      </p:sp>
      <p:sp>
        <p:nvSpPr>
          <p:cNvPr id="100074" name="!!#s5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Singapore opportunity</a:t>
            </a:r>
          </a:p>
        </p:txBody>
      </p:sp>
      <p:sp>
        <p:nvSpPr>
          <p:cNvPr id="100075" name="!!#s5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76" name="!!#s5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Gateway, not destination</a:t>
            </a:r>
          </a:p>
        </p:txBody>
      </p:sp>
      <p:sp>
        <p:nvSpPr>
          <p:cNvPr id="100077" name="!!#s5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 Singapore entity is the holding layer above India, South-East Asia and the Gulf.</a:t>
            </a:r>
          </a:p>
        </p:txBody>
      </p:sp>
      <p:sp>
        <p:nvSpPr>
          <p:cNvPr id="100078" name="!!#s5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9" name="!!#s5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80" name="!!#s5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Rule-of-law premium</a:t>
            </a:r>
          </a:p>
        </p:txBody>
      </p:sp>
      <p:sp>
        <p:nvSpPr>
          <p:cNvPr id="100081" name="!!#s5-cbody1"/>
          <p:cNvSpPr txBox="1"/>
          <p:nvPr/>
        </p:nvSpPr>
        <p:spPr>
          <a:xfrm xmlns:a="http://schemas.openxmlformats.org/drawingml/2006/main">
            <a:off x="46512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Predictable regulation, English-language filing and a deep tax-treaty network.</a:t>
            </a:r>
          </a:p>
        </p:txBody>
      </p:sp>
      <p:sp>
        <p:nvSpPr>
          <p:cNvPr id="100082" name="!!#s5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3" name="!!#s5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84" name="!!#s5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Investor-readable structure</a:t>
            </a:r>
          </a:p>
        </p:txBody>
      </p:sp>
      <p:sp>
        <p:nvSpPr>
          <p:cNvPr id="100085" name="!!#s5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Funds underwrite a Singapore holdco faster than a purely Indian cap table.</a:t>
            </a:r>
          </a:p>
        </p:txBody>
      </p:sp>
      <p:sp>
        <p:nvSpPr>
          <p:cNvPr id="100086" name="!!#s5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087" name="!!#s5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05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74" grpId="0"/>
      <p:bldP spid="100076" grpId="1"/>
    </p:bldLst>
  </p:timing>
</p:sld>
</file>

<file path=ppt/slides/slide6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088" name="!!scene-orb-gold"/>
          <p:cNvSpPr/>
          <p:nvPr/>
        </p:nvSpPr>
        <p:spPr>
          <a:xfrm xmlns:a="http://schemas.openxmlformats.org/drawingml/2006/main">
            <a:off x="540000" y="216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9" name="!!scene-orb-steel"/>
          <p:cNvSpPr/>
          <p:nvPr/>
        </p:nvSpPr>
        <p:spPr>
          <a:xfrm xmlns:a="http://schemas.openxmlformats.org/drawingml/2006/main">
            <a:off x="7560000" y="2880000"/>
            <a:ext cx="3780000" cy="37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0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1" name="!!scene-rule-navy"/>
          <p:cNvSpPr/>
          <p:nvPr/>
        </p:nvSpPr>
        <p:spPr>
          <a:xfrm xmlns:a="http://schemas.openxmlformats.org/drawingml/2006/main">
            <a:off x="115092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2" name="!!scene-rule-gold"/>
          <p:cNvSpPr/>
          <p:nvPr/>
        </p:nvSpPr>
        <p:spPr>
          <a:xfrm xmlns:a="http://schemas.openxmlformats.org/drawingml/2006/main">
            <a:off x="684000" y="2052000"/>
            <a:ext cx="324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3" name="!!scene-dot"/>
          <p:cNvSpPr/>
          <p:nvPr/>
        </p:nvSpPr>
        <p:spPr>
          <a:xfrm xmlns:a="http://schemas.openxmlformats.org/drawingml/2006/main">
            <a:off x="387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4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5" name="!!#s6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01 · WHY SINGAPORE</a:t>
            </a:r>
          </a:p>
        </p:txBody>
      </p:sp>
      <p:sp>
        <p:nvSpPr>
          <p:cNvPr id="100096" name="!!#s6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cost of compliance</a:t>
            </a:r>
          </a:p>
        </p:txBody>
      </p:sp>
      <p:sp>
        <p:nvSpPr>
          <p:cNvPr id="100097" name="!!#s6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98" name="!!#s6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 local hire is a fixed cost</a:t>
            </a:r>
          </a:p>
        </p:txBody>
      </p:sp>
      <p:sp>
        <p:nvSpPr>
          <p:cNvPr id="100099" name="!!#s6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Closing books, filing GST and signing ACRA returns commands a senior Singapore salary.</a:t>
            </a:r>
          </a:p>
        </p:txBody>
      </p:sp>
      <p:sp>
        <p:nvSpPr>
          <p:cNvPr id="100100" name="!!#s6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1" name="!!#s6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102" name="!!#s6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 CFO is out of reach</a:t>
            </a:r>
          </a:p>
        </p:txBody>
      </p:sp>
      <p:sp>
        <p:nvSpPr>
          <p:cNvPr id="100103" name="!!#s6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At this stage a full-time CFO is not a hiring decision. It is a decision to go without one.</a:t>
            </a:r>
          </a:p>
        </p:txBody>
      </p:sp>
      <p:sp>
        <p:nvSpPr>
          <p:cNvPr id="100104" name="!!#s6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5" name="!!#s6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106" name="!!#s6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The work does not scale down</a:t>
            </a:r>
          </a:p>
        </p:txBody>
      </p:sp>
      <p:sp>
        <p:nvSpPr>
          <p:cNvPr id="100107" name="!!#s6-cbody2"/>
          <p:cNvSpPr txBox="1"/>
          <p:nvPr/>
        </p:nvSpPr>
        <p:spPr>
          <a:xfrm xmlns:a="http://schemas.openxmlformats.org/drawingml/2006/main">
            <a:off x="8370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Obligations are the same for a five-person entity as for a fifty-person one. So is the risk.</a:t>
            </a:r>
          </a:p>
        </p:txBody>
      </p:sp>
      <p:sp>
        <p:nvSpPr>
          <p:cNvPr id="100108" name="!!#s6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09" name="!!#s6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06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096" grpId="0"/>
      <p:bldP spid="100098" grpId="1"/>
    </p:bldLst>
  </p:timing>
</p:sld>
</file>

<file path=ppt/slides/slide7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10" name="!!scene-orb-gold"/>
          <p:cNvSpPr/>
          <p:nvPr/>
        </p:nvSpPr>
        <p:spPr>
          <a:xfrm xmlns:a="http://schemas.openxmlformats.org/drawingml/2006/main">
            <a:off x="7380000" y="1800000"/>
            <a:ext cx="4500000" cy="450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1" name="!!scene-orb-steel"/>
          <p:cNvSpPr/>
          <p:nvPr/>
        </p:nvSpPr>
        <p:spPr>
          <a:xfrm xmlns:a="http://schemas.openxmlformats.org/drawingml/2006/main">
            <a:off x="1260000" y="54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2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3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4" name="!!scene-rule-gold"/>
          <p:cNvSpPr/>
          <p:nvPr/>
        </p:nvSpPr>
        <p:spPr>
          <a:xfrm xmlns:a="http://schemas.openxmlformats.org/drawingml/2006/main">
            <a:off x="684000" y="4752000"/>
            <a:ext cx="864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5" name="!!scene-dot"/>
          <p:cNvSpPr/>
          <p:nvPr/>
        </p:nvSpPr>
        <p:spPr>
          <a:xfrm xmlns:a="http://schemas.openxmlformats.org/drawingml/2006/main">
            <a:off x="927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16" name="!!#s7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17" name="!!#s7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00118" name="!!#s7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Where TaxWise comes in</a:t>
            </a:r>
          </a:p>
        </p:txBody>
      </p:sp>
      <p:sp>
        <p:nvSpPr>
          <p:cNvPr id="100119" name="!!#s7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We take the whole finance function — books, filings and the CFO seat — and run it from India, for Singapore.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18" grpId="0"/>
      <p:bldP spid="100117" grpId="1"/>
    </p:bldLst>
  </p:timing>
</p:sld>
</file>

<file path=ppt/slides/slide8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20" name="!!scene-orb-gold"/>
          <p:cNvSpPr/>
          <p:nvPr/>
        </p:nvSpPr>
        <p:spPr>
          <a:xfrm xmlns:a="http://schemas.openxmlformats.org/drawingml/2006/main">
            <a:off x="8460000" y="288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1" name="!!scene-orb-steel"/>
          <p:cNvSpPr/>
          <p:nvPr/>
        </p:nvSpPr>
        <p:spPr>
          <a:xfrm xmlns:a="http://schemas.openxmlformats.org/drawingml/2006/main">
            <a:off x="612000" y="342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2" name="!!scene-wash"/>
          <p:cNvSpPr/>
          <p:nvPr/>
        </p:nvSpPr>
        <p:spPr>
          <a:xfrm xmlns:a="http://schemas.openxmlformats.org/drawingml/2006/main">
            <a:off x="684000" y="24480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3" name="!!scene-rule-navy"/>
          <p:cNvSpPr/>
          <p:nvPr/>
        </p:nvSpPr>
        <p:spPr>
          <a:xfrm xmlns:a="http://schemas.openxmlformats.org/drawingml/2006/main">
            <a:off x="11509200" y="5742000"/>
            <a:ext cx="18000" cy="3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4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5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6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27" name="!!#s8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02 · WHERE TAXWISE COMES IN</a:t>
            </a:r>
          </a:p>
        </p:txBody>
      </p:sp>
      <p:sp>
        <p:nvSpPr>
          <p:cNvPr id="100128" name="!!#s8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compliance stack</a:t>
            </a:r>
          </a:p>
        </p:txBody>
      </p:sp>
      <p:sp>
        <p:nvSpPr>
          <p:cNvPr id="100129" name="!!#s8-chip0"/>
          <p:cNvSpPr/>
          <p:nvPr/>
        </p:nvSpPr>
        <p:spPr>
          <a:xfrm xmlns:a="http://schemas.openxmlformats.org/drawingml/2006/main">
            <a:off x="900000" y="25740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130" name="!!#s8-shead0"/>
          <p:cNvSpPr txBox="1"/>
          <p:nvPr/>
        </p:nvSpPr>
        <p:spPr>
          <a:xfrm xmlns:a="http://schemas.openxmlformats.org/drawingml/2006/main">
            <a:off x="1764000" y="24480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Bookkeeping &amp; accounting</a:t>
            </a:r>
          </a:p>
        </p:txBody>
      </p:sp>
      <p:sp>
        <p:nvSpPr>
          <p:cNvPr id="100131" name="!!#s8-sbody0"/>
          <p:cNvSpPr txBox="1"/>
          <p:nvPr/>
        </p:nvSpPr>
        <p:spPr>
          <a:xfrm xmlns:a="http://schemas.openxmlformats.org/drawingml/2006/main">
            <a:off x="4752000" y="24480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Day-to-day ledgers, reconciliations, management accounts and the year-end close.</a:t>
            </a:r>
          </a:p>
        </p:txBody>
      </p:sp>
      <p:sp>
        <p:nvSpPr>
          <p:cNvPr id="100132" name="!!#s8-row1"/>
          <p:cNvSpPr/>
          <p:nvPr/>
        </p:nvSpPr>
        <p:spPr>
          <a:xfrm xmlns:a="http://schemas.openxmlformats.org/drawingml/2006/main">
            <a:off x="684000" y="32976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3" name="!!#s8-chip1"/>
          <p:cNvSpPr/>
          <p:nvPr/>
        </p:nvSpPr>
        <p:spPr>
          <a:xfrm xmlns:a="http://schemas.openxmlformats.org/drawingml/2006/main">
            <a:off x="900000" y="34236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134" name="!!#s8-shead1"/>
          <p:cNvSpPr txBox="1"/>
          <p:nvPr/>
        </p:nvSpPr>
        <p:spPr>
          <a:xfrm xmlns:a="http://schemas.openxmlformats.org/drawingml/2006/main">
            <a:off x="1764000" y="32976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GST</a:t>
            </a:r>
          </a:p>
        </p:txBody>
      </p:sp>
      <p:sp>
        <p:nvSpPr>
          <p:cNvPr id="100135" name="!!#s8-sbody1"/>
          <p:cNvSpPr txBox="1"/>
          <p:nvPr/>
        </p:nvSpPr>
        <p:spPr>
          <a:xfrm xmlns:a="http://schemas.openxmlformats.org/drawingml/2006/main">
            <a:off x="4752000" y="32976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Registration, quarterly Form F5 returns and input-tax review.</a:t>
            </a:r>
          </a:p>
        </p:txBody>
      </p:sp>
      <p:sp>
        <p:nvSpPr>
          <p:cNvPr id="100136" name="!!#s8-row2"/>
          <p:cNvSpPr/>
          <p:nvPr/>
        </p:nvSpPr>
        <p:spPr>
          <a:xfrm xmlns:a="http://schemas.openxmlformats.org/drawingml/2006/main">
            <a:off x="684000" y="41472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37" name="!!#s8-chip2"/>
          <p:cNvSpPr/>
          <p:nvPr/>
        </p:nvSpPr>
        <p:spPr>
          <a:xfrm xmlns:a="http://schemas.openxmlformats.org/drawingml/2006/main">
            <a:off x="900000" y="42732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138" name="!!#s8-shead2"/>
          <p:cNvSpPr txBox="1"/>
          <p:nvPr/>
        </p:nvSpPr>
        <p:spPr>
          <a:xfrm xmlns:a="http://schemas.openxmlformats.org/drawingml/2006/main">
            <a:off x="1764000" y="41472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Income tax</a:t>
            </a:r>
          </a:p>
        </p:txBody>
      </p:sp>
      <p:sp>
        <p:nvSpPr>
          <p:cNvPr id="100139" name="!!#s8-sbody2"/>
          <p:cNvSpPr txBox="1"/>
          <p:nvPr/>
        </p:nvSpPr>
        <p:spPr>
          <a:xfrm xmlns:a="http://schemas.openxmlformats.org/drawingml/2006/main">
            <a:off x="4752000" y="41472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ECI, Form C-S or Form C, and withholding tax on cross-border payments.</a:t>
            </a:r>
          </a:p>
        </p:txBody>
      </p:sp>
      <p:sp>
        <p:nvSpPr>
          <p:cNvPr id="100140" name="!!#s8-row3"/>
          <p:cNvSpPr/>
          <p:nvPr/>
        </p:nvSpPr>
        <p:spPr>
          <a:xfrm xmlns:a="http://schemas.openxmlformats.org/drawingml/2006/main">
            <a:off x="684000" y="4996800"/>
            <a:ext cx="10825200" cy="68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41" name="!!#s8-chip3"/>
          <p:cNvSpPr/>
          <p:nvPr/>
        </p:nvSpPr>
        <p:spPr>
          <a:xfrm xmlns:a="http://schemas.openxmlformats.org/drawingml/2006/main">
            <a:off x="900000" y="5122800"/>
            <a:ext cx="612000" cy="43200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A84C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C9A84C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142" name="!!#s8-shead3"/>
          <p:cNvSpPr txBox="1"/>
          <p:nvPr/>
        </p:nvSpPr>
        <p:spPr>
          <a:xfrm xmlns:a="http://schemas.openxmlformats.org/drawingml/2006/main">
            <a:off x="1764000" y="4996800"/>
            <a:ext cx="28800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ACRA</a:t>
            </a:r>
          </a:p>
        </p:txBody>
      </p:sp>
      <p:sp>
        <p:nvSpPr>
          <p:cNvPr id="100143" name="!!#s8-sbody3"/>
          <p:cNvSpPr txBox="1"/>
          <p:nvPr/>
        </p:nvSpPr>
        <p:spPr>
          <a:xfrm xmlns:a="http://schemas.openxmlformats.org/drawingml/2006/main">
            <a:off x="4752000" y="4996800"/>
            <a:ext cx="6757200" cy="6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Annual Return, XBRL financial statements, statutory registers and resolutions.</a:t>
            </a:r>
          </a:p>
        </p:txBody>
      </p:sp>
      <p:cxnSp>
        <p:nvCxnSpPr>
          <p:cNvPr id="100144" name="Connector 1"/>
          <p:cNvCxnSpPr>
            <a:stCxn xmlns:a="http://schemas.openxmlformats.org/drawingml/2006/main" id="100129" idx="0"/>
            <a:endCxn xmlns:a="http://schemas.openxmlformats.org/drawingml/2006/main" id="100133" idx="0"/>
          </p:cNvCxnSpPr>
          <p:nvPr/>
        </p:nvCxnSpPr>
        <p:spPr>
          <a:xfrm xmlns:a="http://schemas.openxmlformats.org/drawingml/2006/main">
            <a:off x="1206000" y="30060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cxnSp>
        <p:nvCxnSpPr>
          <p:cNvPr id="100145" name="Connector 2"/>
          <p:cNvCxnSpPr>
            <a:stCxn xmlns:a="http://schemas.openxmlformats.org/drawingml/2006/main" id="100133" idx="0"/>
            <a:endCxn xmlns:a="http://schemas.openxmlformats.org/drawingml/2006/main" id="100137" idx="0"/>
          </p:cNvCxnSpPr>
          <p:nvPr/>
        </p:nvCxnSpPr>
        <p:spPr>
          <a:xfrm xmlns:a="http://schemas.openxmlformats.org/drawingml/2006/main">
            <a:off x="1206000" y="38556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cxnSp>
        <p:nvCxnSpPr>
          <p:cNvPr id="100146" name="Connector 3"/>
          <p:cNvCxnSpPr>
            <a:stCxn xmlns:a="http://schemas.openxmlformats.org/drawingml/2006/main" id="100137" idx="0"/>
            <a:endCxn xmlns:a="http://schemas.openxmlformats.org/drawingml/2006/main" id="100141" idx="0"/>
          </p:cNvCxnSpPr>
          <p:nvPr/>
        </p:nvCxnSpPr>
        <p:spPr>
          <a:xfrm xmlns:a="http://schemas.openxmlformats.org/drawingml/2006/main">
            <a:off x="1206000" y="4705200"/>
            <a:ext cx="0" cy="41760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C9A84C"/>
            </a:solidFill>
            <a:tailEnd type="triangle"/>
          </a:ln>
        </p:spPr>
      </p:cxnSp>
      <p:sp>
        <p:nvSpPr>
          <p:cNvPr id="100147" name="!!#s8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48" name="!!#s8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08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28" grpId="0"/>
      <p:bldP spid="100130" grpId="1"/>
    </p:bldLst>
  </p:timing>
</p:sld>
</file>

<file path=ppt/slides/slide9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49" name="!!scene-orb-gold"/>
          <p:cNvSpPr/>
          <p:nvPr/>
        </p:nvSpPr>
        <p:spPr>
          <a:xfrm xmlns:a="http://schemas.openxmlformats.org/drawingml/2006/main">
            <a:off x="6480000" y="1620000"/>
            <a:ext cx="5040000" cy="50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0" name="!!scene-orb-steel"/>
          <p:cNvSpPr/>
          <p:nvPr/>
        </p:nvSpPr>
        <p:spPr>
          <a:xfrm xmlns:a="http://schemas.openxmlformats.org/drawingml/2006/main">
            <a:off x="720000" y="72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1" name="!!scene-wash"/>
          <p:cNvSpPr/>
          <p:nvPr/>
        </p:nvSpPr>
        <p:spPr>
          <a:xfrm xmlns:a="http://schemas.openxmlformats.org/drawingml/2006/main">
            <a:off x="684000" y="2448000"/>
            <a:ext cx="51840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2" name="!!scene-rule-navy"/>
          <p:cNvSpPr/>
          <p:nvPr/>
        </p:nvSpPr>
        <p:spPr>
          <a:xfrm xmlns:a="http://schemas.openxmlformats.org/drawingml/2006/main">
            <a:off x="5904000" y="2484000"/>
            <a:ext cx="18000" cy="30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3" name="!!scene-rule-gold"/>
          <p:cNvSpPr/>
          <p:nvPr/>
        </p:nvSpPr>
        <p:spPr>
          <a:xfrm xmlns:a="http://schemas.openxmlformats.org/drawingml/2006/main">
            <a:off x="684000" y="2052000"/>
            <a:ext cx="518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4" name="!!scene-dot"/>
          <p:cNvSpPr/>
          <p:nvPr/>
        </p:nvSpPr>
        <p:spPr>
          <a:xfrm xmlns:a="http://schemas.openxmlformats.org/drawingml/2006/main">
            <a:off x="5821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5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56" name="!!#s9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02 · WHERE TAXWISE COMES IN</a:t>
            </a:r>
          </a:p>
        </p:txBody>
      </p:sp>
      <p:sp>
        <p:nvSpPr>
          <p:cNvPr id="100157" name="!!#s9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Roughly half the cost</a:t>
            </a:r>
          </a:p>
        </p:txBody>
      </p:sp>
      <p:sp>
        <p:nvSpPr>
          <p:cNvPr id="100158" name="!!#s9-eye-diff"/>
          <p:cNvSpPr txBox="1"/>
          <p:nvPr/>
        </p:nvSpPr>
        <p:spPr>
          <a:xfrm xmlns:a="http://schemas.openxmlformats.org/drawingml/2006/main">
            <a:off x="936000" y="2574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DIFFERENCE</a:t>
            </a:r>
          </a:p>
        </p:txBody>
      </p:sp>
      <p:sp>
        <p:nvSpPr>
          <p:cNvPr id="100159" name="!!#s9-figure"/>
          <p:cNvSpPr txBox="1"/>
          <p:nvPr/>
        </p:nvSpPr>
        <p:spPr>
          <a:xfrm xmlns:a="http://schemas.openxmlformats.org/drawingml/2006/main">
            <a:off x="936000" y="2862000"/>
            <a:ext cx="4680000" cy="23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E8C97A"/>
                </a:solidFill>
                <a:latin typeface="Georgia"/>
                <a:ea typeface="Georgia"/>
              </a:rPr>
              <a:t>50%</a:t>
            </a:r>
          </a:p>
        </p:txBody>
      </p:sp>
      <p:sp>
        <p:nvSpPr>
          <p:cNvPr id="100160" name="!!#s9-figsub"/>
          <p:cNvSpPr txBox="1"/>
          <p:nvPr/>
        </p:nvSpPr>
        <p:spPr>
          <a:xfrm xmlns:a="http://schemas.openxmlformats.org/drawingml/2006/main">
            <a:off x="936000" y="5220000"/>
            <a:ext cx="468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Less than comparable local cost</a:t>
            </a:r>
          </a:p>
        </p:txBody>
      </p:sp>
      <p:sp>
        <p:nvSpPr>
          <p:cNvPr id="100161" name="!!#s9-lead"/>
          <p:cNvSpPr txBox="1"/>
          <p:nvPr/>
        </p:nvSpPr>
        <p:spPr>
          <a:xfrm xmlns:a="http://schemas.openxmlformats.org/drawingml/2006/main">
            <a:off x="6325200" y="2448000"/>
            <a:ext cx="5184000" cy="13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900">
                <a:solidFill>
                  <a:srgbClr val="8A9BBF"/>
                </a:solidFill>
                <a:latin typeface="Arial"/>
                <a:ea typeface="Arial"/>
              </a:rPr>
              <a:t>Prepared by our team in Bangalore, reviewed by a Singapore-qualified CA before filing. The difference is structural, not a discount.</a:t>
            </a:r>
          </a:p>
        </p:txBody>
      </p:sp>
      <p:sp>
        <p:nvSpPr>
          <p:cNvPr id="100162" name="!!#s9-dash0"/>
          <p:cNvSpPr/>
          <p:nvPr/>
        </p:nvSpPr>
        <p:spPr>
          <a:xfrm xmlns:a="http://schemas.openxmlformats.org/drawingml/2006/main">
            <a:off x="6325200" y="4078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3" name="!!#s9-chip0"/>
          <p:cNvSpPr txBox="1"/>
          <p:nvPr/>
        </p:nvSpPr>
        <p:spPr>
          <a:xfrm xmlns:a="http://schemas.openxmlformats.org/drawingml/2006/main">
            <a:off x="6840000" y="3942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Prepared in Bangalore by a 30-person team.</a:t>
            </a:r>
          </a:p>
        </p:txBody>
      </p:sp>
      <p:sp>
        <p:nvSpPr>
          <p:cNvPr id="100164" name="!!#s9-dash1"/>
          <p:cNvSpPr/>
          <p:nvPr/>
        </p:nvSpPr>
        <p:spPr>
          <a:xfrm xmlns:a="http://schemas.openxmlformats.org/drawingml/2006/main">
            <a:off x="6325200" y="4780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5" name="!!#s9-chip1"/>
          <p:cNvSpPr txBox="1"/>
          <p:nvPr/>
        </p:nvSpPr>
        <p:spPr>
          <a:xfrm xmlns:a="http://schemas.openxmlformats.org/drawingml/2006/main">
            <a:off x="6840000" y="4644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Reviewed and signed off by a Singapore CA.</a:t>
            </a:r>
          </a:p>
        </p:txBody>
      </p:sp>
      <p:sp>
        <p:nvSpPr>
          <p:cNvPr id="100166" name="!!#s9-dash2"/>
          <p:cNvSpPr/>
          <p:nvPr/>
        </p:nvSpPr>
        <p:spPr>
          <a:xfrm xmlns:a="http://schemas.openxmlformats.org/drawingml/2006/main">
            <a:off x="6325200" y="5482800"/>
            <a:ext cx="32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67" name="!!#s9-chip2"/>
          <p:cNvSpPr txBox="1"/>
          <p:nvPr/>
        </p:nvSpPr>
        <p:spPr>
          <a:xfrm xmlns:a="http://schemas.openxmlformats.org/drawingml/2006/main">
            <a:off x="6840000" y="5346000"/>
            <a:ext cx="466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No salary, CPF, software or recruitment cost.</a:t>
            </a:r>
          </a:p>
        </p:txBody>
      </p:sp>
      <p:sp>
        <p:nvSpPr>
          <p:cNvPr id="100168" name="!!#s9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69" name="!!#s9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09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1" dur="550" fill="hold"/>
                                        <p:tgtEl>
                                          <p:spTgt spid="100159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57" grpId="0"/>
      <p:bldP spid="100159" grpId="1"/>
    </p:bldLst>
  </p:timing>
</p:sld>
</file>

<file path=ppt/slides/slide10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70" name="!!scene-orb-gold"/>
          <p:cNvSpPr/>
          <p:nvPr/>
        </p:nvSpPr>
        <p:spPr>
          <a:xfrm xmlns:a="http://schemas.openxmlformats.org/drawingml/2006/main">
            <a:off x="720000" y="1080000"/>
            <a:ext cx="4680000" cy="468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1" name="!!scene-orb-steel"/>
          <p:cNvSpPr/>
          <p:nvPr/>
        </p:nvSpPr>
        <p:spPr>
          <a:xfrm xmlns:a="http://schemas.openxmlformats.org/drawingml/2006/main">
            <a:off x="7920000" y="2880000"/>
            <a:ext cx="3600000" cy="360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2" name="!!scene-wash"/>
          <p:cNvSpPr/>
          <p:nvPr/>
        </p:nvSpPr>
        <p:spPr>
          <a:xfrm xmlns:a="http://schemas.openxmlformats.org/drawingml/2006/main">
            <a:off x="0" y="0"/>
            <a:ext cx="12193200" cy="93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3" name="!!scene-rule-navy"/>
          <p:cNvSpPr/>
          <p:nvPr/>
        </p:nvSpPr>
        <p:spPr>
          <a:xfrm xmlns:a="http://schemas.openxmlformats.org/drawingml/2006/main">
            <a:off x="11509200" y="1080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4" name="!!scene-rule-gold"/>
          <p:cNvSpPr/>
          <p:nvPr/>
        </p:nvSpPr>
        <p:spPr>
          <a:xfrm xmlns:a="http://schemas.openxmlformats.org/drawingml/2006/main">
            <a:off x="684000" y="4752000"/>
            <a:ext cx="43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5" name="!!scene-dot"/>
          <p:cNvSpPr/>
          <p:nvPr/>
        </p:nvSpPr>
        <p:spPr>
          <a:xfrm xmlns:a="http://schemas.openxmlformats.org/drawingml/2006/main">
            <a:off x="4957200" y="47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76" name="!!#s10-topbar"/>
          <p:cNvSpPr txBox="1"/>
          <p:nvPr/>
        </p:nvSpPr>
        <p:spPr>
          <a:xfrm xmlns:a="http://schemas.openxmlformats.org/drawingml/2006/main">
            <a:off x="684000" y="342000"/>
            <a:ext cx="86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00" spc="20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177" name="!!#s10-num"/>
          <p:cNvSpPr txBox="1"/>
          <p:nvPr/>
        </p:nvSpPr>
        <p:spPr>
          <a:xfrm xmlns:a="http://schemas.openxmlformats.org/drawingml/2006/main">
            <a:off x="684000" y="1872000"/>
            <a:ext cx="2160000" cy="15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9600" b="1">
                <a:solidFill>
                  <a:srgbClr val="C9A84C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00178" name="!!#s10-title"/>
          <p:cNvSpPr txBox="1"/>
          <p:nvPr/>
        </p:nvSpPr>
        <p:spPr>
          <a:xfrm xmlns:a="http://schemas.openxmlformats.org/drawingml/2006/main">
            <a:off x="684000" y="3564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5200" b="1">
                <a:solidFill>
                  <a:srgbClr val="F5F4F2"/>
                </a:solidFill>
                <a:latin typeface="Georgia"/>
                <a:ea typeface="Georgia"/>
              </a:rPr>
              <a:t>Across the corridor</a:t>
            </a:r>
          </a:p>
        </p:txBody>
      </p:sp>
      <p:sp>
        <p:nvSpPr>
          <p:cNvPr id="100179" name="!!#s10-strap"/>
          <p:cNvSpPr txBox="1"/>
          <p:nvPr/>
        </p:nvSpPr>
        <p:spPr>
          <a:xfrm xmlns:a="http://schemas.openxmlformats.org/drawingml/2006/main">
            <a:off x="684000" y="5004000"/>
            <a:ext cx="936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000">
                <a:solidFill>
                  <a:srgbClr val="8A9BBF"/>
                </a:solidFill>
                <a:latin typeface="Arial"/>
                <a:ea typeface="Arial"/>
              </a:rPr>
              <a:t>Most of our clients are not choosing between India and Singapore. They are operating in both.</a:t>
            </a:r>
          </a:p>
        </p:txBody>
      </p:sp>
      <p:sp>
        <p:nvSpPr>
          <p:cNvPr id="100180" name="!!actor-corridor"/>
          <p:cNvSpPr/>
          <p:nvPr/>
        </p:nvSpPr>
        <p:spPr>
          <a:xfrm xmlns:a="http://schemas.openxmlformats.org/drawingml/2006/main">
            <a:off x="4658400" y="3096000"/>
            <a:ext cx="2880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78" grpId="0"/>
      <p:bldP spid="100177" grpId="1"/>
    </p:bldLst>
  </p:timing>
</p:sld>
</file>

<file path=ppt/slides/slide11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181" name="!!scene-orb-gold"/>
          <p:cNvSpPr/>
          <p:nvPr/>
        </p:nvSpPr>
        <p:spPr>
          <a:xfrm xmlns:a="http://schemas.openxmlformats.org/drawingml/2006/main">
            <a:off x="4500000" y="36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2" name="!!scene-orb-steel"/>
          <p:cNvSpPr/>
          <p:nvPr/>
        </p:nvSpPr>
        <p:spPr>
          <a:xfrm xmlns:a="http://schemas.openxmlformats.org/drawingml/2006/main">
            <a:off x="8820000" y="3420000"/>
            <a:ext cx="3060000" cy="30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3" name="!!scene-wash"/>
          <p:cNvSpPr/>
          <p:nvPr/>
        </p:nvSpPr>
        <p:spPr>
          <a:xfrm xmlns:a="http://schemas.openxmlformats.org/drawingml/2006/main">
            <a:off x="684000" y="2412000"/>
            <a:ext cx="5184000" cy="205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4" name="!!scene-rule-navy"/>
          <p:cNvSpPr/>
          <p:nvPr/>
        </p:nvSpPr>
        <p:spPr>
          <a:xfrm xmlns:a="http://schemas.openxmlformats.org/drawingml/2006/main">
            <a:off x="6094800" y="2664000"/>
            <a:ext cx="18000" cy="50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5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6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7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88" name="!!#s11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03 · ACROSS THE CORRIDOR</a:t>
            </a:r>
          </a:p>
        </p:txBody>
      </p:sp>
      <p:sp>
        <p:nvSpPr>
          <p:cNvPr id="100189" name="!!#s11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India–Singapore corridor</a:t>
            </a:r>
          </a:p>
        </p:txBody>
      </p:sp>
      <p:sp>
        <p:nvSpPr>
          <p:cNvPr id="100190" name="!!actor-corridor"/>
          <p:cNvSpPr/>
          <p:nvPr/>
        </p:nvSpPr>
        <p:spPr>
          <a:xfrm xmlns:a="http://schemas.openxmlformats.org/drawingml/2006/main">
            <a:off x="684000" y="4788000"/>
            <a:ext cx="108252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1" name="!!#s11-pole2"/>
          <p:cNvSpPr/>
          <p:nvPr/>
        </p:nvSpPr>
        <p:spPr>
          <a:xfrm xmlns:a="http://schemas.openxmlformats.org/drawingml/2006/main">
            <a:off x="6325200" y="2412000"/>
            <a:ext cx="5184000" cy="205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92" name="!!#s11-eye-pole0"/>
          <p:cNvSpPr txBox="1"/>
          <p:nvPr/>
        </p:nvSpPr>
        <p:spPr>
          <a:xfrm xmlns:a="http://schemas.openxmlformats.org/drawingml/2006/main">
            <a:off x="936000" y="259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INDIA</a:t>
            </a:r>
          </a:p>
        </p:txBody>
      </p:sp>
      <p:sp>
        <p:nvSpPr>
          <p:cNvPr id="100193" name="!!#s11-phead0"/>
          <p:cNvSpPr txBox="1"/>
          <p:nvPr/>
        </p:nvSpPr>
        <p:spPr>
          <a:xfrm xmlns:a="http://schemas.openxmlformats.org/drawingml/2006/main">
            <a:off x="936000" y="2880000"/>
            <a:ext cx="4680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Setting up in India</a:t>
            </a:r>
          </a:p>
        </p:txBody>
      </p:sp>
      <p:sp>
        <p:nvSpPr>
          <p:cNvPr id="100194" name="!!#s11-pbody0"/>
          <p:cNvSpPr txBox="1"/>
          <p:nvPr/>
        </p:nvSpPr>
        <p:spPr>
          <a:xfrm xmlns:a="http://schemas.openxmlformats.org/drawingml/2006/main">
            <a:off x="936000" y="3276000"/>
            <a:ext cx="468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SPICe+ incorporation, PAN and TAN, GST registration, FC-GPR and ROC compliance.</a:t>
            </a:r>
          </a:p>
        </p:txBody>
      </p:sp>
      <p:sp>
        <p:nvSpPr>
          <p:cNvPr id="100195" name="!!#s11-eye-pole1"/>
          <p:cNvSpPr txBox="1"/>
          <p:nvPr/>
        </p:nvSpPr>
        <p:spPr>
          <a:xfrm xmlns:a="http://schemas.openxmlformats.org/drawingml/2006/main">
            <a:off x="6577200" y="25920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SINGAPORE</a:t>
            </a:r>
          </a:p>
        </p:txBody>
      </p:sp>
      <p:sp>
        <p:nvSpPr>
          <p:cNvPr id="100196" name="!!#s11-phead1"/>
          <p:cNvSpPr txBox="1"/>
          <p:nvPr/>
        </p:nvSpPr>
        <p:spPr>
          <a:xfrm xmlns:a="http://schemas.openxmlformats.org/drawingml/2006/main">
            <a:off x="6577200" y="2880000"/>
            <a:ext cx="4680000" cy="3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Setting up in Singapore</a:t>
            </a:r>
          </a:p>
        </p:txBody>
      </p:sp>
      <p:sp>
        <p:nvSpPr>
          <p:cNvPr id="100197" name="!!#s11-pbody1"/>
          <p:cNvSpPr txBox="1"/>
          <p:nvPr/>
        </p:nvSpPr>
        <p:spPr>
          <a:xfrm xmlns:a="http://schemas.openxmlformats.org/drawingml/2006/main">
            <a:off x="6577200" y="3276000"/>
            <a:ext cx="4680000" cy="9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ACRA incorporation, resident director, company secretary, bank account and GST.</a:t>
            </a:r>
          </a:p>
        </p:txBody>
      </p:sp>
      <p:sp>
        <p:nvSpPr>
          <p:cNvPr id="100198" name="!!#s11-tag0"/>
          <p:cNvSpPr/>
          <p:nvPr/>
        </p:nvSpPr>
        <p:spPr>
          <a:xfrm xmlns:a="http://schemas.openxmlformats.org/drawingml/2006/main">
            <a:off x="19800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FEMA</a:t>
            </a:r>
          </a:p>
        </p:txBody>
      </p:sp>
      <p:sp>
        <p:nvSpPr>
          <p:cNvPr id="100199" name="!!#s11-tag1"/>
          <p:cNvSpPr/>
          <p:nvPr/>
        </p:nvSpPr>
        <p:spPr>
          <a:xfrm xmlns:a="http://schemas.openxmlformats.org/drawingml/2006/main">
            <a:off x="53424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ODI &amp; FDI</a:t>
            </a:r>
          </a:p>
        </p:txBody>
      </p:sp>
      <p:sp>
        <p:nvSpPr>
          <p:cNvPr id="100200" name="!!#s11-tag2"/>
          <p:cNvSpPr/>
          <p:nvPr/>
        </p:nvSpPr>
        <p:spPr>
          <a:xfrm xmlns:a="http://schemas.openxmlformats.org/drawingml/2006/main">
            <a:off x="8704800" y="4676400"/>
            <a:ext cx="1512000" cy="25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/>
            <a:r>
              <a:rPr lang="en-US" sz="1050" b="1" spc="160">
                <a:solidFill>
                  <a:srgbClr val="0E1B2F"/>
                </a:solidFill>
                <a:latin typeface="Arial"/>
                <a:ea typeface="Arial"/>
              </a:rPr>
              <a:t>DTAA RELIEF</a:t>
            </a:r>
          </a:p>
        </p:txBody>
      </p:sp>
      <p:sp>
        <p:nvSpPr>
          <p:cNvPr id="100201" name="!!#s11-eye-cross"/>
          <p:cNvSpPr txBox="1"/>
          <p:nvPr/>
        </p:nvSpPr>
        <p:spPr>
          <a:xfrm xmlns:a="http://schemas.openxmlformats.org/drawingml/2006/main">
            <a:off x="684000" y="5022000"/>
            <a:ext cx="720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MOVING MONEY BETWEEN THEM</a:t>
            </a:r>
          </a:p>
        </p:txBody>
      </p:sp>
      <p:sp>
        <p:nvSpPr>
          <p:cNvPr id="100202" name="!!#s11-crossb"/>
          <p:cNvSpPr txBox="1"/>
          <p:nvPr/>
        </p:nvSpPr>
        <p:spPr>
          <a:xfrm xmlns:a="http://schemas.openxmlformats.org/drawingml/2006/main">
            <a:off x="684000" y="5310000"/>
            <a:ext cx="108252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Repatriation of funds, dividend and royalty flows, transfer-pricing documentation, and FEMA compliance on every leg.</a:t>
            </a:r>
          </a:p>
        </p:txBody>
      </p:sp>
      <p:sp>
        <p:nvSpPr>
          <p:cNvPr id="100203" name="!!#s11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04" name="!!#s11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11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189" grpId="0"/>
      <p:bldP spid="100193" grpId="1"/>
    </p:bldLst>
  </p:timing>
</p:sld>
</file>

<file path=ppt/slides/slide12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05" name="!!scene-orb-gold"/>
          <p:cNvSpPr/>
          <p:nvPr/>
        </p:nvSpPr>
        <p:spPr>
          <a:xfrm xmlns:a="http://schemas.openxmlformats.org/drawingml/2006/main">
            <a:off x="8640000" y="270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6" name="!!scene-orb-steel"/>
          <p:cNvSpPr/>
          <p:nvPr/>
        </p:nvSpPr>
        <p:spPr>
          <a:xfrm xmlns:a="http://schemas.openxmlformats.org/drawingml/2006/main">
            <a:off x="720000" y="90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7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8" name="!!scene-rule-navy"/>
          <p:cNvSpPr/>
          <p:nvPr/>
        </p:nvSpPr>
        <p:spPr>
          <a:xfrm xmlns:a="http://schemas.openxmlformats.org/drawingml/2006/main">
            <a:off x="11509200" y="2304000"/>
            <a:ext cx="18000" cy="33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09" name="!!scene-rule-gold"/>
          <p:cNvSpPr/>
          <p:nvPr/>
        </p:nvSpPr>
        <p:spPr>
          <a:xfrm xmlns:a="http://schemas.openxmlformats.org/drawingml/2006/main">
            <a:off x="684000" y="2052000"/>
            <a:ext cx="792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0" name="!!scene-dot"/>
          <p:cNvSpPr/>
          <p:nvPr/>
        </p:nvSpPr>
        <p:spPr>
          <a:xfrm xmlns:a="http://schemas.openxmlformats.org/drawingml/2006/main">
            <a:off x="855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1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2" name="!!#s12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SECTION 03 · ACROSS THE CORRIDOR</a:t>
            </a:r>
          </a:p>
        </p:txBody>
      </p:sp>
      <p:sp>
        <p:nvSpPr>
          <p:cNvPr id="100213" name="!!#s12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Beyond compliance</a:t>
            </a:r>
          </a:p>
        </p:txBody>
      </p:sp>
      <p:sp>
        <p:nvSpPr>
          <p:cNvPr id="100214" name="!!actor-corridor"/>
          <p:cNvSpPr/>
          <p:nvPr/>
        </p:nvSpPr>
        <p:spPr>
          <a:xfrm xmlns:a="http://schemas.openxmlformats.org/drawingml/2006/main">
            <a:off x="12960000" y="4788000"/>
            <a:ext cx="108252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5" name="!!#s12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16" name="!!#s12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Mergers &amp; acquisitions</a:t>
            </a:r>
          </a:p>
        </p:txBody>
      </p:sp>
      <p:sp>
        <p:nvSpPr>
          <p:cNvPr id="100217" name="!!#s12-cbody0"/>
          <p:cNvSpPr txBox="1"/>
          <p:nvPr/>
        </p:nvSpPr>
        <p:spPr>
          <a:xfrm xmlns:a="http://schemas.openxmlformats.org/drawingml/2006/main">
            <a:off x="9360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Buy-side and sell-side structuring, financial and tax due diligence, SPA schedules.</a:t>
            </a:r>
          </a:p>
        </p:txBody>
      </p:sp>
      <p:sp>
        <p:nvSpPr>
          <p:cNvPr id="100218" name="!!#s12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19" name="!!#s12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20" name="!!#s12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Valuation</a:t>
            </a:r>
          </a:p>
        </p:txBody>
      </p:sp>
      <p:sp>
        <p:nvSpPr>
          <p:cNvPr id="100221" name="!!#s12-cbody1"/>
          <p:cNvSpPr txBox="1"/>
          <p:nvPr/>
        </p:nvSpPr>
        <p:spPr>
          <a:xfrm xmlns:a="http://schemas.openxmlformats.org/drawingml/2006/main">
            <a:off x="4651200" y="3834000"/>
            <a:ext cx="2887200" cy="15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Rule 11UA and FEMA pricing. Independent reports for funding rounds and transfers.</a:t>
            </a:r>
          </a:p>
        </p:txBody>
      </p:sp>
      <p:sp>
        <p:nvSpPr>
          <p:cNvPr id="100222" name="!!#s12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23" name="!!#s12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24" name="!!#s12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Payroll</a:t>
            </a:r>
          </a:p>
        </p:txBody>
      </p:sp>
      <p:sp>
        <p:nvSpPr>
          <p:cNvPr id="100225" name="!!#s12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CPF, IR8A and IR21 in Singapore; PF, ESI, professional tax and TDS in India.</a:t>
            </a:r>
          </a:p>
        </p:txBody>
      </p:sp>
      <p:sp>
        <p:nvSpPr>
          <p:cNvPr id="100226" name="!!#s12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27" name="!!#s12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12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13" grpId="0"/>
      <p:bldP spid="100216" grpId="1"/>
    </p:bldLst>
  </p:timing>
</p:sld>
</file>

<file path=ppt/slides/slide13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28" name="!!scene-orb-gold"/>
          <p:cNvSpPr/>
          <p:nvPr/>
        </p:nvSpPr>
        <p:spPr>
          <a:xfrm xmlns:a="http://schemas.openxmlformats.org/drawingml/2006/main">
            <a:off x="648000" y="720000"/>
            <a:ext cx="3960000" cy="396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29" name="!!scene-orb-steel"/>
          <p:cNvSpPr/>
          <p:nvPr/>
        </p:nvSpPr>
        <p:spPr>
          <a:xfrm xmlns:a="http://schemas.openxmlformats.org/drawingml/2006/main">
            <a:off x="8280000" y="306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0" name="!!scene-wash"/>
          <p:cNvSpPr/>
          <p:nvPr/>
        </p:nvSpPr>
        <p:spPr>
          <a:xfrm xmlns:a="http://schemas.openxmlformats.org/drawingml/2006/main">
            <a:off x="684000" y="2448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1" name="!!scene-rule-navy"/>
          <p:cNvSpPr/>
          <p:nvPr/>
        </p:nvSpPr>
        <p:spPr>
          <a:xfrm xmlns:a="http://schemas.openxmlformats.org/drawingml/2006/main">
            <a:off x="6094800" y="2448000"/>
            <a:ext cx="18000" cy="28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2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3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4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35" name="!!#s13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36" name="!!#s13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team behind the work</a:t>
            </a:r>
          </a:p>
        </p:txBody>
      </p:sp>
      <p:sp>
        <p:nvSpPr>
          <p:cNvPr id="100237" name="!!#s13-eye-t0"/>
          <p:cNvSpPr txBox="1"/>
          <p:nvPr/>
        </p:nvSpPr>
        <p:spPr>
          <a:xfrm xmlns:a="http://schemas.openxmlformats.org/drawingml/2006/main">
            <a:off x="936000" y="2527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38" name="!!#s13-thead0"/>
          <p:cNvSpPr txBox="1"/>
          <p:nvPr/>
        </p:nvSpPr>
        <p:spPr>
          <a:xfrm xmlns:a="http://schemas.openxmlformats.org/drawingml/2006/main">
            <a:off x="936000" y="2736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Chartered Accountants, India</a:t>
            </a:r>
          </a:p>
        </p:txBody>
      </p:sp>
      <p:sp>
        <p:nvSpPr>
          <p:cNvPr id="100239" name="!!#s13-tbody0"/>
          <p:cNvSpPr txBox="1"/>
          <p:nvPr/>
        </p:nvSpPr>
        <p:spPr>
          <a:xfrm xmlns:a="http://schemas.openxmlformats.org/drawingml/2006/main">
            <a:off x="936000" y="3081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In-house, on our own payroll. Audit, direct tax and GST.</a:t>
            </a:r>
          </a:p>
        </p:txBody>
      </p:sp>
      <p:sp>
        <p:nvSpPr>
          <p:cNvPr id="100240" name="!!#s13-cell1"/>
          <p:cNvSpPr/>
          <p:nvPr/>
        </p:nvSpPr>
        <p:spPr>
          <a:xfrm xmlns:a="http://schemas.openxmlformats.org/drawingml/2006/main">
            <a:off x="6325200" y="2448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1" name="!!#s13-eye-t1"/>
          <p:cNvSpPr txBox="1"/>
          <p:nvPr/>
        </p:nvSpPr>
        <p:spPr>
          <a:xfrm xmlns:a="http://schemas.openxmlformats.org/drawingml/2006/main">
            <a:off x="6577200" y="2527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42" name="!!#s13-thead1"/>
          <p:cNvSpPr txBox="1"/>
          <p:nvPr/>
        </p:nvSpPr>
        <p:spPr>
          <a:xfrm xmlns:a="http://schemas.openxmlformats.org/drawingml/2006/main">
            <a:off x="6577200" y="2736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Chartered Accountant, Singapore</a:t>
            </a:r>
          </a:p>
        </p:txBody>
      </p:sp>
      <p:sp>
        <p:nvSpPr>
          <p:cNvPr id="100243" name="!!#s13-tbody1"/>
          <p:cNvSpPr txBox="1"/>
          <p:nvPr/>
        </p:nvSpPr>
        <p:spPr>
          <a:xfrm xmlns:a="http://schemas.openxmlformats.org/drawingml/2006/main">
            <a:off x="6577200" y="3081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Reviews and signs off every Singapore filing.</a:t>
            </a:r>
          </a:p>
        </p:txBody>
      </p:sp>
      <p:sp>
        <p:nvSpPr>
          <p:cNvPr id="100244" name="!!#s13-cell2"/>
          <p:cNvSpPr/>
          <p:nvPr/>
        </p:nvSpPr>
        <p:spPr>
          <a:xfrm xmlns:a="http://schemas.openxmlformats.org/drawingml/2006/main">
            <a:off x="684000" y="3996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5" name="!!#s13-eye-t2"/>
          <p:cNvSpPr txBox="1"/>
          <p:nvPr/>
        </p:nvSpPr>
        <p:spPr>
          <a:xfrm xmlns:a="http://schemas.openxmlformats.org/drawingml/2006/main">
            <a:off x="936000" y="4075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46" name="!!#s13-thead2"/>
          <p:cNvSpPr txBox="1"/>
          <p:nvPr/>
        </p:nvSpPr>
        <p:spPr>
          <a:xfrm xmlns:a="http://schemas.openxmlformats.org/drawingml/2006/main">
            <a:off x="936000" y="4284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Legal</a:t>
            </a:r>
          </a:p>
        </p:txBody>
      </p:sp>
      <p:sp>
        <p:nvSpPr>
          <p:cNvPr id="100247" name="!!#s13-tbody2"/>
          <p:cNvSpPr txBox="1"/>
          <p:nvPr/>
        </p:nvSpPr>
        <p:spPr>
          <a:xfrm xmlns:a="http://schemas.openxmlformats.org/drawingml/2006/main">
            <a:off x="936000" y="4629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Agreements, SPAs and regulatory correspondence.</a:t>
            </a:r>
          </a:p>
        </p:txBody>
      </p:sp>
      <p:sp>
        <p:nvSpPr>
          <p:cNvPr id="100248" name="!!#s13-cell3"/>
          <p:cNvSpPr/>
          <p:nvPr/>
        </p:nvSpPr>
        <p:spPr>
          <a:xfrm xmlns:a="http://schemas.openxmlformats.org/drawingml/2006/main">
            <a:off x="6325200" y="3996000"/>
            <a:ext cx="5184000" cy="1296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49" name="!!#s13-eye-t3"/>
          <p:cNvSpPr txBox="1"/>
          <p:nvPr/>
        </p:nvSpPr>
        <p:spPr>
          <a:xfrm xmlns:a="http://schemas.openxmlformats.org/drawingml/2006/main">
            <a:off x="6577200" y="4075200"/>
            <a:ext cx="468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250" name="!!#s13-thead3"/>
          <p:cNvSpPr txBox="1"/>
          <p:nvPr/>
        </p:nvSpPr>
        <p:spPr>
          <a:xfrm xmlns:a="http://schemas.openxmlformats.org/drawingml/2006/main">
            <a:off x="6577200" y="4284000"/>
            <a:ext cx="468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900" b="1">
                <a:solidFill>
                  <a:srgbClr val="F5F4F2"/>
                </a:solidFill>
                <a:latin typeface="Georgia"/>
                <a:ea typeface="Georgia"/>
              </a:rPr>
              <a:t>Company secretarial</a:t>
            </a:r>
          </a:p>
        </p:txBody>
      </p:sp>
      <p:sp>
        <p:nvSpPr>
          <p:cNvPr id="100251" name="!!#s13-tbody3"/>
          <p:cNvSpPr txBox="1"/>
          <p:nvPr/>
        </p:nvSpPr>
        <p:spPr>
          <a:xfrm xmlns:a="http://schemas.openxmlformats.org/drawingml/2006/main">
            <a:off x="6577200" y="4629600"/>
            <a:ext cx="468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Registers, resolutions and board filings, both jurisdictions.</a:t>
            </a:r>
          </a:p>
        </p:txBody>
      </p:sp>
      <p:sp>
        <p:nvSpPr>
          <p:cNvPr id="100252" name="!!#s13-band"/>
          <p:cNvSpPr/>
          <p:nvPr/>
        </p:nvSpPr>
        <p:spPr>
          <a:xfrm xmlns:a="http://schemas.openxmlformats.org/drawingml/2006/main">
            <a:off x="684000" y="5544000"/>
            <a:ext cx="10825200" cy="468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3" name="!!#s13-bandfig"/>
          <p:cNvSpPr txBox="1"/>
          <p:nvPr/>
        </p:nvSpPr>
        <p:spPr>
          <a:xfrm xmlns:a="http://schemas.openxmlformats.org/drawingml/2006/main">
            <a:off x="936000" y="5544000"/>
            <a:ext cx="1224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3000" b="1">
                <a:solidFill>
                  <a:srgbClr val="C9A84C"/>
                </a:solidFill>
                <a:latin typeface="Georgia"/>
                <a:ea typeface="Georgia"/>
              </a:rPr>
              <a:t>30+</a:t>
            </a:r>
          </a:p>
        </p:txBody>
      </p:sp>
      <p:sp>
        <p:nvSpPr>
          <p:cNvPr id="100254" name="!!#s13-bandtxt"/>
          <p:cNvSpPr txBox="1"/>
          <p:nvPr/>
        </p:nvSpPr>
        <p:spPr>
          <a:xfrm xmlns:a="http://schemas.openxmlformats.org/drawingml/2006/main">
            <a:off x="2232000" y="5544000"/>
            <a:ext cx="90612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people, all on one payroll. No sub-contracting.</a:t>
            </a:r>
          </a:p>
        </p:txBody>
      </p:sp>
      <p:sp>
        <p:nvSpPr>
          <p:cNvPr id="100255" name="!!#s13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56" name="!!#s13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13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36" grpId="0"/>
      <p:bldP spid="100238" grpId="1"/>
    </p:bldLst>
  </p:timing>
</p:sld>
</file>

<file path=ppt/slides/slide14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57" name="!!scene-orb-gold"/>
          <p:cNvSpPr/>
          <p:nvPr/>
        </p:nvSpPr>
        <p:spPr>
          <a:xfrm xmlns:a="http://schemas.openxmlformats.org/drawingml/2006/main">
            <a:off x="7920000" y="900000"/>
            <a:ext cx="4140000" cy="41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8" name="!!scene-orb-steel"/>
          <p:cNvSpPr/>
          <p:nvPr/>
        </p:nvSpPr>
        <p:spPr>
          <a:xfrm xmlns:a="http://schemas.openxmlformats.org/drawingml/2006/main">
            <a:off x="900000" y="3240000"/>
            <a:ext cx="3240000" cy="324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59" name="!!scene-wash"/>
          <p:cNvSpPr/>
          <p:nvPr/>
        </p:nvSpPr>
        <p:spPr>
          <a:xfrm xmlns:a="http://schemas.openxmlformats.org/drawingml/2006/main">
            <a:off x="684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0" name="!!scene-rule-navy"/>
          <p:cNvSpPr/>
          <p:nvPr/>
        </p:nvSpPr>
        <p:spPr>
          <a:xfrm xmlns:a="http://schemas.openxmlformats.org/drawingml/2006/main">
            <a:off x="11509200" y="2592000"/>
            <a:ext cx="18000" cy="28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1" name="!!scene-rule-gold"/>
          <p:cNvSpPr/>
          <p:nvPr/>
        </p:nvSpPr>
        <p:spPr>
          <a:xfrm xmlns:a="http://schemas.openxmlformats.org/drawingml/2006/main">
            <a:off x="684000" y="2052000"/>
            <a:ext cx="576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2" name="!!scene-dot"/>
          <p:cNvSpPr/>
          <p:nvPr/>
        </p:nvSpPr>
        <p:spPr>
          <a:xfrm xmlns:a="http://schemas.openxmlformats.org/drawingml/2006/main">
            <a:off x="639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3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64" name="!!#s14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65" name="!!#s14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Technology we build ourselves</a:t>
            </a:r>
          </a:p>
        </p:txBody>
      </p:sp>
      <p:sp>
        <p:nvSpPr>
          <p:cNvPr id="100266" name="!!#s14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267" name="!!#s14-chead0"/>
          <p:cNvSpPr txBox="1"/>
          <p:nvPr/>
        </p:nvSpPr>
        <p:spPr>
          <a:xfrm xmlns:a="http://schemas.openxmlformats.org/drawingml/2006/main">
            <a:off x="936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In-house engineering team</a:t>
            </a:r>
          </a:p>
        </p:txBody>
      </p:sp>
      <p:sp>
        <p:nvSpPr>
          <p:cNvPr id="100268" name="!!#s14-cbody0"/>
          <p:cNvSpPr txBox="1"/>
          <p:nvPr/>
        </p:nvSpPr>
        <p:spPr>
          <a:xfrm xmlns:a="http://schemas.openxmlformats.org/drawingml/2006/main">
            <a:off x="936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Software engineers on staff, working alongside the accountants.</a:t>
            </a:r>
          </a:p>
        </p:txBody>
      </p:sp>
      <p:sp>
        <p:nvSpPr>
          <p:cNvPr id="100269" name="!!#s14-card1"/>
          <p:cNvSpPr/>
          <p:nvPr/>
        </p:nvSpPr>
        <p:spPr>
          <a:xfrm xmlns:a="http://schemas.openxmlformats.org/drawingml/2006/main">
            <a:off x="43992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70" name="!!#s14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271" name="!!#s14-chead1"/>
          <p:cNvSpPr txBox="1"/>
          <p:nvPr/>
        </p:nvSpPr>
        <p:spPr>
          <a:xfrm xmlns:a="http://schemas.openxmlformats.org/drawingml/2006/main">
            <a:off x="46512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Accounting &amp; tax CRM</a:t>
            </a:r>
          </a:p>
        </p:txBody>
      </p:sp>
      <p:sp>
        <p:nvSpPr>
          <p:cNvPr id="100272" name="!!#s14-cbody1"/>
          <p:cNvSpPr txBox="1"/>
          <p:nvPr/>
        </p:nvSpPr>
        <p:spPr>
          <a:xfrm xmlns:a="http://schemas.openxmlformats.org/drawingml/2006/main">
            <a:off x="46512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Systems built around deadlines, engagements, documents and filings.</a:t>
            </a:r>
          </a:p>
        </p:txBody>
      </p:sp>
      <p:sp>
        <p:nvSpPr>
          <p:cNvPr id="100273" name="!!#s14-card2"/>
          <p:cNvSpPr/>
          <p:nvPr/>
        </p:nvSpPr>
        <p:spPr>
          <a:xfrm xmlns:a="http://schemas.openxmlformats.org/drawingml/2006/main">
            <a:off x="8118000" y="2448000"/>
            <a:ext cx="3391200" cy="324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74" name="!!#s14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275" name="!!#s14-chead2"/>
          <p:cNvSpPr txBox="1"/>
          <p:nvPr/>
        </p:nvSpPr>
        <p:spPr>
          <a:xfrm xmlns:a="http://schemas.openxmlformats.org/drawingml/2006/main">
            <a:off x="8370000" y="3006000"/>
            <a:ext cx="2887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100" b="1">
                <a:solidFill>
                  <a:srgbClr val="F5F4F2"/>
                </a:solidFill>
                <a:latin typeface="Georgia"/>
                <a:ea typeface="Georgia"/>
              </a:rPr>
              <a:t>Custom finance software</a:t>
            </a:r>
          </a:p>
        </p:txBody>
      </p:sp>
      <p:sp>
        <p:nvSpPr>
          <p:cNvPr id="100276" name="!!#s14-cbody2"/>
          <p:cNvSpPr txBox="1"/>
          <p:nvPr/>
        </p:nvSpPr>
        <p:spPr>
          <a:xfrm xmlns:a="http://schemas.openxmlformats.org/drawingml/2006/main">
            <a:off x="8370000" y="3834000"/>
            <a:ext cx="2887200" cy="12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Where a finance process needs a tool that does not exist, we build it.</a:t>
            </a:r>
          </a:p>
        </p:txBody>
      </p:sp>
      <p:sp>
        <p:nvSpPr>
          <p:cNvPr id="100277" name="!!#s14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278" name="!!#s14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14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65" grpId="0"/>
      <p:bldP spid="100267" grpId="1"/>
    </p:bldLst>
  </p:timing>
</p:sld>
</file>

<file path=ppt/slides/slide15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279" name="!!scene-orb-gold"/>
          <p:cNvSpPr/>
          <p:nvPr/>
        </p:nvSpPr>
        <p:spPr>
          <a:xfrm xmlns:a="http://schemas.openxmlformats.org/drawingml/2006/main">
            <a:off x="1080000" y="234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0" name="!!scene-orb-steel"/>
          <p:cNvSpPr/>
          <p:nvPr/>
        </p:nvSpPr>
        <p:spPr>
          <a:xfrm xmlns:a="http://schemas.openxmlformats.org/drawingml/2006/main">
            <a:off x="7740000" y="72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1" name="!!scene-wash"/>
          <p:cNvSpPr/>
          <p:nvPr/>
        </p:nvSpPr>
        <p:spPr>
          <a:xfrm xmlns:a="http://schemas.openxmlformats.org/drawingml/2006/main">
            <a:off x="6840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2" name="!!scene-rule-navy"/>
          <p:cNvSpPr/>
          <p:nvPr/>
        </p:nvSpPr>
        <p:spPr>
          <a:xfrm xmlns:a="http://schemas.openxmlformats.org/drawingml/2006/main">
            <a:off x="11509200" y="2304000"/>
            <a:ext cx="1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3" name="!!scene-rule-gold"/>
          <p:cNvSpPr/>
          <p:nvPr/>
        </p:nvSpPr>
        <p:spPr>
          <a:xfrm xmlns:a="http://schemas.openxmlformats.org/drawingml/2006/main">
            <a:off x="684000" y="2052000"/>
            <a:ext cx="108252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4" name="!!scene-dot"/>
          <p:cNvSpPr/>
          <p:nvPr/>
        </p:nvSpPr>
        <p:spPr>
          <a:xfrm xmlns:a="http://schemas.openxmlformats.org/drawingml/2006/main">
            <a:off x="114624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5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86" name="!!#s15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THE FIRM</a:t>
            </a:r>
          </a:p>
        </p:txBody>
      </p:sp>
      <p:sp>
        <p:nvSpPr>
          <p:cNvPr id="100287" name="!!#s15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The partners</a:t>
            </a:r>
          </a:p>
        </p:txBody>
      </p:sp>
      <p:sp>
        <p:nvSpPr>
          <p:cNvPr id="100288" name="!!#s15-pull"/>
          <p:cNvSpPr txBox="1"/>
          <p:nvPr/>
        </p:nvSpPr>
        <p:spPr>
          <a:xfrm xmlns:a="http://schemas.openxmlformats.org/drawingml/2006/main">
            <a:off x="684000" y="2304000"/>
            <a:ext cx="936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2400">
                <a:solidFill>
                  <a:srgbClr val="F5F4F2"/>
                </a:solidFill>
                <a:latin typeface="Georgia"/>
                <a:ea typeface="Georgia"/>
              </a:rPr>
              <a:t>Every engagement is scoped and reviewed by a partner, not handed to an account manager.</a:t>
            </a:r>
          </a:p>
        </p:txBody>
      </p:sp>
      <p:sp>
        <p:nvSpPr>
          <p:cNvPr id="100289" name="!!#s15-pdiv"/>
          <p:cNvSpPr/>
          <p:nvPr/>
        </p:nvSpPr>
        <p:spPr>
          <a:xfrm xmlns:a="http://schemas.openxmlformats.org/drawingml/2006/main">
            <a:off x="684000" y="3456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0" name="!!#s15-eye-pr0"/>
          <p:cNvSpPr txBox="1"/>
          <p:nvPr/>
        </p:nvSpPr>
        <p:spPr>
          <a:xfrm xmlns:a="http://schemas.openxmlformats.org/drawingml/2006/main">
            <a:off x="9360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PARTNER</a:t>
            </a:r>
          </a:p>
        </p:txBody>
      </p:sp>
      <p:sp>
        <p:nvSpPr>
          <p:cNvPr id="100291" name="!!#s15-pname0"/>
          <p:cNvSpPr txBox="1"/>
          <p:nvPr/>
        </p:nvSpPr>
        <p:spPr>
          <a:xfrm xmlns:a="http://schemas.openxmlformats.org/drawingml/2006/main">
            <a:off x="9360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Shabari</a:t>
            </a:r>
          </a:p>
        </p:txBody>
      </p:sp>
      <p:sp>
        <p:nvSpPr>
          <p:cNvPr id="100292" name="!!#s15-ptick0"/>
          <p:cNvSpPr/>
          <p:nvPr/>
        </p:nvSpPr>
        <p:spPr>
          <a:xfrm xmlns:a="http://schemas.openxmlformats.org/drawingml/2006/main">
            <a:off x="9360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3" name="!!#s15-pcard1"/>
          <p:cNvSpPr/>
          <p:nvPr/>
        </p:nvSpPr>
        <p:spPr>
          <a:xfrm xmlns:a="http://schemas.openxmlformats.org/drawingml/2006/main">
            <a:off x="34704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4" name="!!#s15-eye-pr1"/>
          <p:cNvSpPr txBox="1"/>
          <p:nvPr/>
        </p:nvSpPr>
        <p:spPr>
          <a:xfrm xmlns:a="http://schemas.openxmlformats.org/drawingml/2006/main">
            <a:off x="37224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MANAGING PARTNER</a:t>
            </a:r>
          </a:p>
        </p:txBody>
      </p:sp>
      <p:sp>
        <p:nvSpPr>
          <p:cNvPr id="100295" name="!!#s15-pname1"/>
          <p:cNvSpPr txBox="1"/>
          <p:nvPr/>
        </p:nvSpPr>
        <p:spPr>
          <a:xfrm xmlns:a="http://schemas.openxmlformats.org/drawingml/2006/main">
            <a:off x="37224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HK Vinay</a:t>
            </a:r>
          </a:p>
        </p:txBody>
      </p:sp>
      <p:sp>
        <p:nvSpPr>
          <p:cNvPr id="100296" name="!!#s15-ptick1"/>
          <p:cNvSpPr/>
          <p:nvPr/>
        </p:nvSpPr>
        <p:spPr>
          <a:xfrm xmlns:a="http://schemas.openxmlformats.org/drawingml/2006/main">
            <a:off x="37224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7" name="!!#s15-pcard2"/>
          <p:cNvSpPr/>
          <p:nvPr/>
        </p:nvSpPr>
        <p:spPr>
          <a:xfrm xmlns:a="http://schemas.openxmlformats.org/drawingml/2006/main">
            <a:off x="62568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298" name="!!#s15-eye-pr2"/>
          <p:cNvSpPr txBox="1"/>
          <p:nvPr/>
        </p:nvSpPr>
        <p:spPr>
          <a:xfrm xmlns:a="http://schemas.openxmlformats.org/drawingml/2006/main">
            <a:off x="65088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PARTNER</a:t>
            </a:r>
          </a:p>
        </p:txBody>
      </p:sp>
      <p:sp>
        <p:nvSpPr>
          <p:cNvPr id="100299" name="!!#s15-pname2"/>
          <p:cNvSpPr txBox="1"/>
          <p:nvPr/>
        </p:nvSpPr>
        <p:spPr>
          <a:xfrm xmlns:a="http://schemas.openxmlformats.org/drawingml/2006/main">
            <a:off x="65088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Akshay</a:t>
            </a:r>
          </a:p>
        </p:txBody>
      </p:sp>
      <p:sp>
        <p:nvSpPr>
          <p:cNvPr id="100300" name="!!#s15-ptick2"/>
          <p:cNvSpPr/>
          <p:nvPr/>
        </p:nvSpPr>
        <p:spPr>
          <a:xfrm xmlns:a="http://schemas.openxmlformats.org/drawingml/2006/main">
            <a:off x="65088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1" name="!!#s15-pcard3"/>
          <p:cNvSpPr/>
          <p:nvPr/>
        </p:nvSpPr>
        <p:spPr>
          <a:xfrm xmlns:a="http://schemas.openxmlformats.org/drawingml/2006/main">
            <a:off x="9046800" y="3672000"/>
            <a:ext cx="2462400" cy="1332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2" name="!!#s15-eye-pr3"/>
          <p:cNvSpPr txBox="1"/>
          <p:nvPr/>
        </p:nvSpPr>
        <p:spPr>
          <a:xfrm xmlns:a="http://schemas.openxmlformats.org/drawingml/2006/main">
            <a:off x="9298800" y="3870000"/>
            <a:ext cx="19584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PARTNER</a:t>
            </a:r>
          </a:p>
        </p:txBody>
      </p:sp>
      <p:sp>
        <p:nvSpPr>
          <p:cNvPr id="100303" name="!!#s15-pname3"/>
          <p:cNvSpPr txBox="1"/>
          <p:nvPr/>
        </p:nvSpPr>
        <p:spPr>
          <a:xfrm xmlns:a="http://schemas.openxmlformats.org/drawingml/2006/main">
            <a:off x="9298800" y="4158000"/>
            <a:ext cx="19584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2600" b="1">
                <a:solidFill>
                  <a:srgbClr val="F5F4F2"/>
                </a:solidFill>
                <a:latin typeface="Georgia"/>
                <a:ea typeface="Georgia"/>
              </a:rPr>
              <a:t>Vagdev</a:t>
            </a:r>
          </a:p>
        </p:txBody>
      </p:sp>
      <p:sp>
        <p:nvSpPr>
          <p:cNvPr id="100304" name="!!#s15-ptick3"/>
          <p:cNvSpPr/>
          <p:nvPr/>
        </p:nvSpPr>
        <p:spPr>
          <a:xfrm xmlns:a="http://schemas.openxmlformats.org/drawingml/2006/main">
            <a:off x="9298800" y="4770000"/>
            <a:ext cx="504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5" name="!!#s15-band"/>
          <p:cNvSpPr/>
          <p:nvPr/>
        </p:nvSpPr>
        <p:spPr>
          <a:xfrm xmlns:a="http://schemas.openxmlformats.org/drawingml/2006/main">
            <a:off x="684000" y="5364000"/>
            <a:ext cx="10825200" cy="50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06" name="!!#s15-bandtxt"/>
          <p:cNvSpPr txBox="1"/>
          <p:nvPr/>
        </p:nvSpPr>
        <p:spPr>
          <a:xfrm xmlns:a="http://schemas.openxmlformats.org/drawingml/2006/main">
            <a:off x="936000" y="5364000"/>
            <a:ext cx="103212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Ten years in practice  ·  500+ clients advised  ·  Bangalore and Chennai</a:t>
            </a:r>
          </a:p>
        </p:txBody>
      </p:sp>
      <p:sp>
        <p:nvSpPr>
          <p:cNvPr id="100307" name="!!#s15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308" name="!!#s15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15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0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287" grpId="0"/>
      <p:bldP spid="100288" grpId="1"/>
    </p:bldLst>
  </p:timing>
</p:sld>
</file>

<file path=ppt/slides/slide16.xml><?xml version="1.0" encoding="utf-8"?>
<p:sld xmlns:p159="http://schemas.microsoft.com/office/powerpoint/2015/09/main" xmlns:mc="http://schemas.openxmlformats.org/markup-compatibility/2006" xmlns:p14="http://schemas.microsoft.com/office/powerpoint/2010/main" xmlns:p="http://schemas.openxmlformats.org/presentationml/2006/main" mc:Ignorable="p159">
  <p:cSld>
    <p:bg>
      <p:bgPr>
        <a:solidFill xmlns:a="http://schemas.openxmlformats.org/drawingml/2006/main">
          <a:srgbClr val="0E1B2F"/>
        </a:solidFill>
      </p:bgPr>
    </p:bg>
    <p:spTree>
      <p:nvGrpSpPr>
        <p:cNvPr id="1" name=""/>
        <p:cNvGrpSpPr/>
        <p:nvPr/>
      </p:nvGrpSpPr>
      <p:grpSpPr/>
      <p:sp>
        <p:nvSpPr>
          <p:cNvPr id="100309" name="!!scene-orb-gold"/>
          <p:cNvSpPr/>
          <p:nvPr/>
        </p:nvSpPr>
        <p:spPr>
          <a:xfrm xmlns:a="http://schemas.openxmlformats.org/drawingml/2006/main">
            <a:off x="7560000" y="540000"/>
            <a:ext cx="4320000" cy="43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E2B45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0" name="!!scene-orb-steel"/>
          <p:cNvSpPr/>
          <p:nvPr/>
        </p:nvSpPr>
        <p:spPr>
          <a:xfrm xmlns:a="http://schemas.openxmlformats.org/drawingml/2006/main">
            <a:off x="1080000" y="2880000"/>
            <a:ext cx="3420000" cy="3420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1B2740"/>
              </a:gs>
              <a:gs pos="100000">
                <a:srgbClr val="0E1B2F"/>
              </a:gs>
            </a:gsLst>
            <a:path path="circle">
              <a:fillToRect l="50000" t="50000" r="50000" b="50000"/>
            </a:path>
          </a:gra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1" name="!!scene-wash"/>
          <p:cNvSpPr/>
          <p:nvPr/>
        </p:nvSpPr>
        <p:spPr>
          <a:xfrm xmlns:a="http://schemas.openxmlformats.org/drawingml/2006/main">
            <a:off x="684000" y="2448000"/>
            <a:ext cx="3391200" cy="212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2" name="!!scene-rule-navy"/>
          <p:cNvSpPr/>
          <p:nvPr/>
        </p:nvSpPr>
        <p:spPr>
          <a:xfrm xmlns:a="http://schemas.openxmlformats.org/drawingml/2006/main">
            <a:off x="11509200" y="5004000"/>
            <a:ext cx="18000" cy="8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3" name="!!scene-rule-gold"/>
          <p:cNvSpPr/>
          <p:nvPr/>
        </p:nvSpPr>
        <p:spPr>
          <a:xfrm xmlns:a="http://schemas.openxmlformats.org/drawingml/2006/main">
            <a:off x="684000" y="2052000"/>
            <a:ext cx="7200000" cy="2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4" name="!!scene-dot"/>
          <p:cNvSpPr/>
          <p:nvPr/>
        </p:nvSpPr>
        <p:spPr>
          <a:xfrm xmlns:a="http://schemas.openxmlformats.org/drawingml/2006/main">
            <a:off x="7837200" y="2016000"/>
            <a:ext cx="93600" cy="93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A84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5" name="!!scene-footrule"/>
          <p:cNvSpPr/>
          <p:nvPr/>
        </p:nvSpPr>
        <p:spPr>
          <a:xfrm xmlns:a="http://schemas.openxmlformats.org/drawingml/2006/main">
            <a:off x="684000" y="6138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16" name="!!#s16-eye-sec"/>
          <p:cNvSpPr txBox="1"/>
          <p:nvPr/>
        </p:nvSpPr>
        <p:spPr>
          <a:xfrm xmlns:a="http://schemas.openxmlformats.org/drawingml/2006/main">
            <a:off x="684000" y="684000"/>
            <a:ext cx="10825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NEXT</a:t>
            </a:r>
          </a:p>
        </p:txBody>
      </p:sp>
      <p:sp>
        <p:nvSpPr>
          <p:cNvPr id="100317" name="!!#s16-title"/>
          <p:cNvSpPr txBox="1"/>
          <p:nvPr/>
        </p:nvSpPr>
        <p:spPr>
          <a:xfrm xmlns:a="http://schemas.openxmlformats.org/drawingml/2006/main">
            <a:off x="684000" y="1062000"/>
            <a:ext cx="108252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4000" b="1">
                <a:solidFill>
                  <a:srgbClr val="F5F4F2"/>
                </a:solidFill>
                <a:latin typeface="Georgia"/>
                <a:ea typeface="Georgia"/>
              </a:rPr>
              <a:t>Next steps</a:t>
            </a:r>
          </a:p>
        </p:txBody>
      </p:sp>
      <p:sp>
        <p:nvSpPr>
          <p:cNvPr id="100318" name="!!#s16-eye-c0"/>
          <p:cNvSpPr txBox="1"/>
          <p:nvPr/>
        </p:nvSpPr>
        <p:spPr>
          <a:xfrm xmlns:a="http://schemas.openxmlformats.org/drawingml/2006/main">
            <a:off x="936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319" name="!!#s16-chead0"/>
          <p:cNvSpPr txBox="1"/>
          <p:nvPr/>
        </p:nvSpPr>
        <p:spPr>
          <a:xfrm xmlns:a="http://schemas.openxmlformats.org/drawingml/2006/main">
            <a:off x="9360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A scoping call</a:t>
            </a:r>
          </a:p>
        </p:txBody>
      </p:sp>
      <p:sp>
        <p:nvSpPr>
          <p:cNvPr id="100320" name="!!#s16-cbody0"/>
          <p:cNvSpPr txBox="1"/>
          <p:nvPr/>
        </p:nvSpPr>
        <p:spPr>
          <a:xfrm xmlns:a="http://schemas.openxmlformats.org/drawingml/2006/main">
            <a:off x="9360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Thirty minutes on your close calendar.</a:t>
            </a:r>
          </a:p>
        </p:txBody>
      </p:sp>
      <p:sp>
        <p:nvSpPr>
          <p:cNvPr id="100321" name="!!#s16-card1"/>
          <p:cNvSpPr/>
          <p:nvPr/>
        </p:nvSpPr>
        <p:spPr>
          <a:xfrm xmlns:a="http://schemas.openxmlformats.org/drawingml/2006/main">
            <a:off x="4399200" y="2448000"/>
            <a:ext cx="3391200" cy="212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22" name="!!#s16-eye-c1"/>
          <p:cNvSpPr txBox="1"/>
          <p:nvPr/>
        </p:nvSpPr>
        <p:spPr>
          <a:xfrm xmlns:a="http://schemas.openxmlformats.org/drawingml/2006/main">
            <a:off x="46512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323" name="!!#s16-chead1"/>
          <p:cNvSpPr txBox="1"/>
          <p:nvPr/>
        </p:nvSpPr>
        <p:spPr>
          <a:xfrm xmlns:a="http://schemas.openxmlformats.org/drawingml/2006/main">
            <a:off x="46512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Scope and fee in writing</a:t>
            </a:r>
          </a:p>
        </p:txBody>
      </p:sp>
      <p:sp>
        <p:nvSpPr>
          <p:cNvPr id="100324" name="!!#s16-cbody1"/>
          <p:cNvSpPr txBox="1"/>
          <p:nvPr/>
        </p:nvSpPr>
        <p:spPr>
          <a:xfrm xmlns:a="http://schemas.openxmlformats.org/drawingml/2006/main">
            <a:off x="46512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What we run, and what it costs.</a:t>
            </a:r>
          </a:p>
        </p:txBody>
      </p:sp>
      <p:sp>
        <p:nvSpPr>
          <p:cNvPr id="100325" name="!!#s16-card2"/>
          <p:cNvSpPr/>
          <p:nvPr/>
        </p:nvSpPr>
        <p:spPr>
          <a:xfrm xmlns:a="http://schemas.openxmlformats.org/drawingml/2006/main">
            <a:off x="8118000" y="2448000"/>
            <a:ext cx="3391200" cy="2124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223250">
              <a:alpha val="55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26" name="!!#s16-eye-c2"/>
          <p:cNvSpPr txBox="1"/>
          <p:nvPr/>
        </p:nvSpPr>
        <p:spPr>
          <a:xfrm xmlns:a="http://schemas.openxmlformats.org/drawingml/2006/main">
            <a:off x="8370000" y="2664000"/>
            <a:ext cx="2887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327" name="!!#s16-chead2"/>
          <p:cNvSpPr txBox="1"/>
          <p:nvPr/>
        </p:nvSpPr>
        <p:spPr>
          <a:xfrm xmlns:a="http://schemas.openxmlformats.org/drawingml/2006/main">
            <a:off x="8370000" y="3006000"/>
            <a:ext cx="2887200" cy="65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</a:pPr>
            <a:r>
              <a:rPr lang="en-US" sz="2000" b="1">
                <a:solidFill>
                  <a:srgbClr val="F5F4F2"/>
                </a:solidFill>
                <a:latin typeface="Georgia"/>
                <a:ea typeface="Georgia"/>
              </a:rPr>
              <a:t>Transition</a:t>
            </a:r>
          </a:p>
        </p:txBody>
      </p:sp>
      <p:sp>
        <p:nvSpPr>
          <p:cNvPr id="100328" name="!!#s16-cbody2"/>
          <p:cNvSpPr txBox="1"/>
          <p:nvPr/>
        </p:nvSpPr>
        <p:spPr>
          <a:xfrm xmlns:a="http://schemas.openxmlformats.org/drawingml/2006/main">
            <a:off x="8370000" y="3801600"/>
            <a:ext cx="2887200" cy="64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800">
                <a:solidFill>
                  <a:srgbClr val="8A9BBF"/>
                </a:solidFill>
                <a:latin typeface="Arial"/>
                <a:ea typeface="Arial"/>
              </a:rPr>
              <a:t>We run the first close alongside yours.</a:t>
            </a:r>
          </a:p>
        </p:txBody>
      </p:sp>
      <p:sp>
        <p:nvSpPr>
          <p:cNvPr id="100329" name="!!#s16-ctdiv"/>
          <p:cNvSpPr/>
          <p:nvPr/>
        </p:nvSpPr>
        <p:spPr>
          <a:xfrm xmlns:a="http://schemas.openxmlformats.org/drawingml/2006/main">
            <a:off x="684000" y="4770000"/>
            <a:ext cx="10825200" cy="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7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330" name="!!#s16-eye-ct0"/>
          <p:cNvSpPr txBox="1"/>
          <p:nvPr/>
        </p:nvSpPr>
        <p:spPr>
          <a:xfrm xmlns:a="http://schemas.openxmlformats.org/drawingml/2006/main">
            <a:off x="684000" y="4932000"/>
            <a:ext cx="3391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OFFICES</a:t>
            </a:r>
          </a:p>
        </p:txBody>
      </p:sp>
      <p:sp>
        <p:nvSpPr>
          <p:cNvPr id="100331" name="!!#s16-contact0"/>
          <p:cNvSpPr txBox="1"/>
          <p:nvPr/>
        </p:nvSpPr>
        <p:spPr>
          <a:xfrm xmlns:a="http://schemas.openxmlformats.org/drawingml/2006/main">
            <a:off x="684000" y="5220000"/>
            <a:ext cx="3391200" cy="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Bangalore · Chennai</a:t>
            </a:r>
          </a:p>
        </p:txBody>
      </p:sp>
      <p:sp>
        <p:nvSpPr>
          <p:cNvPr id="100332" name="!!#s16-eye-ct1"/>
          <p:cNvSpPr txBox="1"/>
          <p:nvPr/>
        </p:nvSpPr>
        <p:spPr>
          <a:xfrm xmlns:a="http://schemas.openxmlformats.org/drawingml/2006/main">
            <a:off x="4399200" y="4932000"/>
            <a:ext cx="3391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TELEPHONE</a:t>
            </a:r>
          </a:p>
        </p:txBody>
      </p:sp>
      <p:sp>
        <p:nvSpPr>
          <p:cNvPr id="100333" name="!!#s16-contact1"/>
          <p:cNvSpPr txBox="1"/>
          <p:nvPr/>
        </p:nvSpPr>
        <p:spPr>
          <a:xfrm xmlns:a="http://schemas.openxmlformats.org/drawingml/2006/main">
            <a:off x="4399200" y="5220000"/>
            <a:ext cx="3391200" cy="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+91 9590360434</a:t>
            </a:r>
          </a:p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+91 9740540239</a:t>
            </a:r>
          </a:p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+65 84083838</a:t>
            </a:r>
          </a:p>
        </p:txBody>
      </p:sp>
      <p:sp>
        <p:nvSpPr>
          <p:cNvPr id="100334" name="!!#s16-eye-ct2"/>
          <p:cNvSpPr txBox="1"/>
          <p:nvPr/>
        </p:nvSpPr>
        <p:spPr>
          <a:xfrm xmlns:a="http://schemas.openxmlformats.org/drawingml/2006/main">
            <a:off x="8118000" y="4932000"/>
            <a:ext cx="3391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/>
            <a:r>
              <a:rPr lang="en-US" sz="1050" b="1" spc="220">
                <a:solidFill>
                  <a:srgbClr val="C9A84C"/>
                </a:solidFill>
                <a:latin typeface="Arial"/>
                <a:ea typeface="Arial"/>
              </a:rPr>
              <a:t>EMAIL</a:t>
            </a:r>
          </a:p>
        </p:txBody>
      </p:sp>
      <p:sp>
        <p:nvSpPr>
          <p:cNvPr id="100335" name="!!#s16-contact2"/>
          <p:cNvSpPr txBox="1"/>
          <p:nvPr/>
        </p:nvSpPr>
        <p:spPr>
          <a:xfrm xmlns:a="http://schemas.openxmlformats.org/drawingml/2006/main">
            <a:off x="8118000" y="5220000"/>
            <a:ext cx="3391200" cy="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cahkv@twchartered.com</a:t>
            </a:r>
          </a:p>
          <a:p xmlns:a="http://schemas.openxmlformats.org/drawingml/2006/main">
            <a:pPr algn="l">
              <a:lnSpc>
                <a:spcPct val="115000"/>
              </a:lnSpc>
            </a:pPr>
            <a:r>
              <a:rPr lang="en-US" sz="1500">
                <a:solidFill>
                  <a:srgbClr val="8A9BBF"/>
                </a:solidFill>
                <a:latin typeface="Arial"/>
                <a:ea typeface="Arial"/>
              </a:rPr>
              <a:t>twchartered.com</a:t>
            </a:r>
          </a:p>
        </p:txBody>
      </p:sp>
      <p:sp>
        <p:nvSpPr>
          <p:cNvPr id="100336" name="!!#s16-foot"/>
          <p:cNvSpPr txBox="1"/>
          <p:nvPr/>
        </p:nvSpPr>
        <p:spPr>
          <a:xfrm xmlns:a="http://schemas.openxmlformats.org/drawingml/2006/main">
            <a:off x="684000" y="6246000"/>
            <a:ext cx="72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TaxWise Consultants  ·  Singapore Practice</a:t>
            </a:r>
          </a:p>
        </p:txBody>
      </p:sp>
      <p:sp>
        <p:nvSpPr>
          <p:cNvPr id="100337" name="!!#s16-pageno"/>
          <p:cNvSpPr txBox="1"/>
          <p:nvPr/>
        </p:nvSpPr>
        <p:spPr>
          <a:xfrm xmlns:a="http://schemas.openxmlformats.org/drawingml/2006/main">
            <a:off x="9709200" y="6246000"/>
            <a:ext cx="1800000" cy="1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00" spc="140">
                <a:solidFill>
                  <a:srgbClr val="8A9BBF"/>
                </a:solidFill>
                <a:latin typeface="Arial"/>
                <a:ea typeface="Arial"/>
              </a:rPr>
              <a:t>16</a:t>
            </a:r>
          </a:p>
        </p:txBody>
      </p:sp>
    </p:spTree>
  </p:cSld>
  <mc:AlternateContent>
    <mc:Choice Requires="p159">
      <p:transition xmlns:p159="http://schemas.microsoft.com/office/powerpoint/2015/09/main"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100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00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17" grpId="0"/>
      <p:bldP spid="100319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OfficeCLI/1.0.158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2026-10-27T02:54:46Z</dcterms:created>
  <cp:lastModifiedBy>OfficeCLI</cp:lastModifiedBy>
  <dcterms:modified xsi:type="dcterms:W3CDTF">2026-10-27T02:54:46Z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1.0.158</vt:lpwstr>
  </op:property>
  <op:property fmtid="{D5CDD505-2E9C-101B-9397-08002B2CF9AE}" pid="3" name="OfficeCLI.LastModified">
    <vt:lpwstr xmlns:vt="http://schemas.openxmlformats.org/officeDocument/2006/docPropsVTypes">2026-10-27T02:56:02Z</vt:lpwstr>
  </op:property>
</op:Properties>
</file>