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72bbe97d1e2438c" /><Relationship Type="http://schemas.openxmlformats.org/package/2006/relationships/metadata/core-properties" Target="/docProps/core.xml" Id="R43cf5ae340d94c21" /><Relationship Type="http://schemas.openxmlformats.org/officeDocument/2006/relationships/extended-properties" Target="/docProps/app.xml" Id="Red6ea7c6977544f4" /><Relationship Type="http://schemas.openxmlformats.org/officeDocument/2006/relationships/custom-properties" Target="/docProps/custom.xml" Id="R9523550697a84c5d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56a9006fb9e248d2"/>
  </p:notesMasterIdLst>
  <p:sldIdLst>
    <p:sldId id="256" r:id="Rd58cf227236a4ef1"/>
    <p:sldId id="257" r:id="R0f5aed4fbbe54282"/>
    <p:sldId id="258" r:id="Rfc01610f42814962"/>
    <p:sldId id="259" r:id="Rab75c4c6431f481b"/>
    <p:sldId id="260" r:id="R9b4a28c9957d4432"/>
    <p:sldId id="261" r:id="R4b80013543894482"/>
    <p:sldId id="262" r:id="Rc1b5bb1a8f1346b1"/>
    <p:sldId id="263" r:id="R22310309403b456c"/>
    <p:sldId id="264" r:id="R0e78697b83f04fa8"/>
    <p:sldId id="265" r:id="R76f0114ce81b4a6d"/>
    <p:sldId id="266" r:id="R57174691eea94996"/>
    <p:sldId id="267" r:id="R682390e7d9fe4bfb"/>
    <p:sldId id="268" r:id="R9af8a8f90ac743b8"/>
    <p:sldId id="269" r:id="R779e40e24a8649ba"/>
    <p:sldId id="270" r:id="R5b07fb05d7cb4e81"/>
    <p:sldId id="271" r:id="Re1c6dc30e08c4a3a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d58cf227236a4ef1" /><Relationship Type="http://schemas.openxmlformats.org/officeDocument/2006/relationships/slide" Target="/ppt/slides/slide2.xml" Id="R0f5aed4fbbe54282" /><Relationship Type="http://schemas.openxmlformats.org/officeDocument/2006/relationships/slide" Target="/ppt/slides/slide3.xml" Id="Rfc01610f42814962" /><Relationship Type="http://schemas.openxmlformats.org/officeDocument/2006/relationships/slide" Target="/ppt/slides/slide4.xml" Id="Rab75c4c6431f481b" /><Relationship Type="http://schemas.openxmlformats.org/officeDocument/2006/relationships/slide" Target="/ppt/slides/slide5.xml" Id="R9b4a28c9957d4432" /><Relationship Type="http://schemas.openxmlformats.org/officeDocument/2006/relationships/slide" Target="/ppt/slides/slide6.xml" Id="R4b80013543894482" /><Relationship Type="http://schemas.openxmlformats.org/officeDocument/2006/relationships/slide" Target="/ppt/slides/slide7.xml" Id="Rc1b5bb1a8f1346b1" /><Relationship Type="http://schemas.openxmlformats.org/officeDocument/2006/relationships/slide" Target="/ppt/slides/slide8.xml" Id="R22310309403b456c" /><Relationship Type="http://schemas.openxmlformats.org/officeDocument/2006/relationships/slide" Target="/ppt/slides/slide9.xml" Id="R0e78697b83f04fa8" /><Relationship Type="http://schemas.openxmlformats.org/officeDocument/2006/relationships/slide" Target="/ppt/slides/slide10.xml" Id="R76f0114ce81b4a6d" /><Relationship Type="http://schemas.openxmlformats.org/officeDocument/2006/relationships/slide" Target="/ppt/slides/slide11.xml" Id="R57174691eea94996" /><Relationship Type="http://schemas.openxmlformats.org/officeDocument/2006/relationships/slide" Target="/ppt/slides/slide12.xml" Id="R682390e7d9fe4bfb" /><Relationship Type="http://schemas.openxmlformats.org/officeDocument/2006/relationships/slide" Target="/ppt/slides/slide13.xml" Id="R9af8a8f90ac743b8" /><Relationship Type="http://schemas.openxmlformats.org/officeDocument/2006/relationships/slide" Target="/ppt/slides/slide14.xml" Id="R779e40e24a8649ba" /><Relationship Type="http://schemas.openxmlformats.org/officeDocument/2006/relationships/slide" Target="/ppt/slides/slide15.xml" Id="R5b07fb05d7cb4e81" /><Relationship Type="http://schemas.openxmlformats.org/officeDocument/2006/relationships/slide" Target="/ppt/slides/slide16.xml" Id="Re1c6dc30e08c4a3a" /><Relationship Type="http://schemas.openxmlformats.org/officeDocument/2006/relationships/notesMaster" Target="/ppt/notesMasters/notesMaster1.xml" Id="R56a9006fb9e248d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7f8ce00dc2a4fbe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95873578b554f29" /><Relationship Type="http://schemas.openxmlformats.org/officeDocument/2006/relationships/slide" Target="/ppt/slides/slide2.xml" Id="Re4ad59506c9b446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458b61779654332" /><Relationship Type="http://schemas.openxmlformats.org/officeDocument/2006/relationships/slide" Target="/ppt/slides/slide3.xml" Id="R59d3982dadc041c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ba2a97818264dd0" /><Relationship Type="http://schemas.openxmlformats.org/officeDocument/2006/relationships/slide" Target="/ppt/slides/slide4.xml" Id="R7e17a6ba18b5488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ba352a2fdbf4634" /><Relationship Type="http://schemas.openxmlformats.org/officeDocument/2006/relationships/slide" Target="/ppt/slides/slide5.xml" Id="R7d7d6d3bcace4d8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8688371c1a841b7" /><Relationship Type="http://schemas.openxmlformats.org/officeDocument/2006/relationships/slide" Target="/ppt/slides/slide6.xml" Id="R0902639aa13d442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a29a6743028490f" /><Relationship Type="http://schemas.openxmlformats.org/officeDocument/2006/relationships/slide" Target="/ppt/slides/slide7.xml" Id="R3a7b68530fef4c7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c6234508002442e" /><Relationship Type="http://schemas.openxmlformats.org/officeDocument/2006/relationships/slide" Target="/ppt/slides/slide8.xml" Id="Rd939d89f8a3d4f9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38e32f0fc584da1" /><Relationship Type="http://schemas.openxmlformats.org/officeDocument/2006/relationships/slide" Target="/ppt/slides/slide9.xml" Id="R1e2bbbdc5d8644b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2c1a9141d094319" /><Relationship Type="http://schemas.openxmlformats.org/officeDocument/2006/relationships/slide" Target="/ppt/slides/slide10.xml" Id="R70c44cbd14064cd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1a680367e3f4387" /><Relationship Type="http://schemas.openxmlformats.org/officeDocument/2006/relationships/slide" Target="/ppt/slides/slide11.xml" Id="Rb7279d62f59843a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2dd2f39b00d4a79" /><Relationship Type="http://schemas.openxmlformats.org/officeDocument/2006/relationships/slide" Target="/ppt/slides/slide12.xml" Id="Raa44f205ca0844a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670b056bd354b96" /><Relationship Type="http://schemas.openxmlformats.org/officeDocument/2006/relationships/slide" Target="/ppt/slides/slide13.xml" Id="Rc448e8ca1fe9434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3d774c3b06e4d77" /><Relationship Type="http://schemas.openxmlformats.org/officeDocument/2006/relationships/slide" Target="/ppt/slides/slide14.xml" Id="R20d609d76d3344c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b00c28606ac4233" /><Relationship Type="http://schemas.openxmlformats.org/officeDocument/2006/relationships/slide" Target="/ppt/slides/slide15.xml" Id="R82d54b06621e478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a866268e5a14980" /><Relationship Type="http://schemas.openxmlformats.org/officeDocument/2006/relationships/slide" Target="/ppt/slides/slide16.xml" Id="Rc970ca14fb9b49b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Open by establishing that this is an established practice, not a new venture. Ten years, 500 clients, 30 people in-house. Chennai is the second office. Do not rush the three figures — let them land before moving 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These are the three practice lines as published on the website. The point to land is that they are not separate products: one team does the recurring compliance, the management reporting and the transaction work.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Pivot. Everything so far has been India. From here the deck is about Singapore.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Three qualitative arguments only — there are deliberately no market statistics on this slide. Drop your own research in here if the audience expects numbers; the layout leaves a clean band below the cards for a stat row.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This is the problem slide. Do not soften it. The cost of a local hire is fixed and it lands before any of the work gets done. Pause on the third point — obligations do not scale down, which is what catches smaller entities out.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Pivot to the offer.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down the four steps in order. Every name on this slide is a real filing: Form F5 is the quarterly GST return, ECI is the estimated chargeable income filing, Form C-S or C is the corporate return, and ACRA takes the annual return plus XBRL accounts. Deliberately no rates or deadlines — those move.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The commercial claim. Say plainly that the saving is structural: preparation happens in Bangalore, sign-off happens with a Singapore-qualified CA, and the client carries no headcount. Be ready to substantiate the 50 per cent figure if asked — have a worked comparison to hand.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Pivot to the cross-border work, which is where most of the real engagement sits.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Both poles, then the money movement between them. FEMA governs the India leg on every transaction. ODI covers Indian money going out, FC-GPR covers money coming in, and the India-Singapore treaty governs relief. If the prospect has an existing structure, this is the slide to go off-script 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The adjacent work, grouped as the client sees it. Valuation matters most to anyone raising or transferring shares — Rule 11UA and FEMA pricing both bite.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The differentiator: all of this is in-house and on one payroll. No sub-contracting and no associate network means one point of accountability. The Singapore-qualified CA is the point to press with this audience.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Unusual for a CA firm and worth dwelling on. Engineers on staff means the practice systems are built around a filing calendar rather than a sales pipeline, and it means we can build a client a tool when they need one.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Partner-led, and say it plainly: the partner who scopes an engagement is the one who reviews it. Four partners, so a Singapore client is never waiting on one person's calendar. Hand over to whichever partner is in the room.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Close on the three steps and leave the contact block up. The ask is a thirty-minute scoping call, nothing larger.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7403e51acd471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3bac305bdb40f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d4c7a2593c446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e879698d1945e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9c7a0a58b6475f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5bf4a3b88afd466a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179768138741ba" /><Relationship Type="http://schemas.openxmlformats.org/officeDocument/2006/relationships/image" Target="/ppt/media/image.png" Id="R2365bdba2062428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a723341baa4684" /><Relationship Type="http://schemas.openxmlformats.org/officeDocument/2006/relationships/notesSlide" Target="/ppt/notesSlides/notesSlide1.xml" Id="Ra95ee2c72c7e498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7dfdb60a944942" /><Relationship Type="http://schemas.openxmlformats.org/officeDocument/2006/relationships/notesSlide" Target="/ppt/notesSlides/notesSlide2.xml" Id="R863e7551c9be4b1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e100647dec47c8" /><Relationship Type="http://schemas.openxmlformats.org/officeDocument/2006/relationships/notesSlide" Target="/ppt/notesSlides/notesSlide3.xml" Id="R6f463180c73846a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eff28a77b24369" /><Relationship Type="http://schemas.openxmlformats.org/officeDocument/2006/relationships/notesSlide" Target="/ppt/notesSlides/notesSlide4.xml" Id="Rbddc2d7634bf481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d0483fafcf40ee" /><Relationship Type="http://schemas.openxmlformats.org/officeDocument/2006/relationships/notesSlide" Target="/ppt/notesSlides/notesSlide5.xml" Id="R7eead73f6c74416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7ebd2e67624949" /><Relationship Type="http://schemas.openxmlformats.org/officeDocument/2006/relationships/notesSlide" Target="/ppt/notesSlides/notesSlide6.xml" Id="R224e3316732f454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948df991a24146" /><Relationship Type="http://schemas.openxmlformats.org/officeDocument/2006/relationships/notesSlide" Target="/ppt/notesSlides/notesSlide7.xml" Id="Rf89b9b437917492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e5cecee7524aa1" /><Relationship Type="http://schemas.openxmlformats.org/officeDocument/2006/relationships/notesSlide" Target="/ppt/notesSlides/notesSlide8.xml" Id="Rb8e42ad5bbfe40f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1781ef6a2a4459" /><Relationship Type="http://schemas.openxmlformats.org/officeDocument/2006/relationships/notesSlide" Target="/ppt/notesSlides/notesSlide9.xml" Id="R5f18cfe6452e4f1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242b332d61438e" /><Relationship Type="http://schemas.openxmlformats.org/officeDocument/2006/relationships/notesSlide" Target="/ppt/notesSlides/notesSlide10.xml" Id="R1d9fdb43992845a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4476e415334060" /><Relationship Type="http://schemas.openxmlformats.org/officeDocument/2006/relationships/notesSlide" Target="/ppt/notesSlides/notesSlide11.xml" Id="R7cb5efd08c574ea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0a85314fb744c2" /><Relationship Type="http://schemas.openxmlformats.org/officeDocument/2006/relationships/notesSlide" Target="/ppt/notesSlides/notesSlide12.xml" Id="Re97688aa92a842c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0e65dfefea41a3" /><Relationship Type="http://schemas.openxmlformats.org/officeDocument/2006/relationships/notesSlide" Target="/ppt/notesSlides/notesSlide13.xml" Id="R0d0fea8e8675400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819e43f4de48e3" /><Relationship Type="http://schemas.openxmlformats.org/officeDocument/2006/relationships/notesSlide" Target="/ppt/notesSlides/notesSlide14.xml" Id="Rd2bdf51fbf244be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942b9486d44823" /><Relationship Type="http://schemas.openxmlformats.org/officeDocument/2006/relationships/notesSlide" Target="/ppt/notesSlides/notesSlide15.xml" Id="R3b913fda2db84c8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000" name="!!scene-orb-gold"/>
          <p:cNvSpPr/>
          <p:nvPr/>
        </p:nvSpPr>
        <p:spPr>
          <a:xfrm xmlns:a="http://schemas.openxmlformats.org/drawingml/2006/main">
            <a:off x="7380000" y="432000"/>
            <a:ext cx="4680000" cy="468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1" name="!!scene-orb-steel"/>
          <p:cNvSpPr/>
          <p:nvPr/>
        </p:nvSpPr>
        <p:spPr>
          <a:xfrm xmlns:a="http://schemas.openxmlformats.org/drawingml/2006/main">
            <a:off x="1440000" y="3060000"/>
            <a:ext cx="3420000" cy="342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2" name="!!scene-wash"/>
          <p:cNvSpPr/>
          <p:nvPr/>
        </p:nvSpPr>
        <p:spPr>
          <a:xfrm xmlns:a="http://schemas.openxmlformats.org/drawingml/2006/main">
            <a:off x="0" y="4896000"/>
            <a:ext cx="12193200" cy="1962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3" name="!!scene-rule-navy"/>
          <p:cNvSpPr/>
          <p:nvPr/>
        </p:nvSpPr>
        <p:spPr>
          <a:xfrm xmlns:a="http://schemas.openxmlformats.org/drawingml/2006/main">
            <a:off x="11509200" y="4392000"/>
            <a:ext cx="18000" cy="129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4" name="!!scene-rule-gold"/>
          <p:cNvSpPr/>
          <p:nvPr/>
        </p:nvSpPr>
        <p:spPr>
          <a:xfrm xmlns:a="http://schemas.openxmlformats.org/drawingml/2006/main">
            <a:off x="5040000" y="4104000"/>
            <a:ext cx="2088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5" name="!!scene-dot"/>
          <p:cNvSpPr/>
          <p:nvPr/>
        </p:nvSpPr>
        <p:spPr>
          <a:xfrm xmlns:a="http://schemas.openxmlformats.org/drawingml/2006/main">
            <a:off x="7081200" y="4068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00006" name="Picture 1" descr="TaxWise Consultants shield mark, reversed in off-whit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65bdba2062428b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5677200" y="1188000"/>
            <a:ext cx="835200" cy="936000"/>
          </a:xfrm>
          <a:prstGeom xmlns:a="http://schemas.openxmlformats.org/drawingml/2006/main" prst="rect">
            <a:avLst/>
          </a:prstGeom>
        </p:spPr>
      </p:pic>
      <p:sp>
        <p:nvSpPr>
          <p:cNvPr id="100007" name="!!#s1-eye-loc"/>
          <p:cNvSpPr txBox="1"/>
          <p:nvPr/>
        </p:nvSpPr>
        <p:spPr>
          <a:xfrm xmlns:a="http://schemas.openxmlformats.org/drawingml/2006/main">
            <a:off x="684000" y="2448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BANGALORE · CHENNAI · SINGAPORE</a:t>
            </a:r>
          </a:p>
        </p:txBody>
      </p:sp>
      <p:sp>
        <p:nvSpPr>
          <p:cNvPr id="100008" name="!!#s1-title"/>
          <p:cNvSpPr txBox="1"/>
          <p:nvPr/>
        </p:nvSpPr>
        <p:spPr>
          <a:xfrm xmlns:a="http://schemas.openxmlformats.org/drawingml/2006/main">
            <a:off x="684000" y="2772000"/>
            <a:ext cx="108252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/>
            <a:r>
              <a:rPr lang="en-US" sz="5800" b="1">
                <a:solidFill>
                  <a:srgbClr val="F5F4F2"/>
                </a:solidFill>
                <a:latin typeface="Georgia"/>
                <a:ea typeface="Georgia"/>
              </a:rPr>
              <a:t>TaxWise Consultants</a:t>
            </a:r>
          </a:p>
        </p:txBody>
      </p:sp>
      <p:sp>
        <p:nvSpPr>
          <p:cNvPr id="100009" name="!!#s1-strap"/>
          <p:cNvSpPr txBox="1"/>
          <p:nvPr/>
        </p:nvSpPr>
        <p:spPr>
          <a:xfrm xmlns:a="http://schemas.openxmlformats.org/drawingml/2006/main">
            <a:off x="1778400" y="5148000"/>
            <a:ext cx="864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</a:pPr>
            <a:r>
              <a:rPr lang="en-US" sz="2000">
                <a:solidFill>
                  <a:srgbClr val="8A9BBF"/>
                </a:solidFill>
                <a:latin typeface="Arial"/>
                <a:ea typeface="Arial"/>
              </a:rPr>
              <a:t>Cross-border finance, tax and compliance for companies operating between India and Singapore.</a:t>
            </a:r>
          </a:p>
        </p:txBody>
      </p:sp>
      <p:sp>
        <p:nvSpPr>
          <p:cNvPr id="100010" name="!!#s1-meta"/>
          <p:cNvSpPr txBox="1"/>
          <p:nvPr/>
        </p:nvSpPr>
        <p:spPr>
          <a:xfrm xmlns:a="http://schemas.openxmlformats.org/drawingml/2006/main">
            <a:off x="684000" y="5976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100" spc="180">
                <a:solidFill>
                  <a:srgbClr val="8A9BBF"/>
                </a:solidFill>
                <a:latin typeface="Arial"/>
                <a:ea typeface="Arial"/>
              </a:rPr>
              <a:t>SINGAPORE PRACTICE  ·  2026  ·  TWCHARTERED.COM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0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00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008" grpId="0"/>
      <p:bldP spid="100009" grpId="1"/>
    </p:bldLst>
  </p:timing>
</p:sld>
</file>

<file path=ppt/slides/slide2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011" name="!!scene-orb-gold"/>
          <p:cNvSpPr/>
          <p:nvPr/>
        </p:nvSpPr>
        <p:spPr>
          <a:xfrm xmlns:a="http://schemas.openxmlformats.org/drawingml/2006/main">
            <a:off x="8640000" y="3420000"/>
            <a:ext cx="3240000" cy="324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2" name="!!scene-orb-steel"/>
          <p:cNvSpPr/>
          <p:nvPr/>
        </p:nvSpPr>
        <p:spPr>
          <a:xfrm xmlns:a="http://schemas.openxmlformats.org/drawingml/2006/main">
            <a:off x="792000" y="3240000"/>
            <a:ext cx="2880000" cy="288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3" name="!!scene-wash"/>
          <p:cNvSpPr/>
          <p:nvPr/>
        </p:nvSpPr>
        <p:spPr>
          <a:xfrm xmlns:a="http://schemas.openxmlformats.org/drawingml/2006/main">
            <a:off x="684000" y="4536000"/>
            <a:ext cx="10825200" cy="1404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4" name="!!scene-rule-navy"/>
          <p:cNvSpPr/>
          <p:nvPr/>
        </p:nvSpPr>
        <p:spPr>
          <a:xfrm xmlns:a="http://schemas.openxmlformats.org/drawingml/2006/main">
            <a:off x="11509200" y="864000"/>
            <a:ext cx="18000" cy="36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5" name="!!scene-rule-gold"/>
          <p:cNvSpPr/>
          <p:nvPr/>
        </p:nvSpPr>
        <p:spPr>
          <a:xfrm xmlns:a="http://schemas.openxmlformats.org/drawingml/2006/main">
            <a:off x="684000" y="2052000"/>
            <a:ext cx="108252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6" name="!!scene-dot"/>
          <p:cNvSpPr/>
          <p:nvPr/>
        </p:nvSpPr>
        <p:spPr>
          <a:xfrm xmlns:a="http://schemas.openxmlformats.org/drawingml/2006/main">
            <a:off x="114624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7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8" name="!!#s2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THE FIRM</a:t>
            </a:r>
          </a:p>
        </p:txBody>
      </p:sp>
      <p:sp>
        <p:nvSpPr>
          <p:cNvPr id="100019" name="!!#s2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The practice today</a:t>
            </a:r>
          </a:p>
        </p:txBody>
      </p:sp>
      <p:sp>
        <p:nvSpPr>
          <p:cNvPr id="100020" name="!!#s2-lead"/>
          <p:cNvSpPr txBox="1"/>
          <p:nvPr/>
        </p:nvSpPr>
        <p:spPr>
          <a:xfrm xmlns:a="http://schemas.openxmlformats.org/drawingml/2006/main">
            <a:off x="684000" y="2376000"/>
            <a:ext cx="6768000" cy="20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900">
                <a:solidFill>
                  <a:srgbClr val="8A9BBF"/>
                </a:solidFill>
                <a:latin typeface="Arial"/>
                <a:ea typeface="Arial"/>
              </a:rPr>
              <a:t>TaxWise Consultants is a chartered accountancy and finance advisory firm headquartered in Bangalore, with a second office in Chennai. We are the finance and compliance function for companies that would rather not build one in-house.</a:t>
            </a:r>
          </a:p>
        </p:txBody>
      </p:sp>
      <p:sp>
        <p:nvSpPr>
          <p:cNvPr id="100021" name="!!#s2-eye-office"/>
          <p:cNvSpPr txBox="1"/>
          <p:nvPr/>
        </p:nvSpPr>
        <p:spPr>
          <a:xfrm xmlns:a="http://schemas.openxmlformats.org/drawingml/2006/main">
            <a:off x="7740000" y="2376000"/>
            <a:ext cx="3769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REGISTERED OFFICE</a:t>
            </a:r>
          </a:p>
        </p:txBody>
      </p:sp>
      <p:sp>
        <p:nvSpPr>
          <p:cNvPr id="100022" name="!!#s2-addr"/>
          <p:cNvSpPr txBox="1"/>
          <p:nvPr/>
        </p:nvSpPr>
        <p:spPr>
          <a:xfrm xmlns:a="http://schemas.openxmlformats.org/drawingml/2006/main">
            <a:off x="7740000" y="2682000"/>
            <a:ext cx="3769200" cy="88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600">
                <a:solidFill>
                  <a:srgbClr val="8A9BBF"/>
                </a:solidFill>
                <a:latin typeface="Arial"/>
                <a:ea typeface="Arial"/>
              </a:rPr>
              <a:t>307, 1st Floor, 14th Main Road, RMV Extension, Sadhashivnagar, Bangalore 560 080</a:t>
            </a:r>
          </a:p>
        </p:txBody>
      </p:sp>
      <p:sp>
        <p:nvSpPr>
          <p:cNvPr id="100023" name="!!#s2-div"/>
          <p:cNvSpPr/>
          <p:nvPr/>
        </p:nvSpPr>
        <p:spPr>
          <a:xfrm xmlns:a="http://schemas.openxmlformats.org/drawingml/2006/main">
            <a:off x="7740000" y="3672000"/>
            <a:ext cx="3769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4" name="!!#s2-eye-office2"/>
          <p:cNvSpPr txBox="1"/>
          <p:nvPr/>
        </p:nvSpPr>
        <p:spPr>
          <a:xfrm xmlns:a="http://schemas.openxmlformats.org/drawingml/2006/main">
            <a:off x="7740000" y="3798000"/>
            <a:ext cx="3769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SECOND OFFICE</a:t>
            </a:r>
          </a:p>
        </p:txBody>
      </p:sp>
      <p:sp>
        <p:nvSpPr>
          <p:cNvPr id="100025" name="!!#s2-addr2"/>
          <p:cNvSpPr txBox="1"/>
          <p:nvPr/>
        </p:nvSpPr>
        <p:spPr>
          <a:xfrm xmlns:a="http://schemas.openxmlformats.org/drawingml/2006/main">
            <a:off x="7740000" y="4086000"/>
            <a:ext cx="3769200" cy="34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600">
                <a:solidFill>
                  <a:srgbClr val="8A9BBF"/>
                </a:solidFill>
                <a:latin typeface="Arial"/>
                <a:ea typeface="Arial"/>
              </a:rPr>
              <a:t>Chennai</a:t>
            </a:r>
          </a:p>
        </p:txBody>
      </p:sp>
      <p:sp>
        <p:nvSpPr>
          <p:cNvPr id="100026" name="!!#s2-kpi0"/>
          <p:cNvSpPr txBox="1"/>
          <p:nvPr/>
        </p:nvSpPr>
        <p:spPr>
          <a:xfrm xmlns:a="http://schemas.openxmlformats.org/drawingml/2006/main">
            <a:off x="936000" y="4752000"/>
            <a:ext cx="31392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C9A84C"/>
                </a:solidFill>
                <a:latin typeface="Georgia"/>
                <a:ea typeface="Georgia"/>
              </a:rPr>
              <a:t>10+</a:t>
            </a:r>
          </a:p>
        </p:txBody>
      </p:sp>
      <p:sp>
        <p:nvSpPr>
          <p:cNvPr id="100027" name="!!#s2-kpisub0"/>
          <p:cNvSpPr txBox="1"/>
          <p:nvPr/>
        </p:nvSpPr>
        <p:spPr>
          <a:xfrm xmlns:a="http://schemas.openxmlformats.org/drawingml/2006/main">
            <a:off x="936000" y="5454000"/>
            <a:ext cx="3139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200" spc="80">
                <a:solidFill>
                  <a:srgbClr val="8A9BBF"/>
                </a:solidFill>
                <a:latin typeface="Arial"/>
                <a:ea typeface="Arial"/>
              </a:rPr>
              <a:t>Years in practice</a:t>
            </a:r>
          </a:p>
        </p:txBody>
      </p:sp>
      <p:sp>
        <p:nvSpPr>
          <p:cNvPr id="100028" name="!!#s2-kpi1"/>
          <p:cNvSpPr txBox="1"/>
          <p:nvPr/>
        </p:nvSpPr>
        <p:spPr>
          <a:xfrm xmlns:a="http://schemas.openxmlformats.org/drawingml/2006/main">
            <a:off x="4651200" y="4752000"/>
            <a:ext cx="31392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C9A84C"/>
                </a:solidFill>
                <a:latin typeface="Georgia"/>
                <a:ea typeface="Georgia"/>
              </a:rPr>
              <a:t>500+</a:t>
            </a:r>
          </a:p>
        </p:txBody>
      </p:sp>
      <p:sp>
        <p:nvSpPr>
          <p:cNvPr id="100029" name="!!#s2-kpisub1"/>
          <p:cNvSpPr txBox="1"/>
          <p:nvPr/>
        </p:nvSpPr>
        <p:spPr>
          <a:xfrm xmlns:a="http://schemas.openxmlformats.org/drawingml/2006/main">
            <a:off x="4651200" y="5454000"/>
            <a:ext cx="3139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200" spc="80">
                <a:solidFill>
                  <a:srgbClr val="8A9BBF"/>
                </a:solidFill>
                <a:latin typeface="Arial"/>
                <a:ea typeface="Arial"/>
              </a:rPr>
              <a:t>Clients advised</a:t>
            </a:r>
          </a:p>
        </p:txBody>
      </p:sp>
      <p:sp>
        <p:nvSpPr>
          <p:cNvPr id="100030" name="!!#s2-kpi2"/>
          <p:cNvSpPr txBox="1"/>
          <p:nvPr/>
        </p:nvSpPr>
        <p:spPr>
          <a:xfrm xmlns:a="http://schemas.openxmlformats.org/drawingml/2006/main">
            <a:off x="8370000" y="4752000"/>
            <a:ext cx="31392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C9A84C"/>
                </a:solidFill>
                <a:latin typeface="Georgia"/>
                <a:ea typeface="Georgia"/>
              </a:rPr>
              <a:t>30+</a:t>
            </a:r>
          </a:p>
        </p:txBody>
      </p:sp>
      <p:sp>
        <p:nvSpPr>
          <p:cNvPr id="100031" name="!!#s2-kpisub2"/>
          <p:cNvSpPr txBox="1"/>
          <p:nvPr/>
        </p:nvSpPr>
        <p:spPr>
          <a:xfrm xmlns:a="http://schemas.openxmlformats.org/drawingml/2006/main">
            <a:off x="8370000" y="5454000"/>
            <a:ext cx="3139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200" spc="80">
                <a:solidFill>
                  <a:srgbClr val="8A9BBF"/>
                </a:solidFill>
                <a:latin typeface="Arial"/>
                <a:ea typeface="Arial"/>
              </a:rPr>
              <a:t>In-house specialists</a:t>
            </a:r>
          </a:p>
        </p:txBody>
      </p:sp>
      <p:sp>
        <p:nvSpPr>
          <p:cNvPr id="100032" name="!!#s2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033" name="!!#s2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02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0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000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019" grpId="0"/>
      <p:bldP spid="100020" grpId="1"/>
    </p:bldLst>
  </p:timing>
</p:sld>
</file>

<file path=ppt/slides/slide3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034" name="!!scene-orb-gold"/>
          <p:cNvSpPr/>
          <p:nvPr/>
        </p:nvSpPr>
        <p:spPr>
          <a:xfrm xmlns:a="http://schemas.openxmlformats.org/drawingml/2006/main">
            <a:off x="864000" y="2880000"/>
            <a:ext cx="3780000" cy="378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5" name="!!scene-orb-steel"/>
          <p:cNvSpPr/>
          <p:nvPr/>
        </p:nvSpPr>
        <p:spPr>
          <a:xfrm xmlns:a="http://schemas.openxmlformats.org/drawingml/2006/main">
            <a:off x="8100000" y="540000"/>
            <a:ext cx="3420000" cy="342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6" name="!!scene-wash"/>
          <p:cNvSpPr/>
          <p:nvPr/>
        </p:nvSpPr>
        <p:spPr>
          <a:xfrm xmlns:a="http://schemas.openxmlformats.org/drawingml/2006/main">
            <a:off x="6840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7" name="!!scene-rule-navy"/>
          <p:cNvSpPr/>
          <p:nvPr/>
        </p:nvSpPr>
        <p:spPr>
          <a:xfrm xmlns:a="http://schemas.openxmlformats.org/drawingml/2006/main">
            <a:off x="11509200" y="2484000"/>
            <a:ext cx="18000" cy="30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8" name="!!scene-rule-gold"/>
          <p:cNvSpPr/>
          <p:nvPr/>
        </p:nvSpPr>
        <p:spPr>
          <a:xfrm xmlns:a="http://schemas.openxmlformats.org/drawingml/2006/main">
            <a:off x="684000" y="2052000"/>
            <a:ext cx="4320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9" name="!!scene-dot"/>
          <p:cNvSpPr/>
          <p:nvPr/>
        </p:nvSpPr>
        <p:spPr>
          <a:xfrm xmlns:a="http://schemas.openxmlformats.org/drawingml/2006/main">
            <a:off x="49572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0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1" name="!!#s3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WHAT WE DO</a:t>
            </a:r>
          </a:p>
        </p:txBody>
      </p:sp>
      <p:sp>
        <p:nvSpPr>
          <p:cNvPr id="100042" name="!!#s3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Three practices, one finance function</a:t>
            </a:r>
          </a:p>
        </p:txBody>
      </p:sp>
      <p:sp>
        <p:nvSpPr>
          <p:cNvPr id="100043" name="!!#s3-eye-c0"/>
          <p:cNvSpPr txBox="1"/>
          <p:nvPr/>
        </p:nvSpPr>
        <p:spPr>
          <a:xfrm xmlns:a="http://schemas.openxmlformats.org/drawingml/2006/main">
            <a:off x="936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044" name="!!#s3-chead0"/>
          <p:cNvSpPr txBox="1"/>
          <p:nvPr/>
        </p:nvSpPr>
        <p:spPr>
          <a:xfrm xmlns:a="http://schemas.openxmlformats.org/drawingml/2006/main">
            <a:off x="9360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Core CA Practice</a:t>
            </a:r>
          </a:p>
        </p:txBody>
      </p:sp>
      <p:sp>
        <p:nvSpPr>
          <p:cNvPr id="100045" name="!!#s3-cbody0"/>
          <p:cNvSpPr txBox="1"/>
          <p:nvPr/>
        </p:nvSpPr>
        <p:spPr>
          <a:xfrm xmlns:a="http://schemas.openxmlformats.org/drawingml/2006/main">
            <a:off x="936000" y="3834000"/>
            <a:ext cx="2887200" cy="15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Statutory audit, direct tax, GST and ROC filings. Assessments and representation.</a:t>
            </a:r>
          </a:p>
        </p:txBody>
      </p:sp>
      <p:sp>
        <p:nvSpPr>
          <p:cNvPr id="100046" name="!!#s3-card1"/>
          <p:cNvSpPr/>
          <p:nvPr/>
        </p:nvSpPr>
        <p:spPr>
          <a:xfrm xmlns:a="http://schemas.openxmlformats.org/drawingml/2006/main">
            <a:off x="43992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7" name="!!#s3-eye-c1"/>
          <p:cNvSpPr txBox="1"/>
          <p:nvPr/>
        </p:nvSpPr>
        <p:spPr>
          <a:xfrm xmlns:a="http://schemas.openxmlformats.org/drawingml/2006/main">
            <a:off x="46512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048" name="!!#s3-chead1"/>
          <p:cNvSpPr txBox="1"/>
          <p:nvPr/>
        </p:nvSpPr>
        <p:spPr>
          <a:xfrm xmlns:a="http://schemas.openxmlformats.org/drawingml/2006/main">
            <a:off x="46512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CFO Advisory</a:t>
            </a:r>
          </a:p>
        </p:txBody>
      </p:sp>
      <p:sp>
        <p:nvSpPr>
          <p:cNvPr id="100049" name="!!#s3-cbody1"/>
          <p:cNvSpPr txBox="1"/>
          <p:nvPr/>
        </p:nvSpPr>
        <p:spPr>
          <a:xfrm xmlns:a="http://schemas.openxmlformats.org/drawingml/2006/main">
            <a:off x="4651200" y="3834000"/>
            <a:ext cx="2887200" cy="15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Management reporting, working-capital control, budgeting, internal controls and board packs.</a:t>
            </a:r>
          </a:p>
        </p:txBody>
      </p:sp>
      <p:sp>
        <p:nvSpPr>
          <p:cNvPr id="100050" name="!!#s3-card2"/>
          <p:cNvSpPr/>
          <p:nvPr/>
        </p:nvSpPr>
        <p:spPr>
          <a:xfrm xmlns:a="http://schemas.openxmlformats.org/drawingml/2006/main">
            <a:off x="81180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1" name="!!#s3-eye-c2"/>
          <p:cNvSpPr txBox="1"/>
          <p:nvPr/>
        </p:nvSpPr>
        <p:spPr>
          <a:xfrm xmlns:a="http://schemas.openxmlformats.org/drawingml/2006/main">
            <a:off x="8370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052" name="!!#s3-chead2"/>
          <p:cNvSpPr txBox="1"/>
          <p:nvPr/>
        </p:nvSpPr>
        <p:spPr>
          <a:xfrm xmlns:a="http://schemas.openxmlformats.org/drawingml/2006/main">
            <a:off x="83700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Startup Advisory</a:t>
            </a:r>
          </a:p>
        </p:txBody>
      </p:sp>
      <p:sp>
        <p:nvSpPr>
          <p:cNvPr id="100053" name="!!#s3-cbody2"/>
          <p:cNvSpPr txBox="1"/>
          <p:nvPr/>
        </p:nvSpPr>
        <p:spPr>
          <a:xfrm xmlns:a="http://schemas.openxmlformats.org/drawingml/2006/main">
            <a:off x="8370000" y="3834000"/>
            <a:ext cx="2887200" cy="15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Incorporation, ESOP structuring, Rule 11UA valuations, due diligence and fundraise support.</a:t>
            </a:r>
          </a:p>
        </p:txBody>
      </p:sp>
      <p:sp>
        <p:nvSpPr>
          <p:cNvPr id="100054" name="!!#s3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055" name="!!#s3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03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00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042" grpId="0"/>
      <p:bldP spid="100044" grpId="1"/>
    </p:bldLst>
  </p:timing>
</p:sld>
</file>

<file path=ppt/slides/slide4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056" name="!!scene-orb-gold"/>
          <p:cNvSpPr/>
          <p:nvPr/>
        </p:nvSpPr>
        <p:spPr>
          <a:xfrm xmlns:a="http://schemas.openxmlformats.org/drawingml/2006/main">
            <a:off x="6840000" y="720000"/>
            <a:ext cx="4680000" cy="468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7" name="!!scene-orb-steel"/>
          <p:cNvSpPr/>
          <p:nvPr/>
        </p:nvSpPr>
        <p:spPr>
          <a:xfrm xmlns:a="http://schemas.openxmlformats.org/drawingml/2006/main">
            <a:off x="1080000" y="3240000"/>
            <a:ext cx="3060000" cy="306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8" name="!!scene-wash"/>
          <p:cNvSpPr/>
          <p:nvPr/>
        </p:nvSpPr>
        <p:spPr>
          <a:xfrm xmlns:a="http://schemas.openxmlformats.org/drawingml/2006/main">
            <a:off x="0" y="0"/>
            <a:ext cx="12193200" cy="93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9" name="!!scene-rule-navy"/>
          <p:cNvSpPr/>
          <p:nvPr/>
        </p:nvSpPr>
        <p:spPr>
          <a:xfrm xmlns:a="http://schemas.openxmlformats.org/drawingml/2006/main">
            <a:off x="11509200" y="1080000"/>
            <a:ext cx="18000" cy="28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0" name="!!scene-rule-gold"/>
          <p:cNvSpPr/>
          <p:nvPr/>
        </p:nvSpPr>
        <p:spPr>
          <a:xfrm xmlns:a="http://schemas.openxmlformats.org/drawingml/2006/main">
            <a:off x="684000" y="4752000"/>
            <a:ext cx="6480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1" name="!!scene-dot"/>
          <p:cNvSpPr/>
          <p:nvPr/>
        </p:nvSpPr>
        <p:spPr>
          <a:xfrm xmlns:a="http://schemas.openxmlformats.org/drawingml/2006/main">
            <a:off x="7117200" y="47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2" name="!!#s4-topbar"/>
          <p:cNvSpPr txBox="1"/>
          <p:nvPr/>
        </p:nvSpPr>
        <p:spPr>
          <a:xfrm xmlns:a="http://schemas.openxmlformats.org/drawingml/2006/main">
            <a:off x="684000" y="342000"/>
            <a:ext cx="864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00" spc="20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063" name="!!#s4-num"/>
          <p:cNvSpPr txBox="1"/>
          <p:nvPr/>
        </p:nvSpPr>
        <p:spPr>
          <a:xfrm xmlns:a="http://schemas.openxmlformats.org/drawingml/2006/main">
            <a:off x="684000" y="1872000"/>
            <a:ext cx="2160000" cy="15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9600" b="1">
                <a:solidFill>
                  <a:srgbClr val="C9A84C"/>
                </a:solidFill>
                <a:latin typeface="Georgia"/>
                <a:ea typeface="Georgia"/>
              </a:rPr>
              <a:t>01</a:t>
            </a:r>
          </a:p>
        </p:txBody>
      </p:sp>
      <p:sp>
        <p:nvSpPr>
          <p:cNvPr id="100064" name="!!#s4-title"/>
          <p:cNvSpPr txBox="1"/>
          <p:nvPr/>
        </p:nvSpPr>
        <p:spPr>
          <a:xfrm xmlns:a="http://schemas.openxmlformats.org/drawingml/2006/main">
            <a:off x="684000" y="3564000"/>
            <a:ext cx="1008000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5200" b="1">
                <a:solidFill>
                  <a:srgbClr val="F5F4F2"/>
                </a:solidFill>
                <a:latin typeface="Georgia"/>
                <a:ea typeface="Georgia"/>
              </a:rPr>
              <a:t>Why Singapore</a:t>
            </a:r>
          </a:p>
        </p:txBody>
      </p:sp>
      <p:sp>
        <p:nvSpPr>
          <p:cNvPr id="100065" name="!!#s4-strap"/>
          <p:cNvSpPr txBox="1"/>
          <p:nvPr/>
        </p:nvSpPr>
        <p:spPr>
          <a:xfrm xmlns:a="http://schemas.openxmlformats.org/drawingml/2006/main">
            <a:off x="684000" y="5004000"/>
            <a:ext cx="936000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2000">
                <a:solidFill>
                  <a:srgbClr val="8A9BBF"/>
                </a:solidFill>
                <a:latin typeface="Arial"/>
                <a:ea typeface="Arial"/>
              </a:rPr>
              <a:t>The regional holding seat for Asian operations — and the jurisdiction our clients keep asking about.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0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00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064" grpId="0"/>
      <p:bldP spid="100063" grpId="1"/>
    </p:bldLst>
  </p:timing>
</p:sld>
</file>

<file path=ppt/slides/slide5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066" name="!!scene-orb-gold"/>
          <p:cNvSpPr/>
          <p:nvPr/>
        </p:nvSpPr>
        <p:spPr>
          <a:xfrm xmlns:a="http://schemas.openxmlformats.org/drawingml/2006/main">
            <a:off x="9000000" y="360000"/>
            <a:ext cx="3060000" cy="306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7" name="!!scene-orb-steel"/>
          <p:cNvSpPr/>
          <p:nvPr/>
        </p:nvSpPr>
        <p:spPr>
          <a:xfrm xmlns:a="http://schemas.openxmlformats.org/drawingml/2006/main">
            <a:off x="576000" y="3600000"/>
            <a:ext cx="2880000" cy="288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8" name="!!scene-wash"/>
          <p:cNvSpPr/>
          <p:nvPr/>
        </p:nvSpPr>
        <p:spPr>
          <a:xfrm xmlns:a="http://schemas.openxmlformats.org/drawingml/2006/main">
            <a:off x="6840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9" name="!!scene-rule-navy"/>
          <p:cNvSpPr/>
          <p:nvPr/>
        </p:nvSpPr>
        <p:spPr>
          <a:xfrm xmlns:a="http://schemas.openxmlformats.org/drawingml/2006/main">
            <a:off x="11509200" y="2736000"/>
            <a:ext cx="18000" cy="273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0" name="!!scene-rule-gold"/>
          <p:cNvSpPr/>
          <p:nvPr/>
        </p:nvSpPr>
        <p:spPr>
          <a:xfrm xmlns:a="http://schemas.openxmlformats.org/drawingml/2006/main">
            <a:off x="684000" y="2052000"/>
            <a:ext cx="108252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1" name="!!scene-dot"/>
          <p:cNvSpPr/>
          <p:nvPr/>
        </p:nvSpPr>
        <p:spPr>
          <a:xfrm xmlns:a="http://schemas.openxmlformats.org/drawingml/2006/main">
            <a:off x="114624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2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3" name="!!#s5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SECTION 01 · WHY SINGAPORE</a:t>
            </a:r>
          </a:p>
        </p:txBody>
      </p:sp>
      <p:sp>
        <p:nvSpPr>
          <p:cNvPr id="100074" name="!!#s5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The Singapore opportunity</a:t>
            </a:r>
          </a:p>
        </p:txBody>
      </p:sp>
      <p:sp>
        <p:nvSpPr>
          <p:cNvPr id="100075" name="!!#s5-eye-c0"/>
          <p:cNvSpPr txBox="1"/>
          <p:nvPr/>
        </p:nvSpPr>
        <p:spPr>
          <a:xfrm xmlns:a="http://schemas.openxmlformats.org/drawingml/2006/main">
            <a:off x="936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076" name="!!#s5-chead0"/>
          <p:cNvSpPr txBox="1"/>
          <p:nvPr/>
        </p:nvSpPr>
        <p:spPr>
          <a:xfrm xmlns:a="http://schemas.openxmlformats.org/drawingml/2006/main">
            <a:off x="9360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Gateway, not destination</a:t>
            </a:r>
          </a:p>
        </p:txBody>
      </p:sp>
      <p:sp>
        <p:nvSpPr>
          <p:cNvPr id="100077" name="!!#s5-cbody0"/>
          <p:cNvSpPr txBox="1"/>
          <p:nvPr/>
        </p:nvSpPr>
        <p:spPr>
          <a:xfrm xmlns:a="http://schemas.openxmlformats.org/drawingml/2006/main">
            <a:off x="936000" y="3834000"/>
            <a:ext cx="2887200" cy="15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A Singapore entity is the holding layer above India, South-East Asia and the Gulf.</a:t>
            </a:r>
          </a:p>
        </p:txBody>
      </p:sp>
      <p:sp>
        <p:nvSpPr>
          <p:cNvPr id="100078" name="!!#s5-card1"/>
          <p:cNvSpPr/>
          <p:nvPr/>
        </p:nvSpPr>
        <p:spPr>
          <a:xfrm xmlns:a="http://schemas.openxmlformats.org/drawingml/2006/main">
            <a:off x="43992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9" name="!!#s5-eye-c1"/>
          <p:cNvSpPr txBox="1"/>
          <p:nvPr/>
        </p:nvSpPr>
        <p:spPr>
          <a:xfrm xmlns:a="http://schemas.openxmlformats.org/drawingml/2006/main">
            <a:off x="46512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080" name="!!#s5-chead1"/>
          <p:cNvSpPr txBox="1"/>
          <p:nvPr/>
        </p:nvSpPr>
        <p:spPr>
          <a:xfrm xmlns:a="http://schemas.openxmlformats.org/drawingml/2006/main">
            <a:off x="46512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Rule-of-law premium</a:t>
            </a:r>
          </a:p>
        </p:txBody>
      </p:sp>
      <p:sp>
        <p:nvSpPr>
          <p:cNvPr id="100081" name="!!#s5-cbody1"/>
          <p:cNvSpPr txBox="1"/>
          <p:nvPr/>
        </p:nvSpPr>
        <p:spPr>
          <a:xfrm xmlns:a="http://schemas.openxmlformats.org/drawingml/2006/main">
            <a:off x="4651200" y="3834000"/>
            <a:ext cx="28872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Predictable regulation, English-language filing and a deep tax-treaty network.</a:t>
            </a:r>
          </a:p>
        </p:txBody>
      </p:sp>
      <p:sp>
        <p:nvSpPr>
          <p:cNvPr id="100082" name="!!#s5-card2"/>
          <p:cNvSpPr/>
          <p:nvPr/>
        </p:nvSpPr>
        <p:spPr>
          <a:xfrm xmlns:a="http://schemas.openxmlformats.org/drawingml/2006/main">
            <a:off x="81180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83" name="!!#s5-eye-c2"/>
          <p:cNvSpPr txBox="1"/>
          <p:nvPr/>
        </p:nvSpPr>
        <p:spPr>
          <a:xfrm xmlns:a="http://schemas.openxmlformats.org/drawingml/2006/main">
            <a:off x="8370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084" name="!!#s5-chead2"/>
          <p:cNvSpPr txBox="1"/>
          <p:nvPr/>
        </p:nvSpPr>
        <p:spPr>
          <a:xfrm xmlns:a="http://schemas.openxmlformats.org/drawingml/2006/main">
            <a:off x="83700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Investor-readable structure</a:t>
            </a:r>
          </a:p>
        </p:txBody>
      </p:sp>
      <p:sp>
        <p:nvSpPr>
          <p:cNvPr id="100085" name="!!#s5-cbody2"/>
          <p:cNvSpPr txBox="1"/>
          <p:nvPr/>
        </p:nvSpPr>
        <p:spPr>
          <a:xfrm xmlns:a="http://schemas.openxmlformats.org/drawingml/2006/main">
            <a:off x="8370000" y="3834000"/>
            <a:ext cx="28872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Funds underwrite a Singapore holdco faster than a purely Indian cap table.</a:t>
            </a:r>
          </a:p>
        </p:txBody>
      </p:sp>
      <p:sp>
        <p:nvSpPr>
          <p:cNvPr id="100086" name="!!#s5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087" name="!!#s5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05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0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000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074" grpId="0"/>
      <p:bldP spid="100076" grpId="1"/>
    </p:bldLst>
  </p:timing>
</p:sld>
</file>

<file path=ppt/slides/slide6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088" name="!!scene-orb-gold"/>
          <p:cNvSpPr/>
          <p:nvPr/>
        </p:nvSpPr>
        <p:spPr>
          <a:xfrm xmlns:a="http://schemas.openxmlformats.org/drawingml/2006/main">
            <a:off x="540000" y="2160000"/>
            <a:ext cx="4320000" cy="432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89" name="!!scene-orb-steel"/>
          <p:cNvSpPr/>
          <p:nvPr/>
        </p:nvSpPr>
        <p:spPr>
          <a:xfrm xmlns:a="http://schemas.openxmlformats.org/drawingml/2006/main">
            <a:off x="7560000" y="2880000"/>
            <a:ext cx="3780000" cy="378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90" name="!!scene-wash"/>
          <p:cNvSpPr/>
          <p:nvPr/>
        </p:nvSpPr>
        <p:spPr>
          <a:xfrm xmlns:a="http://schemas.openxmlformats.org/drawingml/2006/main">
            <a:off x="6840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91" name="!!scene-rule-navy"/>
          <p:cNvSpPr/>
          <p:nvPr/>
        </p:nvSpPr>
        <p:spPr>
          <a:xfrm xmlns:a="http://schemas.openxmlformats.org/drawingml/2006/main">
            <a:off x="11509200" y="2484000"/>
            <a:ext cx="18000" cy="30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92" name="!!scene-rule-gold"/>
          <p:cNvSpPr/>
          <p:nvPr/>
        </p:nvSpPr>
        <p:spPr>
          <a:xfrm xmlns:a="http://schemas.openxmlformats.org/drawingml/2006/main">
            <a:off x="684000" y="2052000"/>
            <a:ext cx="3240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93" name="!!scene-dot"/>
          <p:cNvSpPr/>
          <p:nvPr/>
        </p:nvSpPr>
        <p:spPr>
          <a:xfrm xmlns:a="http://schemas.openxmlformats.org/drawingml/2006/main">
            <a:off x="38772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94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95" name="!!#s6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SECTION 01 · WHY SINGAPORE</a:t>
            </a:r>
          </a:p>
        </p:txBody>
      </p:sp>
      <p:sp>
        <p:nvSpPr>
          <p:cNvPr id="100096" name="!!#s6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The cost of compliance</a:t>
            </a:r>
          </a:p>
        </p:txBody>
      </p:sp>
      <p:sp>
        <p:nvSpPr>
          <p:cNvPr id="100097" name="!!#s6-eye-c0"/>
          <p:cNvSpPr txBox="1"/>
          <p:nvPr/>
        </p:nvSpPr>
        <p:spPr>
          <a:xfrm xmlns:a="http://schemas.openxmlformats.org/drawingml/2006/main">
            <a:off x="936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098" name="!!#s6-chead0"/>
          <p:cNvSpPr txBox="1"/>
          <p:nvPr/>
        </p:nvSpPr>
        <p:spPr>
          <a:xfrm xmlns:a="http://schemas.openxmlformats.org/drawingml/2006/main">
            <a:off x="9360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A local hire is a fixed cost</a:t>
            </a:r>
          </a:p>
        </p:txBody>
      </p:sp>
      <p:sp>
        <p:nvSpPr>
          <p:cNvPr id="100099" name="!!#s6-cbody0"/>
          <p:cNvSpPr txBox="1"/>
          <p:nvPr/>
        </p:nvSpPr>
        <p:spPr>
          <a:xfrm xmlns:a="http://schemas.openxmlformats.org/drawingml/2006/main">
            <a:off x="936000" y="3834000"/>
            <a:ext cx="2887200" cy="15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Closing books, filing GST and signing ACRA returns commands a senior Singapore salary.</a:t>
            </a:r>
          </a:p>
        </p:txBody>
      </p:sp>
      <p:sp>
        <p:nvSpPr>
          <p:cNvPr id="100100" name="!!#s6-card1"/>
          <p:cNvSpPr/>
          <p:nvPr/>
        </p:nvSpPr>
        <p:spPr>
          <a:xfrm xmlns:a="http://schemas.openxmlformats.org/drawingml/2006/main">
            <a:off x="43992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01" name="!!#s6-eye-c1"/>
          <p:cNvSpPr txBox="1"/>
          <p:nvPr/>
        </p:nvSpPr>
        <p:spPr>
          <a:xfrm xmlns:a="http://schemas.openxmlformats.org/drawingml/2006/main">
            <a:off x="46512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102" name="!!#s6-chead1"/>
          <p:cNvSpPr txBox="1"/>
          <p:nvPr/>
        </p:nvSpPr>
        <p:spPr>
          <a:xfrm xmlns:a="http://schemas.openxmlformats.org/drawingml/2006/main">
            <a:off x="46512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A CFO is out of reach</a:t>
            </a:r>
          </a:p>
        </p:txBody>
      </p:sp>
      <p:sp>
        <p:nvSpPr>
          <p:cNvPr id="100103" name="!!#s6-cbody1"/>
          <p:cNvSpPr txBox="1"/>
          <p:nvPr/>
        </p:nvSpPr>
        <p:spPr>
          <a:xfrm xmlns:a="http://schemas.openxmlformats.org/drawingml/2006/main">
            <a:off x="4651200" y="3834000"/>
            <a:ext cx="2887200" cy="15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At this stage a full-time CFO is not a hiring decision. It is a decision to go without one.</a:t>
            </a:r>
          </a:p>
        </p:txBody>
      </p:sp>
      <p:sp>
        <p:nvSpPr>
          <p:cNvPr id="100104" name="!!#s6-card2"/>
          <p:cNvSpPr/>
          <p:nvPr/>
        </p:nvSpPr>
        <p:spPr>
          <a:xfrm xmlns:a="http://schemas.openxmlformats.org/drawingml/2006/main">
            <a:off x="81180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05" name="!!#s6-eye-c2"/>
          <p:cNvSpPr txBox="1"/>
          <p:nvPr/>
        </p:nvSpPr>
        <p:spPr>
          <a:xfrm xmlns:a="http://schemas.openxmlformats.org/drawingml/2006/main">
            <a:off x="8370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106" name="!!#s6-chead2"/>
          <p:cNvSpPr txBox="1"/>
          <p:nvPr/>
        </p:nvSpPr>
        <p:spPr>
          <a:xfrm xmlns:a="http://schemas.openxmlformats.org/drawingml/2006/main">
            <a:off x="83700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The work does not scale down</a:t>
            </a:r>
          </a:p>
        </p:txBody>
      </p:sp>
      <p:sp>
        <p:nvSpPr>
          <p:cNvPr id="100107" name="!!#s6-cbody2"/>
          <p:cNvSpPr txBox="1"/>
          <p:nvPr/>
        </p:nvSpPr>
        <p:spPr>
          <a:xfrm xmlns:a="http://schemas.openxmlformats.org/drawingml/2006/main">
            <a:off x="8370000" y="3834000"/>
            <a:ext cx="2887200" cy="15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Obligations are the same for a five-person entity as for a fifty-person one. So is the risk.</a:t>
            </a:r>
          </a:p>
        </p:txBody>
      </p:sp>
      <p:sp>
        <p:nvSpPr>
          <p:cNvPr id="100108" name="!!#s6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109" name="!!#s6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06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0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00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096" grpId="0"/>
      <p:bldP spid="100098" grpId="1"/>
    </p:bldLst>
  </p:timing>
</p:sld>
</file>

<file path=ppt/slides/slide7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110" name="!!scene-orb-gold"/>
          <p:cNvSpPr/>
          <p:nvPr/>
        </p:nvSpPr>
        <p:spPr>
          <a:xfrm xmlns:a="http://schemas.openxmlformats.org/drawingml/2006/main">
            <a:off x="7380000" y="1800000"/>
            <a:ext cx="4500000" cy="450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11" name="!!scene-orb-steel"/>
          <p:cNvSpPr/>
          <p:nvPr/>
        </p:nvSpPr>
        <p:spPr>
          <a:xfrm xmlns:a="http://schemas.openxmlformats.org/drawingml/2006/main">
            <a:off x="1260000" y="540000"/>
            <a:ext cx="3240000" cy="324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12" name="!!scene-wash"/>
          <p:cNvSpPr/>
          <p:nvPr/>
        </p:nvSpPr>
        <p:spPr>
          <a:xfrm xmlns:a="http://schemas.openxmlformats.org/drawingml/2006/main">
            <a:off x="0" y="0"/>
            <a:ext cx="12193200" cy="93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13" name="!!scene-rule-navy"/>
          <p:cNvSpPr/>
          <p:nvPr/>
        </p:nvSpPr>
        <p:spPr>
          <a:xfrm xmlns:a="http://schemas.openxmlformats.org/drawingml/2006/main">
            <a:off x="11509200" y="1080000"/>
            <a:ext cx="18000" cy="28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14" name="!!scene-rule-gold"/>
          <p:cNvSpPr/>
          <p:nvPr/>
        </p:nvSpPr>
        <p:spPr>
          <a:xfrm xmlns:a="http://schemas.openxmlformats.org/drawingml/2006/main">
            <a:off x="684000" y="4752000"/>
            <a:ext cx="8640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15" name="!!scene-dot"/>
          <p:cNvSpPr/>
          <p:nvPr/>
        </p:nvSpPr>
        <p:spPr>
          <a:xfrm xmlns:a="http://schemas.openxmlformats.org/drawingml/2006/main">
            <a:off x="9277200" y="47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16" name="!!#s7-topbar"/>
          <p:cNvSpPr txBox="1"/>
          <p:nvPr/>
        </p:nvSpPr>
        <p:spPr>
          <a:xfrm xmlns:a="http://schemas.openxmlformats.org/drawingml/2006/main">
            <a:off x="684000" y="342000"/>
            <a:ext cx="864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00" spc="20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117" name="!!#s7-num"/>
          <p:cNvSpPr txBox="1"/>
          <p:nvPr/>
        </p:nvSpPr>
        <p:spPr>
          <a:xfrm xmlns:a="http://schemas.openxmlformats.org/drawingml/2006/main">
            <a:off x="684000" y="1872000"/>
            <a:ext cx="2160000" cy="15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9600" b="1">
                <a:solidFill>
                  <a:srgbClr val="C9A84C"/>
                </a:solidFill>
                <a:latin typeface="Georgia"/>
                <a:ea typeface="Georgia"/>
              </a:rPr>
              <a:t>02</a:t>
            </a:r>
          </a:p>
        </p:txBody>
      </p:sp>
      <p:sp>
        <p:nvSpPr>
          <p:cNvPr id="100118" name="!!#s7-title"/>
          <p:cNvSpPr txBox="1"/>
          <p:nvPr/>
        </p:nvSpPr>
        <p:spPr>
          <a:xfrm xmlns:a="http://schemas.openxmlformats.org/drawingml/2006/main">
            <a:off x="684000" y="3564000"/>
            <a:ext cx="1008000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5200" b="1">
                <a:solidFill>
                  <a:srgbClr val="F5F4F2"/>
                </a:solidFill>
                <a:latin typeface="Georgia"/>
                <a:ea typeface="Georgia"/>
              </a:rPr>
              <a:t>Where TaxWise comes in</a:t>
            </a:r>
          </a:p>
        </p:txBody>
      </p:sp>
      <p:sp>
        <p:nvSpPr>
          <p:cNvPr id="100119" name="!!#s7-strap"/>
          <p:cNvSpPr txBox="1"/>
          <p:nvPr/>
        </p:nvSpPr>
        <p:spPr>
          <a:xfrm xmlns:a="http://schemas.openxmlformats.org/drawingml/2006/main">
            <a:off x="684000" y="5004000"/>
            <a:ext cx="936000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2000">
                <a:solidFill>
                  <a:srgbClr val="8A9BBF"/>
                </a:solidFill>
                <a:latin typeface="Arial"/>
                <a:ea typeface="Arial"/>
              </a:rPr>
              <a:t>We take the whole finance function — books, filings and the CFO seat — and run it from India, for Singapore.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0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118" grpId="0"/>
      <p:bldP spid="100117" grpId="1"/>
    </p:bldLst>
  </p:timing>
</p:sld>
</file>

<file path=ppt/slides/slide8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120" name="!!scene-orb-gold"/>
          <p:cNvSpPr/>
          <p:nvPr/>
        </p:nvSpPr>
        <p:spPr>
          <a:xfrm xmlns:a="http://schemas.openxmlformats.org/drawingml/2006/main">
            <a:off x="8460000" y="288000"/>
            <a:ext cx="3420000" cy="342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21" name="!!scene-orb-steel"/>
          <p:cNvSpPr/>
          <p:nvPr/>
        </p:nvSpPr>
        <p:spPr>
          <a:xfrm xmlns:a="http://schemas.openxmlformats.org/drawingml/2006/main">
            <a:off x="612000" y="3420000"/>
            <a:ext cx="3060000" cy="306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22" name="!!scene-wash"/>
          <p:cNvSpPr/>
          <p:nvPr/>
        </p:nvSpPr>
        <p:spPr>
          <a:xfrm xmlns:a="http://schemas.openxmlformats.org/drawingml/2006/main">
            <a:off x="684000" y="2448000"/>
            <a:ext cx="10825200" cy="6876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23" name="!!scene-rule-navy"/>
          <p:cNvSpPr/>
          <p:nvPr/>
        </p:nvSpPr>
        <p:spPr>
          <a:xfrm xmlns:a="http://schemas.openxmlformats.org/drawingml/2006/main">
            <a:off x="11509200" y="5742000"/>
            <a:ext cx="18000" cy="3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24" name="!!scene-rule-gold"/>
          <p:cNvSpPr/>
          <p:nvPr/>
        </p:nvSpPr>
        <p:spPr>
          <a:xfrm xmlns:a="http://schemas.openxmlformats.org/drawingml/2006/main">
            <a:off x="684000" y="2052000"/>
            <a:ext cx="108252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25" name="!!scene-dot"/>
          <p:cNvSpPr/>
          <p:nvPr/>
        </p:nvSpPr>
        <p:spPr>
          <a:xfrm xmlns:a="http://schemas.openxmlformats.org/drawingml/2006/main">
            <a:off x="114624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26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27" name="!!#s8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SECTION 02 · WHERE TAXWISE COMES IN</a:t>
            </a:r>
          </a:p>
        </p:txBody>
      </p:sp>
      <p:sp>
        <p:nvSpPr>
          <p:cNvPr id="100128" name="!!#s8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The compliance stack</a:t>
            </a:r>
          </a:p>
        </p:txBody>
      </p:sp>
      <p:sp>
        <p:nvSpPr>
          <p:cNvPr id="100129" name="!!#s8-chip0"/>
          <p:cNvSpPr/>
          <p:nvPr/>
        </p:nvSpPr>
        <p:spPr>
          <a:xfrm xmlns:a="http://schemas.openxmlformats.org/drawingml/2006/main">
            <a:off x="900000" y="2574000"/>
            <a:ext cx="612000" cy="432000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A84C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200" b="1">
                <a:solidFill>
                  <a:srgbClr val="C9A84C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130" name="!!#s8-shead0"/>
          <p:cNvSpPr txBox="1"/>
          <p:nvPr/>
        </p:nvSpPr>
        <p:spPr>
          <a:xfrm xmlns:a="http://schemas.openxmlformats.org/drawingml/2006/main">
            <a:off x="1764000" y="2448000"/>
            <a:ext cx="2880000" cy="6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2000" b="1">
                <a:solidFill>
                  <a:srgbClr val="F5F4F2"/>
                </a:solidFill>
                <a:latin typeface="Georgia"/>
                <a:ea typeface="Georgia"/>
              </a:rPr>
              <a:t>Bookkeeping &amp; accounting</a:t>
            </a:r>
          </a:p>
        </p:txBody>
      </p:sp>
      <p:sp>
        <p:nvSpPr>
          <p:cNvPr id="100131" name="!!#s8-sbody0"/>
          <p:cNvSpPr txBox="1"/>
          <p:nvPr/>
        </p:nvSpPr>
        <p:spPr>
          <a:xfrm xmlns:a="http://schemas.openxmlformats.org/drawingml/2006/main">
            <a:off x="4752000" y="2448000"/>
            <a:ext cx="6757200" cy="6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Day-to-day ledgers, reconciliations, management accounts and the year-end close.</a:t>
            </a:r>
          </a:p>
        </p:txBody>
      </p:sp>
      <p:sp>
        <p:nvSpPr>
          <p:cNvPr id="100132" name="!!#s8-row1"/>
          <p:cNvSpPr/>
          <p:nvPr/>
        </p:nvSpPr>
        <p:spPr>
          <a:xfrm xmlns:a="http://schemas.openxmlformats.org/drawingml/2006/main">
            <a:off x="684000" y="3297600"/>
            <a:ext cx="10825200" cy="6876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33" name="!!#s8-chip1"/>
          <p:cNvSpPr/>
          <p:nvPr/>
        </p:nvSpPr>
        <p:spPr>
          <a:xfrm xmlns:a="http://schemas.openxmlformats.org/drawingml/2006/main">
            <a:off x="900000" y="3423600"/>
            <a:ext cx="612000" cy="432000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A84C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200" b="1">
                <a:solidFill>
                  <a:srgbClr val="C9A84C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134" name="!!#s8-shead1"/>
          <p:cNvSpPr txBox="1"/>
          <p:nvPr/>
        </p:nvSpPr>
        <p:spPr>
          <a:xfrm xmlns:a="http://schemas.openxmlformats.org/drawingml/2006/main">
            <a:off x="1764000" y="3297600"/>
            <a:ext cx="2880000" cy="6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2000" b="1">
                <a:solidFill>
                  <a:srgbClr val="F5F4F2"/>
                </a:solidFill>
                <a:latin typeface="Georgia"/>
                <a:ea typeface="Georgia"/>
              </a:rPr>
              <a:t>GST</a:t>
            </a:r>
          </a:p>
        </p:txBody>
      </p:sp>
      <p:sp>
        <p:nvSpPr>
          <p:cNvPr id="100135" name="!!#s8-sbody1"/>
          <p:cNvSpPr txBox="1"/>
          <p:nvPr/>
        </p:nvSpPr>
        <p:spPr>
          <a:xfrm xmlns:a="http://schemas.openxmlformats.org/drawingml/2006/main">
            <a:off x="4752000" y="3297600"/>
            <a:ext cx="6757200" cy="6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Registration, quarterly Form F5 returns and input-tax review.</a:t>
            </a:r>
          </a:p>
        </p:txBody>
      </p:sp>
      <p:sp>
        <p:nvSpPr>
          <p:cNvPr id="100136" name="!!#s8-row2"/>
          <p:cNvSpPr/>
          <p:nvPr/>
        </p:nvSpPr>
        <p:spPr>
          <a:xfrm xmlns:a="http://schemas.openxmlformats.org/drawingml/2006/main">
            <a:off x="684000" y="4147200"/>
            <a:ext cx="10825200" cy="6876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37" name="!!#s8-chip2"/>
          <p:cNvSpPr/>
          <p:nvPr/>
        </p:nvSpPr>
        <p:spPr>
          <a:xfrm xmlns:a="http://schemas.openxmlformats.org/drawingml/2006/main">
            <a:off x="900000" y="4273200"/>
            <a:ext cx="612000" cy="432000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A84C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200" b="1">
                <a:solidFill>
                  <a:srgbClr val="C9A84C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138" name="!!#s8-shead2"/>
          <p:cNvSpPr txBox="1"/>
          <p:nvPr/>
        </p:nvSpPr>
        <p:spPr>
          <a:xfrm xmlns:a="http://schemas.openxmlformats.org/drawingml/2006/main">
            <a:off x="1764000" y="4147200"/>
            <a:ext cx="2880000" cy="6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2000" b="1">
                <a:solidFill>
                  <a:srgbClr val="F5F4F2"/>
                </a:solidFill>
                <a:latin typeface="Georgia"/>
                <a:ea typeface="Georgia"/>
              </a:rPr>
              <a:t>Income tax</a:t>
            </a:r>
          </a:p>
        </p:txBody>
      </p:sp>
      <p:sp>
        <p:nvSpPr>
          <p:cNvPr id="100139" name="!!#s8-sbody2"/>
          <p:cNvSpPr txBox="1"/>
          <p:nvPr/>
        </p:nvSpPr>
        <p:spPr>
          <a:xfrm xmlns:a="http://schemas.openxmlformats.org/drawingml/2006/main">
            <a:off x="4752000" y="4147200"/>
            <a:ext cx="6757200" cy="6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ECI, Form C-S or Form C, and withholding tax on cross-border payments.</a:t>
            </a:r>
          </a:p>
        </p:txBody>
      </p:sp>
      <p:sp>
        <p:nvSpPr>
          <p:cNvPr id="100140" name="!!#s8-row3"/>
          <p:cNvSpPr/>
          <p:nvPr/>
        </p:nvSpPr>
        <p:spPr>
          <a:xfrm xmlns:a="http://schemas.openxmlformats.org/drawingml/2006/main">
            <a:off x="684000" y="4996800"/>
            <a:ext cx="10825200" cy="6876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41" name="!!#s8-chip3"/>
          <p:cNvSpPr/>
          <p:nvPr/>
        </p:nvSpPr>
        <p:spPr>
          <a:xfrm xmlns:a="http://schemas.openxmlformats.org/drawingml/2006/main">
            <a:off x="900000" y="5122800"/>
            <a:ext cx="612000" cy="432000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A84C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200" b="1">
                <a:solidFill>
                  <a:srgbClr val="C9A84C"/>
                </a:solidFill>
                <a:latin typeface="Arial"/>
                <a:ea typeface="Arial"/>
              </a:rPr>
              <a:t>04</a:t>
            </a:r>
          </a:p>
        </p:txBody>
      </p:sp>
      <p:sp>
        <p:nvSpPr>
          <p:cNvPr id="100142" name="!!#s8-shead3"/>
          <p:cNvSpPr txBox="1"/>
          <p:nvPr/>
        </p:nvSpPr>
        <p:spPr>
          <a:xfrm xmlns:a="http://schemas.openxmlformats.org/drawingml/2006/main">
            <a:off x="1764000" y="4996800"/>
            <a:ext cx="2880000" cy="6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2000" b="1">
                <a:solidFill>
                  <a:srgbClr val="F5F4F2"/>
                </a:solidFill>
                <a:latin typeface="Georgia"/>
                <a:ea typeface="Georgia"/>
              </a:rPr>
              <a:t>ACRA</a:t>
            </a:r>
          </a:p>
        </p:txBody>
      </p:sp>
      <p:sp>
        <p:nvSpPr>
          <p:cNvPr id="100143" name="!!#s8-sbody3"/>
          <p:cNvSpPr txBox="1"/>
          <p:nvPr/>
        </p:nvSpPr>
        <p:spPr>
          <a:xfrm xmlns:a="http://schemas.openxmlformats.org/drawingml/2006/main">
            <a:off x="4752000" y="4996800"/>
            <a:ext cx="6757200" cy="6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Annual Return, XBRL financial statements, statutory registers and resolutions.</a:t>
            </a:r>
          </a:p>
        </p:txBody>
      </p:sp>
      <p:cxnSp>
        <p:nvCxnSpPr>
          <p:cNvPr id="100144" name="Connector 1"/>
          <p:cNvCxnSpPr>
            <a:stCxn xmlns:a="http://schemas.openxmlformats.org/drawingml/2006/main" id="100129" idx="0"/>
            <a:endCxn xmlns:a="http://schemas.openxmlformats.org/drawingml/2006/main" id="100133" idx="0"/>
          </p:cNvCxnSpPr>
          <p:nvPr/>
        </p:nvCxnSpPr>
        <p:spPr>
          <a:xfrm xmlns:a="http://schemas.openxmlformats.org/drawingml/2006/main">
            <a:off x="1206000" y="3006000"/>
            <a:ext cx="0" cy="41760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C9A84C"/>
            </a:solidFill>
            <a:tailEnd type="triangle"/>
          </a:ln>
        </p:spPr>
      </p:cxnSp>
      <p:cxnSp>
        <p:nvCxnSpPr>
          <p:cNvPr id="100145" name="Connector 2"/>
          <p:cNvCxnSpPr>
            <a:stCxn xmlns:a="http://schemas.openxmlformats.org/drawingml/2006/main" id="100133" idx="0"/>
            <a:endCxn xmlns:a="http://schemas.openxmlformats.org/drawingml/2006/main" id="100137" idx="0"/>
          </p:cNvCxnSpPr>
          <p:nvPr/>
        </p:nvCxnSpPr>
        <p:spPr>
          <a:xfrm xmlns:a="http://schemas.openxmlformats.org/drawingml/2006/main">
            <a:off x="1206000" y="3855600"/>
            <a:ext cx="0" cy="41760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C9A84C"/>
            </a:solidFill>
            <a:tailEnd type="triangle"/>
          </a:ln>
        </p:spPr>
      </p:cxnSp>
      <p:cxnSp>
        <p:nvCxnSpPr>
          <p:cNvPr id="100146" name="Connector 3"/>
          <p:cNvCxnSpPr>
            <a:stCxn xmlns:a="http://schemas.openxmlformats.org/drawingml/2006/main" id="100137" idx="0"/>
            <a:endCxn xmlns:a="http://schemas.openxmlformats.org/drawingml/2006/main" id="100141" idx="0"/>
          </p:cNvCxnSpPr>
          <p:nvPr/>
        </p:nvCxnSpPr>
        <p:spPr>
          <a:xfrm xmlns:a="http://schemas.openxmlformats.org/drawingml/2006/main">
            <a:off x="1206000" y="4705200"/>
            <a:ext cx="0" cy="41760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C9A84C"/>
            </a:solidFill>
            <a:tailEnd type="triangle"/>
          </a:ln>
        </p:spPr>
      </p:cxnSp>
      <p:sp>
        <p:nvSpPr>
          <p:cNvPr id="100147" name="!!#s8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148" name="!!#s8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08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00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128" grpId="0"/>
      <p:bldP spid="100130" grpId="1"/>
    </p:bldLst>
  </p:timing>
</p:sld>
</file>

<file path=ppt/slides/slide9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149" name="!!scene-orb-gold"/>
          <p:cNvSpPr/>
          <p:nvPr/>
        </p:nvSpPr>
        <p:spPr>
          <a:xfrm xmlns:a="http://schemas.openxmlformats.org/drawingml/2006/main">
            <a:off x="6480000" y="1620000"/>
            <a:ext cx="5040000" cy="504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50" name="!!scene-orb-steel"/>
          <p:cNvSpPr/>
          <p:nvPr/>
        </p:nvSpPr>
        <p:spPr>
          <a:xfrm xmlns:a="http://schemas.openxmlformats.org/drawingml/2006/main">
            <a:off x="720000" y="720000"/>
            <a:ext cx="3240000" cy="324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51" name="!!scene-wash"/>
          <p:cNvSpPr/>
          <p:nvPr/>
        </p:nvSpPr>
        <p:spPr>
          <a:xfrm xmlns:a="http://schemas.openxmlformats.org/drawingml/2006/main">
            <a:off x="684000" y="2448000"/>
            <a:ext cx="51840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52" name="!!scene-rule-navy"/>
          <p:cNvSpPr/>
          <p:nvPr/>
        </p:nvSpPr>
        <p:spPr>
          <a:xfrm xmlns:a="http://schemas.openxmlformats.org/drawingml/2006/main">
            <a:off x="5904000" y="2484000"/>
            <a:ext cx="18000" cy="30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53" name="!!scene-rule-gold"/>
          <p:cNvSpPr/>
          <p:nvPr/>
        </p:nvSpPr>
        <p:spPr>
          <a:xfrm xmlns:a="http://schemas.openxmlformats.org/drawingml/2006/main">
            <a:off x="684000" y="2052000"/>
            <a:ext cx="518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54" name="!!scene-dot"/>
          <p:cNvSpPr/>
          <p:nvPr/>
        </p:nvSpPr>
        <p:spPr>
          <a:xfrm xmlns:a="http://schemas.openxmlformats.org/drawingml/2006/main">
            <a:off x="58212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55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56" name="!!#s9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SECTION 02 · WHERE TAXWISE COMES IN</a:t>
            </a:r>
          </a:p>
        </p:txBody>
      </p:sp>
      <p:sp>
        <p:nvSpPr>
          <p:cNvPr id="100157" name="!!#s9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Roughly half the cost</a:t>
            </a:r>
          </a:p>
        </p:txBody>
      </p:sp>
      <p:sp>
        <p:nvSpPr>
          <p:cNvPr id="100158" name="!!#s9-eye-diff"/>
          <p:cNvSpPr txBox="1"/>
          <p:nvPr/>
        </p:nvSpPr>
        <p:spPr>
          <a:xfrm xmlns:a="http://schemas.openxmlformats.org/drawingml/2006/main">
            <a:off x="936000" y="2574000"/>
            <a:ext cx="468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THE DIFFERENCE</a:t>
            </a:r>
          </a:p>
        </p:txBody>
      </p:sp>
      <p:sp>
        <p:nvSpPr>
          <p:cNvPr id="100159" name="!!#s9-figure"/>
          <p:cNvSpPr txBox="1"/>
          <p:nvPr/>
        </p:nvSpPr>
        <p:spPr>
          <a:xfrm xmlns:a="http://schemas.openxmlformats.org/drawingml/2006/main">
            <a:off x="936000" y="2862000"/>
            <a:ext cx="4680000" cy="23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5000" b="1">
                <a:solidFill>
                  <a:srgbClr val="E8C97A"/>
                </a:solidFill>
                <a:latin typeface="Georgia"/>
                <a:ea typeface="Georgia"/>
              </a:rPr>
              <a:t>50%</a:t>
            </a:r>
          </a:p>
        </p:txBody>
      </p:sp>
      <p:sp>
        <p:nvSpPr>
          <p:cNvPr id="100160" name="!!#s9-figsub"/>
          <p:cNvSpPr txBox="1"/>
          <p:nvPr/>
        </p:nvSpPr>
        <p:spPr>
          <a:xfrm xmlns:a="http://schemas.openxmlformats.org/drawingml/2006/main">
            <a:off x="936000" y="5220000"/>
            <a:ext cx="468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Less than comparable local cost</a:t>
            </a:r>
          </a:p>
        </p:txBody>
      </p:sp>
      <p:sp>
        <p:nvSpPr>
          <p:cNvPr id="100161" name="!!#s9-lead"/>
          <p:cNvSpPr txBox="1"/>
          <p:nvPr/>
        </p:nvSpPr>
        <p:spPr>
          <a:xfrm xmlns:a="http://schemas.openxmlformats.org/drawingml/2006/main">
            <a:off x="6325200" y="2448000"/>
            <a:ext cx="5184000" cy="13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900">
                <a:solidFill>
                  <a:srgbClr val="8A9BBF"/>
                </a:solidFill>
                <a:latin typeface="Arial"/>
                <a:ea typeface="Arial"/>
              </a:rPr>
              <a:t>Prepared by our team in Bangalore, reviewed by a Singapore-qualified CA before filing. The difference is structural, not a discount.</a:t>
            </a:r>
          </a:p>
        </p:txBody>
      </p:sp>
      <p:sp>
        <p:nvSpPr>
          <p:cNvPr id="100162" name="!!#s9-dash0"/>
          <p:cNvSpPr/>
          <p:nvPr/>
        </p:nvSpPr>
        <p:spPr>
          <a:xfrm xmlns:a="http://schemas.openxmlformats.org/drawingml/2006/main">
            <a:off x="6325200" y="4078800"/>
            <a:ext cx="32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63" name="!!#s9-chip0"/>
          <p:cNvSpPr txBox="1"/>
          <p:nvPr/>
        </p:nvSpPr>
        <p:spPr>
          <a:xfrm xmlns:a="http://schemas.openxmlformats.org/drawingml/2006/main">
            <a:off x="6840000" y="3942000"/>
            <a:ext cx="46692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Prepared in Bangalore by a 30-person team.</a:t>
            </a:r>
          </a:p>
        </p:txBody>
      </p:sp>
      <p:sp>
        <p:nvSpPr>
          <p:cNvPr id="100164" name="!!#s9-dash1"/>
          <p:cNvSpPr/>
          <p:nvPr/>
        </p:nvSpPr>
        <p:spPr>
          <a:xfrm xmlns:a="http://schemas.openxmlformats.org/drawingml/2006/main">
            <a:off x="6325200" y="4780800"/>
            <a:ext cx="32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65" name="!!#s9-chip1"/>
          <p:cNvSpPr txBox="1"/>
          <p:nvPr/>
        </p:nvSpPr>
        <p:spPr>
          <a:xfrm xmlns:a="http://schemas.openxmlformats.org/drawingml/2006/main">
            <a:off x="6840000" y="4644000"/>
            <a:ext cx="46692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Reviewed and signed off by a Singapore CA.</a:t>
            </a:r>
          </a:p>
        </p:txBody>
      </p:sp>
      <p:sp>
        <p:nvSpPr>
          <p:cNvPr id="100166" name="!!#s9-dash2"/>
          <p:cNvSpPr/>
          <p:nvPr/>
        </p:nvSpPr>
        <p:spPr>
          <a:xfrm xmlns:a="http://schemas.openxmlformats.org/drawingml/2006/main">
            <a:off x="6325200" y="5482800"/>
            <a:ext cx="32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67" name="!!#s9-chip2"/>
          <p:cNvSpPr txBox="1"/>
          <p:nvPr/>
        </p:nvSpPr>
        <p:spPr>
          <a:xfrm xmlns:a="http://schemas.openxmlformats.org/drawingml/2006/main">
            <a:off x="6840000" y="5346000"/>
            <a:ext cx="46692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No salary, CPF, software or recruitment cost.</a:t>
            </a:r>
          </a:p>
        </p:txBody>
      </p:sp>
      <p:sp>
        <p:nvSpPr>
          <p:cNvPr id="100168" name="!!#s9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169" name="!!#s9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09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1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 zoomContents="1">
                                      <p:cBhvr>
                                        <p:cTn id="11" dur="550" fill="hold"/>
                                        <p:tgtEl>
                                          <p:spTgt spid="100159"/>
                                        </p:tgtEl>
                                      </p:cBhvr>
                                      <p:from x="0" y="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157" grpId="0"/>
      <p:bldP spid="100159" grpId="1"/>
    </p:bldLst>
  </p:timing>
</p:sld>
</file>

<file path=ppt/slides/slide10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170" name="!!scene-orb-gold"/>
          <p:cNvSpPr/>
          <p:nvPr/>
        </p:nvSpPr>
        <p:spPr>
          <a:xfrm xmlns:a="http://schemas.openxmlformats.org/drawingml/2006/main">
            <a:off x="720000" y="1080000"/>
            <a:ext cx="4680000" cy="468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71" name="!!scene-orb-steel"/>
          <p:cNvSpPr/>
          <p:nvPr/>
        </p:nvSpPr>
        <p:spPr>
          <a:xfrm xmlns:a="http://schemas.openxmlformats.org/drawingml/2006/main">
            <a:off x="7920000" y="2880000"/>
            <a:ext cx="3600000" cy="360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72" name="!!scene-wash"/>
          <p:cNvSpPr/>
          <p:nvPr/>
        </p:nvSpPr>
        <p:spPr>
          <a:xfrm xmlns:a="http://schemas.openxmlformats.org/drawingml/2006/main">
            <a:off x="0" y="0"/>
            <a:ext cx="12193200" cy="93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73" name="!!scene-rule-navy"/>
          <p:cNvSpPr/>
          <p:nvPr/>
        </p:nvSpPr>
        <p:spPr>
          <a:xfrm xmlns:a="http://schemas.openxmlformats.org/drawingml/2006/main">
            <a:off x="11509200" y="1080000"/>
            <a:ext cx="18000" cy="28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74" name="!!scene-rule-gold"/>
          <p:cNvSpPr/>
          <p:nvPr/>
        </p:nvSpPr>
        <p:spPr>
          <a:xfrm xmlns:a="http://schemas.openxmlformats.org/drawingml/2006/main">
            <a:off x="684000" y="4752000"/>
            <a:ext cx="4320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75" name="!!scene-dot"/>
          <p:cNvSpPr/>
          <p:nvPr/>
        </p:nvSpPr>
        <p:spPr>
          <a:xfrm xmlns:a="http://schemas.openxmlformats.org/drawingml/2006/main">
            <a:off x="4957200" y="47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76" name="!!#s10-topbar"/>
          <p:cNvSpPr txBox="1"/>
          <p:nvPr/>
        </p:nvSpPr>
        <p:spPr>
          <a:xfrm xmlns:a="http://schemas.openxmlformats.org/drawingml/2006/main">
            <a:off x="684000" y="342000"/>
            <a:ext cx="864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00" spc="20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177" name="!!#s10-num"/>
          <p:cNvSpPr txBox="1"/>
          <p:nvPr/>
        </p:nvSpPr>
        <p:spPr>
          <a:xfrm xmlns:a="http://schemas.openxmlformats.org/drawingml/2006/main">
            <a:off x="684000" y="1872000"/>
            <a:ext cx="2160000" cy="15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9600" b="1">
                <a:solidFill>
                  <a:srgbClr val="C9A84C"/>
                </a:solidFill>
                <a:latin typeface="Georgia"/>
                <a:ea typeface="Georgia"/>
              </a:rPr>
              <a:t>03</a:t>
            </a:r>
          </a:p>
        </p:txBody>
      </p:sp>
      <p:sp>
        <p:nvSpPr>
          <p:cNvPr id="100178" name="!!#s10-title"/>
          <p:cNvSpPr txBox="1"/>
          <p:nvPr/>
        </p:nvSpPr>
        <p:spPr>
          <a:xfrm xmlns:a="http://schemas.openxmlformats.org/drawingml/2006/main">
            <a:off x="684000" y="3564000"/>
            <a:ext cx="1008000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5200" b="1">
                <a:solidFill>
                  <a:srgbClr val="F5F4F2"/>
                </a:solidFill>
                <a:latin typeface="Georgia"/>
                <a:ea typeface="Georgia"/>
              </a:rPr>
              <a:t>Across the corridor</a:t>
            </a:r>
          </a:p>
        </p:txBody>
      </p:sp>
      <p:sp>
        <p:nvSpPr>
          <p:cNvPr id="100179" name="!!#s10-strap"/>
          <p:cNvSpPr txBox="1"/>
          <p:nvPr/>
        </p:nvSpPr>
        <p:spPr>
          <a:xfrm xmlns:a="http://schemas.openxmlformats.org/drawingml/2006/main">
            <a:off x="684000" y="5004000"/>
            <a:ext cx="936000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2000">
                <a:solidFill>
                  <a:srgbClr val="8A9BBF"/>
                </a:solidFill>
                <a:latin typeface="Arial"/>
                <a:ea typeface="Arial"/>
              </a:rPr>
              <a:t>Most of our clients are not choosing between India and Singapore. They are operating in both.</a:t>
            </a:r>
          </a:p>
        </p:txBody>
      </p:sp>
      <p:sp>
        <p:nvSpPr>
          <p:cNvPr id="100180" name="!!actor-corridor"/>
          <p:cNvSpPr/>
          <p:nvPr/>
        </p:nvSpPr>
        <p:spPr>
          <a:xfrm xmlns:a="http://schemas.openxmlformats.org/drawingml/2006/main">
            <a:off x="4658400" y="3096000"/>
            <a:ext cx="28800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0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178" grpId="0"/>
      <p:bldP spid="100177" grpId="1"/>
    </p:bldLst>
  </p:timing>
</p:sld>
</file>

<file path=ppt/slides/slide11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181" name="!!scene-orb-gold"/>
          <p:cNvSpPr/>
          <p:nvPr/>
        </p:nvSpPr>
        <p:spPr>
          <a:xfrm xmlns:a="http://schemas.openxmlformats.org/drawingml/2006/main">
            <a:off x="4500000" y="360000"/>
            <a:ext cx="3240000" cy="324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82" name="!!scene-orb-steel"/>
          <p:cNvSpPr/>
          <p:nvPr/>
        </p:nvSpPr>
        <p:spPr>
          <a:xfrm xmlns:a="http://schemas.openxmlformats.org/drawingml/2006/main">
            <a:off x="8820000" y="3420000"/>
            <a:ext cx="3060000" cy="306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83" name="!!scene-wash"/>
          <p:cNvSpPr/>
          <p:nvPr/>
        </p:nvSpPr>
        <p:spPr>
          <a:xfrm xmlns:a="http://schemas.openxmlformats.org/drawingml/2006/main">
            <a:off x="684000" y="2412000"/>
            <a:ext cx="5184000" cy="2052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84" name="!!scene-rule-navy"/>
          <p:cNvSpPr/>
          <p:nvPr/>
        </p:nvSpPr>
        <p:spPr>
          <a:xfrm xmlns:a="http://schemas.openxmlformats.org/drawingml/2006/main">
            <a:off x="6094800" y="2664000"/>
            <a:ext cx="18000" cy="50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85" name="!!scene-rule-gold"/>
          <p:cNvSpPr/>
          <p:nvPr/>
        </p:nvSpPr>
        <p:spPr>
          <a:xfrm xmlns:a="http://schemas.openxmlformats.org/drawingml/2006/main">
            <a:off x="684000" y="2052000"/>
            <a:ext cx="108252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86" name="!!scene-dot"/>
          <p:cNvSpPr/>
          <p:nvPr/>
        </p:nvSpPr>
        <p:spPr>
          <a:xfrm xmlns:a="http://schemas.openxmlformats.org/drawingml/2006/main">
            <a:off x="114624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87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88" name="!!#s11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SECTION 03 · ACROSS THE CORRIDOR</a:t>
            </a:r>
          </a:p>
        </p:txBody>
      </p:sp>
      <p:sp>
        <p:nvSpPr>
          <p:cNvPr id="100189" name="!!#s11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The India–Singapore corridor</a:t>
            </a:r>
          </a:p>
        </p:txBody>
      </p:sp>
      <p:sp>
        <p:nvSpPr>
          <p:cNvPr id="100190" name="!!actor-corridor"/>
          <p:cNvSpPr/>
          <p:nvPr/>
        </p:nvSpPr>
        <p:spPr>
          <a:xfrm xmlns:a="http://schemas.openxmlformats.org/drawingml/2006/main">
            <a:off x="684000" y="4788000"/>
            <a:ext cx="108252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91" name="!!#s11-pole2"/>
          <p:cNvSpPr/>
          <p:nvPr/>
        </p:nvSpPr>
        <p:spPr>
          <a:xfrm xmlns:a="http://schemas.openxmlformats.org/drawingml/2006/main">
            <a:off x="6325200" y="2412000"/>
            <a:ext cx="5184000" cy="2052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92" name="!!#s11-eye-pole0"/>
          <p:cNvSpPr txBox="1"/>
          <p:nvPr/>
        </p:nvSpPr>
        <p:spPr>
          <a:xfrm xmlns:a="http://schemas.openxmlformats.org/drawingml/2006/main">
            <a:off x="936000" y="2592000"/>
            <a:ext cx="468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INDIA</a:t>
            </a:r>
          </a:p>
        </p:txBody>
      </p:sp>
      <p:sp>
        <p:nvSpPr>
          <p:cNvPr id="100193" name="!!#s11-phead0"/>
          <p:cNvSpPr txBox="1"/>
          <p:nvPr/>
        </p:nvSpPr>
        <p:spPr>
          <a:xfrm xmlns:a="http://schemas.openxmlformats.org/drawingml/2006/main">
            <a:off x="936000" y="2880000"/>
            <a:ext cx="4680000" cy="34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2000" b="1">
                <a:solidFill>
                  <a:srgbClr val="F5F4F2"/>
                </a:solidFill>
                <a:latin typeface="Georgia"/>
                <a:ea typeface="Georgia"/>
              </a:rPr>
              <a:t>Setting up in India</a:t>
            </a:r>
          </a:p>
        </p:txBody>
      </p:sp>
      <p:sp>
        <p:nvSpPr>
          <p:cNvPr id="100194" name="!!#s11-pbody0"/>
          <p:cNvSpPr txBox="1"/>
          <p:nvPr/>
        </p:nvSpPr>
        <p:spPr>
          <a:xfrm xmlns:a="http://schemas.openxmlformats.org/drawingml/2006/main">
            <a:off x="936000" y="3276000"/>
            <a:ext cx="4680000" cy="97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SPICe+ incorporation, PAN and TAN, GST registration, FC-GPR and ROC compliance.</a:t>
            </a:r>
          </a:p>
        </p:txBody>
      </p:sp>
      <p:sp>
        <p:nvSpPr>
          <p:cNvPr id="100195" name="!!#s11-eye-pole1"/>
          <p:cNvSpPr txBox="1"/>
          <p:nvPr/>
        </p:nvSpPr>
        <p:spPr>
          <a:xfrm xmlns:a="http://schemas.openxmlformats.org/drawingml/2006/main">
            <a:off x="6577200" y="2592000"/>
            <a:ext cx="468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SINGAPORE</a:t>
            </a:r>
          </a:p>
        </p:txBody>
      </p:sp>
      <p:sp>
        <p:nvSpPr>
          <p:cNvPr id="100196" name="!!#s11-phead1"/>
          <p:cNvSpPr txBox="1"/>
          <p:nvPr/>
        </p:nvSpPr>
        <p:spPr>
          <a:xfrm xmlns:a="http://schemas.openxmlformats.org/drawingml/2006/main">
            <a:off x="6577200" y="2880000"/>
            <a:ext cx="4680000" cy="34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2000" b="1">
                <a:solidFill>
                  <a:srgbClr val="F5F4F2"/>
                </a:solidFill>
                <a:latin typeface="Georgia"/>
                <a:ea typeface="Georgia"/>
              </a:rPr>
              <a:t>Setting up in Singapore</a:t>
            </a:r>
          </a:p>
        </p:txBody>
      </p:sp>
      <p:sp>
        <p:nvSpPr>
          <p:cNvPr id="100197" name="!!#s11-pbody1"/>
          <p:cNvSpPr txBox="1"/>
          <p:nvPr/>
        </p:nvSpPr>
        <p:spPr>
          <a:xfrm xmlns:a="http://schemas.openxmlformats.org/drawingml/2006/main">
            <a:off x="6577200" y="3276000"/>
            <a:ext cx="4680000" cy="97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ACRA incorporation, resident director, company secretary, bank account and GST.</a:t>
            </a:r>
          </a:p>
        </p:txBody>
      </p:sp>
      <p:sp>
        <p:nvSpPr>
          <p:cNvPr id="100198" name="!!#s11-tag0"/>
          <p:cNvSpPr/>
          <p:nvPr/>
        </p:nvSpPr>
        <p:spPr>
          <a:xfrm xmlns:a="http://schemas.openxmlformats.org/drawingml/2006/main">
            <a:off x="1980000" y="4676400"/>
            <a:ext cx="1512000" cy="25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/>
            <a:r>
              <a:rPr lang="en-US" sz="1050" b="1" spc="160">
                <a:solidFill>
                  <a:srgbClr val="0E1B2F"/>
                </a:solidFill>
                <a:latin typeface="Arial"/>
                <a:ea typeface="Arial"/>
              </a:rPr>
              <a:t>FEMA</a:t>
            </a:r>
          </a:p>
        </p:txBody>
      </p:sp>
      <p:sp>
        <p:nvSpPr>
          <p:cNvPr id="100199" name="!!#s11-tag1"/>
          <p:cNvSpPr/>
          <p:nvPr/>
        </p:nvSpPr>
        <p:spPr>
          <a:xfrm xmlns:a="http://schemas.openxmlformats.org/drawingml/2006/main">
            <a:off x="5342400" y="4676400"/>
            <a:ext cx="1512000" cy="25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/>
            <a:r>
              <a:rPr lang="en-US" sz="1050" b="1" spc="160">
                <a:solidFill>
                  <a:srgbClr val="0E1B2F"/>
                </a:solidFill>
                <a:latin typeface="Arial"/>
                <a:ea typeface="Arial"/>
              </a:rPr>
              <a:t>ODI &amp; FDI</a:t>
            </a:r>
          </a:p>
        </p:txBody>
      </p:sp>
      <p:sp>
        <p:nvSpPr>
          <p:cNvPr id="100200" name="!!#s11-tag2"/>
          <p:cNvSpPr/>
          <p:nvPr/>
        </p:nvSpPr>
        <p:spPr>
          <a:xfrm xmlns:a="http://schemas.openxmlformats.org/drawingml/2006/main">
            <a:off x="8704800" y="4676400"/>
            <a:ext cx="1512000" cy="25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/>
            <a:r>
              <a:rPr lang="en-US" sz="1050" b="1" spc="160">
                <a:solidFill>
                  <a:srgbClr val="0E1B2F"/>
                </a:solidFill>
                <a:latin typeface="Arial"/>
                <a:ea typeface="Arial"/>
              </a:rPr>
              <a:t>DTAA RELIEF</a:t>
            </a:r>
          </a:p>
        </p:txBody>
      </p:sp>
      <p:sp>
        <p:nvSpPr>
          <p:cNvPr id="100201" name="!!#s11-eye-cross"/>
          <p:cNvSpPr txBox="1"/>
          <p:nvPr/>
        </p:nvSpPr>
        <p:spPr>
          <a:xfrm xmlns:a="http://schemas.openxmlformats.org/drawingml/2006/main">
            <a:off x="684000" y="5022000"/>
            <a:ext cx="720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MOVING MONEY BETWEEN THEM</a:t>
            </a:r>
          </a:p>
        </p:txBody>
      </p:sp>
      <p:sp>
        <p:nvSpPr>
          <p:cNvPr id="100202" name="!!#s11-crossb"/>
          <p:cNvSpPr txBox="1"/>
          <p:nvPr/>
        </p:nvSpPr>
        <p:spPr>
          <a:xfrm xmlns:a="http://schemas.openxmlformats.org/drawingml/2006/main">
            <a:off x="684000" y="5310000"/>
            <a:ext cx="108252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Repatriation of funds, dividend and royalty flows, transfer-pricing documentation, and FEMA compliance on every leg.</a:t>
            </a:r>
          </a:p>
        </p:txBody>
      </p:sp>
      <p:sp>
        <p:nvSpPr>
          <p:cNvPr id="100203" name="!!#s11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204" name="!!#s11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11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00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189" grpId="0"/>
      <p:bldP spid="100193" grpId="1"/>
    </p:bldLst>
  </p:timing>
</p:sld>
</file>

<file path=ppt/slides/slide12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205" name="!!scene-orb-gold"/>
          <p:cNvSpPr/>
          <p:nvPr/>
        </p:nvSpPr>
        <p:spPr>
          <a:xfrm xmlns:a="http://schemas.openxmlformats.org/drawingml/2006/main">
            <a:off x="8640000" y="2700000"/>
            <a:ext cx="3420000" cy="342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06" name="!!scene-orb-steel"/>
          <p:cNvSpPr/>
          <p:nvPr/>
        </p:nvSpPr>
        <p:spPr>
          <a:xfrm xmlns:a="http://schemas.openxmlformats.org/drawingml/2006/main">
            <a:off x="720000" y="900000"/>
            <a:ext cx="3240000" cy="324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07" name="!!scene-wash"/>
          <p:cNvSpPr/>
          <p:nvPr/>
        </p:nvSpPr>
        <p:spPr>
          <a:xfrm xmlns:a="http://schemas.openxmlformats.org/drawingml/2006/main">
            <a:off x="6840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08" name="!!scene-rule-navy"/>
          <p:cNvSpPr/>
          <p:nvPr/>
        </p:nvSpPr>
        <p:spPr>
          <a:xfrm xmlns:a="http://schemas.openxmlformats.org/drawingml/2006/main">
            <a:off x="11509200" y="2304000"/>
            <a:ext cx="18000" cy="33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09" name="!!scene-rule-gold"/>
          <p:cNvSpPr/>
          <p:nvPr/>
        </p:nvSpPr>
        <p:spPr>
          <a:xfrm xmlns:a="http://schemas.openxmlformats.org/drawingml/2006/main">
            <a:off x="684000" y="2052000"/>
            <a:ext cx="7920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10" name="!!scene-dot"/>
          <p:cNvSpPr/>
          <p:nvPr/>
        </p:nvSpPr>
        <p:spPr>
          <a:xfrm xmlns:a="http://schemas.openxmlformats.org/drawingml/2006/main">
            <a:off x="85572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11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12" name="!!#s12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SECTION 03 · ACROSS THE CORRIDOR</a:t>
            </a:r>
          </a:p>
        </p:txBody>
      </p:sp>
      <p:sp>
        <p:nvSpPr>
          <p:cNvPr id="100213" name="!!#s12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Beyond compliance</a:t>
            </a:r>
          </a:p>
        </p:txBody>
      </p:sp>
      <p:sp>
        <p:nvSpPr>
          <p:cNvPr id="100214" name="!!actor-corridor"/>
          <p:cNvSpPr/>
          <p:nvPr/>
        </p:nvSpPr>
        <p:spPr>
          <a:xfrm xmlns:a="http://schemas.openxmlformats.org/drawingml/2006/main">
            <a:off x="12960000" y="4788000"/>
            <a:ext cx="108252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15" name="!!#s12-eye-c0"/>
          <p:cNvSpPr txBox="1"/>
          <p:nvPr/>
        </p:nvSpPr>
        <p:spPr>
          <a:xfrm xmlns:a="http://schemas.openxmlformats.org/drawingml/2006/main">
            <a:off x="936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216" name="!!#s12-chead0"/>
          <p:cNvSpPr txBox="1"/>
          <p:nvPr/>
        </p:nvSpPr>
        <p:spPr>
          <a:xfrm xmlns:a="http://schemas.openxmlformats.org/drawingml/2006/main">
            <a:off x="9360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Mergers &amp; acquisitions</a:t>
            </a:r>
          </a:p>
        </p:txBody>
      </p:sp>
      <p:sp>
        <p:nvSpPr>
          <p:cNvPr id="100217" name="!!#s12-cbody0"/>
          <p:cNvSpPr txBox="1"/>
          <p:nvPr/>
        </p:nvSpPr>
        <p:spPr>
          <a:xfrm xmlns:a="http://schemas.openxmlformats.org/drawingml/2006/main">
            <a:off x="936000" y="3834000"/>
            <a:ext cx="2887200" cy="15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Buy-side and sell-side structuring, financial and tax due diligence, SPA schedules.</a:t>
            </a:r>
          </a:p>
        </p:txBody>
      </p:sp>
      <p:sp>
        <p:nvSpPr>
          <p:cNvPr id="100218" name="!!#s12-card1"/>
          <p:cNvSpPr/>
          <p:nvPr/>
        </p:nvSpPr>
        <p:spPr>
          <a:xfrm xmlns:a="http://schemas.openxmlformats.org/drawingml/2006/main">
            <a:off x="43992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19" name="!!#s12-eye-c1"/>
          <p:cNvSpPr txBox="1"/>
          <p:nvPr/>
        </p:nvSpPr>
        <p:spPr>
          <a:xfrm xmlns:a="http://schemas.openxmlformats.org/drawingml/2006/main">
            <a:off x="46512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220" name="!!#s12-chead1"/>
          <p:cNvSpPr txBox="1"/>
          <p:nvPr/>
        </p:nvSpPr>
        <p:spPr>
          <a:xfrm xmlns:a="http://schemas.openxmlformats.org/drawingml/2006/main">
            <a:off x="46512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Valuation</a:t>
            </a:r>
          </a:p>
        </p:txBody>
      </p:sp>
      <p:sp>
        <p:nvSpPr>
          <p:cNvPr id="100221" name="!!#s12-cbody1"/>
          <p:cNvSpPr txBox="1"/>
          <p:nvPr/>
        </p:nvSpPr>
        <p:spPr>
          <a:xfrm xmlns:a="http://schemas.openxmlformats.org/drawingml/2006/main">
            <a:off x="4651200" y="3834000"/>
            <a:ext cx="2887200" cy="15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Rule 11UA and FEMA pricing. Independent reports for funding rounds and transfers.</a:t>
            </a:r>
          </a:p>
        </p:txBody>
      </p:sp>
      <p:sp>
        <p:nvSpPr>
          <p:cNvPr id="100222" name="!!#s12-card2"/>
          <p:cNvSpPr/>
          <p:nvPr/>
        </p:nvSpPr>
        <p:spPr>
          <a:xfrm xmlns:a="http://schemas.openxmlformats.org/drawingml/2006/main">
            <a:off x="81180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23" name="!!#s12-eye-c2"/>
          <p:cNvSpPr txBox="1"/>
          <p:nvPr/>
        </p:nvSpPr>
        <p:spPr>
          <a:xfrm xmlns:a="http://schemas.openxmlformats.org/drawingml/2006/main">
            <a:off x="8370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224" name="!!#s12-chead2"/>
          <p:cNvSpPr txBox="1"/>
          <p:nvPr/>
        </p:nvSpPr>
        <p:spPr>
          <a:xfrm xmlns:a="http://schemas.openxmlformats.org/drawingml/2006/main">
            <a:off x="83700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Payroll</a:t>
            </a:r>
          </a:p>
        </p:txBody>
      </p:sp>
      <p:sp>
        <p:nvSpPr>
          <p:cNvPr id="100225" name="!!#s12-cbody2"/>
          <p:cNvSpPr txBox="1"/>
          <p:nvPr/>
        </p:nvSpPr>
        <p:spPr>
          <a:xfrm xmlns:a="http://schemas.openxmlformats.org/drawingml/2006/main">
            <a:off x="8370000" y="3834000"/>
            <a:ext cx="28872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CPF, IR8A and IR21 in Singapore; PF, ESI, professional tax and TDS in India.</a:t>
            </a:r>
          </a:p>
        </p:txBody>
      </p:sp>
      <p:sp>
        <p:nvSpPr>
          <p:cNvPr id="100226" name="!!#s12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227" name="!!#s12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12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00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213" grpId="0"/>
      <p:bldP spid="100216" grpId="1"/>
    </p:bldLst>
  </p:timing>
</p:sld>
</file>

<file path=ppt/slides/slide13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228" name="!!scene-orb-gold"/>
          <p:cNvSpPr/>
          <p:nvPr/>
        </p:nvSpPr>
        <p:spPr>
          <a:xfrm xmlns:a="http://schemas.openxmlformats.org/drawingml/2006/main">
            <a:off x="648000" y="720000"/>
            <a:ext cx="3960000" cy="396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29" name="!!scene-orb-steel"/>
          <p:cNvSpPr/>
          <p:nvPr/>
        </p:nvSpPr>
        <p:spPr>
          <a:xfrm xmlns:a="http://schemas.openxmlformats.org/drawingml/2006/main">
            <a:off x="8280000" y="3060000"/>
            <a:ext cx="3420000" cy="342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30" name="!!scene-wash"/>
          <p:cNvSpPr/>
          <p:nvPr/>
        </p:nvSpPr>
        <p:spPr>
          <a:xfrm xmlns:a="http://schemas.openxmlformats.org/drawingml/2006/main">
            <a:off x="684000" y="2448000"/>
            <a:ext cx="5184000" cy="129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31" name="!!scene-rule-navy"/>
          <p:cNvSpPr/>
          <p:nvPr/>
        </p:nvSpPr>
        <p:spPr>
          <a:xfrm xmlns:a="http://schemas.openxmlformats.org/drawingml/2006/main">
            <a:off x="6094800" y="2448000"/>
            <a:ext cx="18000" cy="28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32" name="!!scene-rule-gold"/>
          <p:cNvSpPr/>
          <p:nvPr/>
        </p:nvSpPr>
        <p:spPr>
          <a:xfrm xmlns:a="http://schemas.openxmlformats.org/drawingml/2006/main">
            <a:off x="684000" y="2052000"/>
            <a:ext cx="108252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33" name="!!scene-dot"/>
          <p:cNvSpPr/>
          <p:nvPr/>
        </p:nvSpPr>
        <p:spPr>
          <a:xfrm xmlns:a="http://schemas.openxmlformats.org/drawingml/2006/main">
            <a:off x="114624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34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35" name="!!#s13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THE FIRM</a:t>
            </a:r>
          </a:p>
        </p:txBody>
      </p:sp>
      <p:sp>
        <p:nvSpPr>
          <p:cNvPr id="100236" name="!!#s13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The team behind the work</a:t>
            </a:r>
          </a:p>
        </p:txBody>
      </p:sp>
      <p:sp>
        <p:nvSpPr>
          <p:cNvPr id="100237" name="!!#s13-eye-t0"/>
          <p:cNvSpPr txBox="1"/>
          <p:nvPr/>
        </p:nvSpPr>
        <p:spPr>
          <a:xfrm xmlns:a="http://schemas.openxmlformats.org/drawingml/2006/main">
            <a:off x="936000" y="2527200"/>
            <a:ext cx="468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238" name="!!#s13-thead0"/>
          <p:cNvSpPr txBox="1"/>
          <p:nvPr/>
        </p:nvSpPr>
        <p:spPr>
          <a:xfrm xmlns:a="http://schemas.openxmlformats.org/drawingml/2006/main">
            <a:off x="936000" y="2736000"/>
            <a:ext cx="4680000" cy="30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900" b="1">
                <a:solidFill>
                  <a:srgbClr val="F5F4F2"/>
                </a:solidFill>
                <a:latin typeface="Georgia"/>
                <a:ea typeface="Georgia"/>
              </a:rPr>
              <a:t>Chartered Accountants, India</a:t>
            </a:r>
          </a:p>
        </p:txBody>
      </p:sp>
      <p:sp>
        <p:nvSpPr>
          <p:cNvPr id="100239" name="!!#s13-tbody0"/>
          <p:cNvSpPr txBox="1"/>
          <p:nvPr/>
        </p:nvSpPr>
        <p:spPr>
          <a:xfrm xmlns:a="http://schemas.openxmlformats.org/drawingml/2006/main">
            <a:off x="936000" y="3081600"/>
            <a:ext cx="468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In-house, on our own payroll. Audit, direct tax and GST.</a:t>
            </a:r>
          </a:p>
        </p:txBody>
      </p:sp>
      <p:sp>
        <p:nvSpPr>
          <p:cNvPr id="100240" name="!!#s13-cell1"/>
          <p:cNvSpPr/>
          <p:nvPr/>
        </p:nvSpPr>
        <p:spPr>
          <a:xfrm xmlns:a="http://schemas.openxmlformats.org/drawingml/2006/main">
            <a:off x="6325200" y="2448000"/>
            <a:ext cx="5184000" cy="129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41" name="!!#s13-eye-t1"/>
          <p:cNvSpPr txBox="1"/>
          <p:nvPr/>
        </p:nvSpPr>
        <p:spPr>
          <a:xfrm xmlns:a="http://schemas.openxmlformats.org/drawingml/2006/main">
            <a:off x="6577200" y="2527200"/>
            <a:ext cx="468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242" name="!!#s13-thead1"/>
          <p:cNvSpPr txBox="1"/>
          <p:nvPr/>
        </p:nvSpPr>
        <p:spPr>
          <a:xfrm xmlns:a="http://schemas.openxmlformats.org/drawingml/2006/main">
            <a:off x="6577200" y="2736000"/>
            <a:ext cx="4680000" cy="30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900" b="1">
                <a:solidFill>
                  <a:srgbClr val="F5F4F2"/>
                </a:solidFill>
                <a:latin typeface="Georgia"/>
                <a:ea typeface="Georgia"/>
              </a:rPr>
              <a:t>Chartered Accountant, Singapore</a:t>
            </a:r>
          </a:p>
        </p:txBody>
      </p:sp>
      <p:sp>
        <p:nvSpPr>
          <p:cNvPr id="100243" name="!!#s13-tbody1"/>
          <p:cNvSpPr txBox="1"/>
          <p:nvPr/>
        </p:nvSpPr>
        <p:spPr>
          <a:xfrm xmlns:a="http://schemas.openxmlformats.org/drawingml/2006/main">
            <a:off x="6577200" y="3081600"/>
            <a:ext cx="468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Reviews and signs off every Singapore filing.</a:t>
            </a:r>
          </a:p>
        </p:txBody>
      </p:sp>
      <p:sp>
        <p:nvSpPr>
          <p:cNvPr id="100244" name="!!#s13-cell2"/>
          <p:cNvSpPr/>
          <p:nvPr/>
        </p:nvSpPr>
        <p:spPr>
          <a:xfrm xmlns:a="http://schemas.openxmlformats.org/drawingml/2006/main">
            <a:off x="684000" y="3996000"/>
            <a:ext cx="5184000" cy="129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45" name="!!#s13-eye-t2"/>
          <p:cNvSpPr txBox="1"/>
          <p:nvPr/>
        </p:nvSpPr>
        <p:spPr>
          <a:xfrm xmlns:a="http://schemas.openxmlformats.org/drawingml/2006/main">
            <a:off x="936000" y="4075200"/>
            <a:ext cx="468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246" name="!!#s13-thead2"/>
          <p:cNvSpPr txBox="1"/>
          <p:nvPr/>
        </p:nvSpPr>
        <p:spPr>
          <a:xfrm xmlns:a="http://schemas.openxmlformats.org/drawingml/2006/main">
            <a:off x="936000" y="4284000"/>
            <a:ext cx="4680000" cy="30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900" b="1">
                <a:solidFill>
                  <a:srgbClr val="F5F4F2"/>
                </a:solidFill>
                <a:latin typeface="Georgia"/>
                <a:ea typeface="Georgia"/>
              </a:rPr>
              <a:t>Legal</a:t>
            </a:r>
          </a:p>
        </p:txBody>
      </p:sp>
      <p:sp>
        <p:nvSpPr>
          <p:cNvPr id="100247" name="!!#s13-tbody2"/>
          <p:cNvSpPr txBox="1"/>
          <p:nvPr/>
        </p:nvSpPr>
        <p:spPr>
          <a:xfrm xmlns:a="http://schemas.openxmlformats.org/drawingml/2006/main">
            <a:off x="936000" y="4629600"/>
            <a:ext cx="468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Agreements, SPAs and regulatory correspondence.</a:t>
            </a:r>
          </a:p>
        </p:txBody>
      </p:sp>
      <p:sp>
        <p:nvSpPr>
          <p:cNvPr id="100248" name="!!#s13-cell3"/>
          <p:cNvSpPr/>
          <p:nvPr/>
        </p:nvSpPr>
        <p:spPr>
          <a:xfrm xmlns:a="http://schemas.openxmlformats.org/drawingml/2006/main">
            <a:off x="6325200" y="3996000"/>
            <a:ext cx="5184000" cy="129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49" name="!!#s13-eye-t3"/>
          <p:cNvSpPr txBox="1"/>
          <p:nvPr/>
        </p:nvSpPr>
        <p:spPr>
          <a:xfrm xmlns:a="http://schemas.openxmlformats.org/drawingml/2006/main">
            <a:off x="6577200" y="4075200"/>
            <a:ext cx="468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04</a:t>
            </a:r>
          </a:p>
        </p:txBody>
      </p:sp>
      <p:sp>
        <p:nvSpPr>
          <p:cNvPr id="100250" name="!!#s13-thead3"/>
          <p:cNvSpPr txBox="1"/>
          <p:nvPr/>
        </p:nvSpPr>
        <p:spPr>
          <a:xfrm xmlns:a="http://schemas.openxmlformats.org/drawingml/2006/main">
            <a:off x="6577200" y="4284000"/>
            <a:ext cx="4680000" cy="30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900" b="1">
                <a:solidFill>
                  <a:srgbClr val="F5F4F2"/>
                </a:solidFill>
                <a:latin typeface="Georgia"/>
                <a:ea typeface="Georgia"/>
              </a:rPr>
              <a:t>Company secretarial</a:t>
            </a:r>
          </a:p>
        </p:txBody>
      </p:sp>
      <p:sp>
        <p:nvSpPr>
          <p:cNvPr id="100251" name="!!#s13-tbody3"/>
          <p:cNvSpPr txBox="1"/>
          <p:nvPr/>
        </p:nvSpPr>
        <p:spPr>
          <a:xfrm xmlns:a="http://schemas.openxmlformats.org/drawingml/2006/main">
            <a:off x="6577200" y="4629600"/>
            <a:ext cx="468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Registers, resolutions and board filings, both jurisdictions.</a:t>
            </a:r>
          </a:p>
        </p:txBody>
      </p:sp>
      <p:sp>
        <p:nvSpPr>
          <p:cNvPr id="100252" name="!!#s13-band"/>
          <p:cNvSpPr/>
          <p:nvPr/>
        </p:nvSpPr>
        <p:spPr>
          <a:xfrm xmlns:a="http://schemas.openxmlformats.org/drawingml/2006/main">
            <a:off x="684000" y="5544000"/>
            <a:ext cx="10825200" cy="468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53" name="!!#s13-bandfig"/>
          <p:cNvSpPr txBox="1"/>
          <p:nvPr/>
        </p:nvSpPr>
        <p:spPr>
          <a:xfrm xmlns:a="http://schemas.openxmlformats.org/drawingml/2006/main">
            <a:off x="936000" y="5544000"/>
            <a:ext cx="1224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3000" b="1">
                <a:solidFill>
                  <a:srgbClr val="C9A84C"/>
                </a:solidFill>
                <a:latin typeface="Georgia"/>
                <a:ea typeface="Georgia"/>
              </a:rPr>
              <a:t>30+</a:t>
            </a:r>
          </a:p>
        </p:txBody>
      </p:sp>
      <p:sp>
        <p:nvSpPr>
          <p:cNvPr id="100254" name="!!#s13-bandtxt"/>
          <p:cNvSpPr txBox="1"/>
          <p:nvPr/>
        </p:nvSpPr>
        <p:spPr>
          <a:xfrm xmlns:a="http://schemas.openxmlformats.org/drawingml/2006/main">
            <a:off x="2232000" y="5544000"/>
            <a:ext cx="90612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people, all on one payroll. No sub-contracting.</a:t>
            </a:r>
          </a:p>
        </p:txBody>
      </p:sp>
      <p:sp>
        <p:nvSpPr>
          <p:cNvPr id="100255" name="!!#s13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256" name="!!#s13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13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2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00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236" grpId="0"/>
      <p:bldP spid="100238" grpId="1"/>
    </p:bldLst>
  </p:timing>
</p:sld>
</file>

<file path=ppt/slides/slide14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257" name="!!scene-orb-gold"/>
          <p:cNvSpPr/>
          <p:nvPr/>
        </p:nvSpPr>
        <p:spPr>
          <a:xfrm xmlns:a="http://schemas.openxmlformats.org/drawingml/2006/main">
            <a:off x="7920000" y="900000"/>
            <a:ext cx="4140000" cy="414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58" name="!!scene-orb-steel"/>
          <p:cNvSpPr/>
          <p:nvPr/>
        </p:nvSpPr>
        <p:spPr>
          <a:xfrm xmlns:a="http://schemas.openxmlformats.org/drawingml/2006/main">
            <a:off x="900000" y="3240000"/>
            <a:ext cx="3240000" cy="324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59" name="!!scene-wash"/>
          <p:cNvSpPr/>
          <p:nvPr/>
        </p:nvSpPr>
        <p:spPr>
          <a:xfrm xmlns:a="http://schemas.openxmlformats.org/drawingml/2006/main">
            <a:off x="6840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60" name="!!scene-rule-navy"/>
          <p:cNvSpPr/>
          <p:nvPr/>
        </p:nvSpPr>
        <p:spPr>
          <a:xfrm xmlns:a="http://schemas.openxmlformats.org/drawingml/2006/main">
            <a:off x="11509200" y="2592000"/>
            <a:ext cx="18000" cy="28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61" name="!!scene-rule-gold"/>
          <p:cNvSpPr/>
          <p:nvPr/>
        </p:nvSpPr>
        <p:spPr>
          <a:xfrm xmlns:a="http://schemas.openxmlformats.org/drawingml/2006/main">
            <a:off x="684000" y="2052000"/>
            <a:ext cx="5760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62" name="!!scene-dot"/>
          <p:cNvSpPr/>
          <p:nvPr/>
        </p:nvSpPr>
        <p:spPr>
          <a:xfrm xmlns:a="http://schemas.openxmlformats.org/drawingml/2006/main">
            <a:off x="63972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63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64" name="!!#s14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THE FIRM</a:t>
            </a:r>
          </a:p>
        </p:txBody>
      </p:sp>
      <p:sp>
        <p:nvSpPr>
          <p:cNvPr id="100265" name="!!#s14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Technology we build ourselves</a:t>
            </a:r>
          </a:p>
        </p:txBody>
      </p:sp>
      <p:sp>
        <p:nvSpPr>
          <p:cNvPr id="100266" name="!!#s14-eye-c0"/>
          <p:cNvSpPr txBox="1"/>
          <p:nvPr/>
        </p:nvSpPr>
        <p:spPr>
          <a:xfrm xmlns:a="http://schemas.openxmlformats.org/drawingml/2006/main">
            <a:off x="936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267" name="!!#s14-chead0"/>
          <p:cNvSpPr txBox="1"/>
          <p:nvPr/>
        </p:nvSpPr>
        <p:spPr>
          <a:xfrm xmlns:a="http://schemas.openxmlformats.org/drawingml/2006/main">
            <a:off x="9360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In-house engineering team</a:t>
            </a:r>
          </a:p>
        </p:txBody>
      </p:sp>
      <p:sp>
        <p:nvSpPr>
          <p:cNvPr id="100268" name="!!#s14-cbody0"/>
          <p:cNvSpPr txBox="1"/>
          <p:nvPr/>
        </p:nvSpPr>
        <p:spPr>
          <a:xfrm xmlns:a="http://schemas.openxmlformats.org/drawingml/2006/main">
            <a:off x="936000" y="3834000"/>
            <a:ext cx="28872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Software engineers on staff, working alongside the accountants.</a:t>
            </a:r>
          </a:p>
        </p:txBody>
      </p:sp>
      <p:sp>
        <p:nvSpPr>
          <p:cNvPr id="100269" name="!!#s14-card1"/>
          <p:cNvSpPr/>
          <p:nvPr/>
        </p:nvSpPr>
        <p:spPr>
          <a:xfrm xmlns:a="http://schemas.openxmlformats.org/drawingml/2006/main">
            <a:off x="43992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70" name="!!#s14-eye-c1"/>
          <p:cNvSpPr txBox="1"/>
          <p:nvPr/>
        </p:nvSpPr>
        <p:spPr>
          <a:xfrm xmlns:a="http://schemas.openxmlformats.org/drawingml/2006/main">
            <a:off x="46512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271" name="!!#s14-chead1"/>
          <p:cNvSpPr txBox="1"/>
          <p:nvPr/>
        </p:nvSpPr>
        <p:spPr>
          <a:xfrm xmlns:a="http://schemas.openxmlformats.org/drawingml/2006/main">
            <a:off x="46512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Accounting &amp; tax CRM</a:t>
            </a:r>
          </a:p>
        </p:txBody>
      </p:sp>
      <p:sp>
        <p:nvSpPr>
          <p:cNvPr id="100272" name="!!#s14-cbody1"/>
          <p:cNvSpPr txBox="1"/>
          <p:nvPr/>
        </p:nvSpPr>
        <p:spPr>
          <a:xfrm xmlns:a="http://schemas.openxmlformats.org/drawingml/2006/main">
            <a:off x="4651200" y="3834000"/>
            <a:ext cx="28872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Systems built around deadlines, engagements, documents and filings.</a:t>
            </a:r>
          </a:p>
        </p:txBody>
      </p:sp>
      <p:sp>
        <p:nvSpPr>
          <p:cNvPr id="100273" name="!!#s14-card2"/>
          <p:cNvSpPr/>
          <p:nvPr/>
        </p:nvSpPr>
        <p:spPr>
          <a:xfrm xmlns:a="http://schemas.openxmlformats.org/drawingml/2006/main">
            <a:off x="81180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74" name="!!#s14-eye-c2"/>
          <p:cNvSpPr txBox="1"/>
          <p:nvPr/>
        </p:nvSpPr>
        <p:spPr>
          <a:xfrm xmlns:a="http://schemas.openxmlformats.org/drawingml/2006/main">
            <a:off x="8370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275" name="!!#s14-chead2"/>
          <p:cNvSpPr txBox="1"/>
          <p:nvPr/>
        </p:nvSpPr>
        <p:spPr>
          <a:xfrm xmlns:a="http://schemas.openxmlformats.org/drawingml/2006/main">
            <a:off x="83700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Custom finance software</a:t>
            </a:r>
          </a:p>
        </p:txBody>
      </p:sp>
      <p:sp>
        <p:nvSpPr>
          <p:cNvPr id="100276" name="!!#s14-cbody2"/>
          <p:cNvSpPr txBox="1"/>
          <p:nvPr/>
        </p:nvSpPr>
        <p:spPr>
          <a:xfrm xmlns:a="http://schemas.openxmlformats.org/drawingml/2006/main">
            <a:off x="8370000" y="3834000"/>
            <a:ext cx="28872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Where a finance process needs a tool that does not exist, we build it.</a:t>
            </a:r>
          </a:p>
        </p:txBody>
      </p:sp>
      <p:sp>
        <p:nvSpPr>
          <p:cNvPr id="100277" name="!!#s14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278" name="!!#s14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14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2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00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265" grpId="0"/>
      <p:bldP spid="100267" grpId="1"/>
    </p:bldLst>
  </p:timing>
</p:sld>
</file>

<file path=ppt/slides/slide15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279" name="!!scene-orb-gold"/>
          <p:cNvSpPr/>
          <p:nvPr/>
        </p:nvSpPr>
        <p:spPr>
          <a:xfrm xmlns:a="http://schemas.openxmlformats.org/drawingml/2006/main">
            <a:off x="1080000" y="2340000"/>
            <a:ext cx="4320000" cy="432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80" name="!!scene-orb-steel"/>
          <p:cNvSpPr/>
          <p:nvPr/>
        </p:nvSpPr>
        <p:spPr>
          <a:xfrm xmlns:a="http://schemas.openxmlformats.org/drawingml/2006/main">
            <a:off x="7740000" y="720000"/>
            <a:ext cx="3420000" cy="342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81" name="!!scene-wash"/>
          <p:cNvSpPr/>
          <p:nvPr/>
        </p:nvSpPr>
        <p:spPr>
          <a:xfrm xmlns:a="http://schemas.openxmlformats.org/drawingml/2006/main">
            <a:off x="684000" y="3672000"/>
            <a:ext cx="2462400" cy="1332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82" name="!!scene-rule-navy"/>
          <p:cNvSpPr/>
          <p:nvPr/>
        </p:nvSpPr>
        <p:spPr>
          <a:xfrm xmlns:a="http://schemas.openxmlformats.org/drawingml/2006/main">
            <a:off x="11509200" y="2304000"/>
            <a:ext cx="18000" cy="10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83" name="!!scene-rule-gold"/>
          <p:cNvSpPr/>
          <p:nvPr/>
        </p:nvSpPr>
        <p:spPr>
          <a:xfrm xmlns:a="http://schemas.openxmlformats.org/drawingml/2006/main">
            <a:off x="684000" y="2052000"/>
            <a:ext cx="108252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84" name="!!scene-dot"/>
          <p:cNvSpPr/>
          <p:nvPr/>
        </p:nvSpPr>
        <p:spPr>
          <a:xfrm xmlns:a="http://schemas.openxmlformats.org/drawingml/2006/main">
            <a:off x="114624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85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86" name="!!#s15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THE FIRM</a:t>
            </a:r>
          </a:p>
        </p:txBody>
      </p:sp>
      <p:sp>
        <p:nvSpPr>
          <p:cNvPr id="100287" name="!!#s15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The partners</a:t>
            </a:r>
          </a:p>
        </p:txBody>
      </p:sp>
      <p:sp>
        <p:nvSpPr>
          <p:cNvPr id="100288" name="!!#s15-pull"/>
          <p:cNvSpPr txBox="1"/>
          <p:nvPr/>
        </p:nvSpPr>
        <p:spPr>
          <a:xfrm xmlns:a="http://schemas.openxmlformats.org/drawingml/2006/main">
            <a:off x="684000" y="2304000"/>
            <a:ext cx="936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2400">
                <a:solidFill>
                  <a:srgbClr val="F5F4F2"/>
                </a:solidFill>
                <a:latin typeface="Georgia"/>
                <a:ea typeface="Georgia"/>
              </a:rPr>
              <a:t>Every engagement is scoped and reviewed by a partner, not handed to an account manager.</a:t>
            </a:r>
          </a:p>
        </p:txBody>
      </p:sp>
      <p:sp>
        <p:nvSpPr>
          <p:cNvPr id="100289" name="!!#s15-pdiv"/>
          <p:cNvSpPr/>
          <p:nvPr/>
        </p:nvSpPr>
        <p:spPr>
          <a:xfrm xmlns:a="http://schemas.openxmlformats.org/drawingml/2006/main">
            <a:off x="684000" y="3456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90" name="!!#s15-eye-pr0"/>
          <p:cNvSpPr txBox="1"/>
          <p:nvPr/>
        </p:nvSpPr>
        <p:spPr>
          <a:xfrm xmlns:a="http://schemas.openxmlformats.org/drawingml/2006/main">
            <a:off x="936000" y="3870000"/>
            <a:ext cx="19584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PARTNER</a:t>
            </a:r>
          </a:p>
        </p:txBody>
      </p:sp>
      <p:sp>
        <p:nvSpPr>
          <p:cNvPr id="100291" name="!!#s15-pname0"/>
          <p:cNvSpPr txBox="1"/>
          <p:nvPr/>
        </p:nvSpPr>
        <p:spPr>
          <a:xfrm xmlns:a="http://schemas.openxmlformats.org/drawingml/2006/main">
            <a:off x="936000" y="4158000"/>
            <a:ext cx="195840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2600" b="1">
                <a:solidFill>
                  <a:srgbClr val="F5F4F2"/>
                </a:solidFill>
                <a:latin typeface="Georgia"/>
                <a:ea typeface="Georgia"/>
              </a:rPr>
              <a:t>Shabari</a:t>
            </a:r>
          </a:p>
        </p:txBody>
      </p:sp>
      <p:sp>
        <p:nvSpPr>
          <p:cNvPr id="100292" name="!!#s15-ptick0"/>
          <p:cNvSpPr/>
          <p:nvPr/>
        </p:nvSpPr>
        <p:spPr>
          <a:xfrm xmlns:a="http://schemas.openxmlformats.org/drawingml/2006/main">
            <a:off x="936000" y="4770000"/>
            <a:ext cx="50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93" name="!!#s15-pcard1"/>
          <p:cNvSpPr/>
          <p:nvPr/>
        </p:nvSpPr>
        <p:spPr>
          <a:xfrm xmlns:a="http://schemas.openxmlformats.org/drawingml/2006/main">
            <a:off x="3470400" y="3672000"/>
            <a:ext cx="2462400" cy="1332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94" name="!!#s15-eye-pr1"/>
          <p:cNvSpPr txBox="1"/>
          <p:nvPr/>
        </p:nvSpPr>
        <p:spPr>
          <a:xfrm xmlns:a="http://schemas.openxmlformats.org/drawingml/2006/main">
            <a:off x="3722400" y="3870000"/>
            <a:ext cx="19584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MANAGING PARTNER</a:t>
            </a:r>
          </a:p>
        </p:txBody>
      </p:sp>
      <p:sp>
        <p:nvSpPr>
          <p:cNvPr id="100295" name="!!#s15-pname1"/>
          <p:cNvSpPr txBox="1"/>
          <p:nvPr/>
        </p:nvSpPr>
        <p:spPr>
          <a:xfrm xmlns:a="http://schemas.openxmlformats.org/drawingml/2006/main">
            <a:off x="3722400" y="4158000"/>
            <a:ext cx="195840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2600" b="1">
                <a:solidFill>
                  <a:srgbClr val="F5F4F2"/>
                </a:solidFill>
                <a:latin typeface="Georgia"/>
                <a:ea typeface="Georgia"/>
              </a:rPr>
              <a:t>HK Vinay</a:t>
            </a:r>
          </a:p>
        </p:txBody>
      </p:sp>
      <p:sp>
        <p:nvSpPr>
          <p:cNvPr id="100296" name="!!#s15-ptick1"/>
          <p:cNvSpPr/>
          <p:nvPr/>
        </p:nvSpPr>
        <p:spPr>
          <a:xfrm xmlns:a="http://schemas.openxmlformats.org/drawingml/2006/main">
            <a:off x="3722400" y="4770000"/>
            <a:ext cx="50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97" name="!!#s15-pcard2"/>
          <p:cNvSpPr/>
          <p:nvPr/>
        </p:nvSpPr>
        <p:spPr>
          <a:xfrm xmlns:a="http://schemas.openxmlformats.org/drawingml/2006/main">
            <a:off x="6256800" y="3672000"/>
            <a:ext cx="2462400" cy="1332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98" name="!!#s15-eye-pr2"/>
          <p:cNvSpPr txBox="1"/>
          <p:nvPr/>
        </p:nvSpPr>
        <p:spPr>
          <a:xfrm xmlns:a="http://schemas.openxmlformats.org/drawingml/2006/main">
            <a:off x="6508800" y="3870000"/>
            <a:ext cx="19584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PARTNER</a:t>
            </a:r>
          </a:p>
        </p:txBody>
      </p:sp>
      <p:sp>
        <p:nvSpPr>
          <p:cNvPr id="100299" name="!!#s15-pname2"/>
          <p:cNvSpPr txBox="1"/>
          <p:nvPr/>
        </p:nvSpPr>
        <p:spPr>
          <a:xfrm xmlns:a="http://schemas.openxmlformats.org/drawingml/2006/main">
            <a:off x="6508800" y="4158000"/>
            <a:ext cx="195840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2600" b="1">
                <a:solidFill>
                  <a:srgbClr val="F5F4F2"/>
                </a:solidFill>
                <a:latin typeface="Georgia"/>
                <a:ea typeface="Georgia"/>
              </a:rPr>
              <a:t>Akshay</a:t>
            </a:r>
          </a:p>
        </p:txBody>
      </p:sp>
      <p:sp>
        <p:nvSpPr>
          <p:cNvPr id="100300" name="!!#s15-ptick2"/>
          <p:cNvSpPr/>
          <p:nvPr/>
        </p:nvSpPr>
        <p:spPr>
          <a:xfrm xmlns:a="http://schemas.openxmlformats.org/drawingml/2006/main">
            <a:off x="6508800" y="4770000"/>
            <a:ext cx="50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01" name="!!#s15-pcard3"/>
          <p:cNvSpPr/>
          <p:nvPr/>
        </p:nvSpPr>
        <p:spPr>
          <a:xfrm xmlns:a="http://schemas.openxmlformats.org/drawingml/2006/main">
            <a:off x="9046800" y="3672000"/>
            <a:ext cx="2462400" cy="1332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02" name="!!#s15-eye-pr3"/>
          <p:cNvSpPr txBox="1"/>
          <p:nvPr/>
        </p:nvSpPr>
        <p:spPr>
          <a:xfrm xmlns:a="http://schemas.openxmlformats.org/drawingml/2006/main">
            <a:off x="9298800" y="3870000"/>
            <a:ext cx="19584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PARTNER</a:t>
            </a:r>
          </a:p>
        </p:txBody>
      </p:sp>
      <p:sp>
        <p:nvSpPr>
          <p:cNvPr id="100303" name="!!#s15-pname3"/>
          <p:cNvSpPr txBox="1"/>
          <p:nvPr/>
        </p:nvSpPr>
        <p:spPr>
          <a:xfrm xmlns:a="http://schemas.openxmlformats.org/drawingml/2006/main">
            <a:off x="9298800" y="4158000"/>
            <a:ext cx="195840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2600" b="1">
                <a:solidFill>
                  <a:srgbClr val="F5F4F2"/>
                </a:solidFill>
                <a:latin typeface="Georgia"/>
                <a:ea typeface="Georgia"/>
              </a:rPr>
              <a:t>Vagdev</a:t>
            </a:r>
          </a:p>
        </p:txBody>
      </p:sp>
      <p:sp>
        <p:nvSpPr>
          <p:cNvPr id="100304" name="!!#s15-ptick3"/>
          <p:cNvSpPr/>
          <p:nvPr/>
        </p:nvSpPr>
        <p:spPr>
          <a:xfrm xmlns:a="http://schemas.openxmlformats.org/drawingml/2006/main">
            <a:off x="9298800" y="4770000"/>
            <a:ext cx="50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05" name="!!#s15-band"/>
          <p:cNvSpPr/>
          <p:nvPr/>
        </p:nvSpPr>
        <p:spPr>
          <a:xfrm xmlns:a="http://schemas.openxmlformats.org/drawingml/2006/main">
            <a:off x="684000" y="5364000"/>
            <a:ext cx="10825200" cy="504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06" name="!!#s15-bandtxt"/>
          <p:cNvSpPr txBox="1"/>
          <p:nvPr/>
        </p:nvSpPr>
        <p:spPr>
          <a:xfrm xmlns:a="http://schemas.openxmlformats.org/drawingml/2006/main">
            <a:off x="936000" y="5364000"/>
            <a:ext cx="1032120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Ten years in practice  ·  500+ clients advised  ·  Bangalore and Chennai</a:t>
            </a:r>
          </a:p>
        </p:txBody>
      </p:sp>
      <p:sp>
        <p:nvSpPr>
          <p:cNvPr id="100307" name="!!#s15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308" name="!!#s15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15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02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287" grpId="0"/>
      <p:bldP spid="100288" grpId="1"/>
    </p:bldLst>
  </p:timing>
</p:sld>
</file>

<file path=ppt/slides/slide16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309" name="!!scene-orb-gold"/>
          <p:cNvSpPr/>
          <p:nvPr/>
        </p:nvSpPr>
        <p:spPr>
          <a:xfrm xmlns:a="http://schemas.openxmlformats.org/drawingml/2006/main">
            <a:off x="7560000" y="540000"/>
            <a:ext cx="4320000" cy="432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10" name="!!scene-orb-steel"/>
          <p:cNvSpPr/>
          <p:nvPr/>
        </p:nvSpPr>
        <p:spPr>
          <a:xfrm xmlns:a="http://schemas.openxmlformats.org/drawingml/2006/main">
            <a:off x="1080000" y="2880000"/>
            <a:ext cx="3420000" cy="342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11" name="!!scene-wash"/>
          <p:cNvSpPr/>
          <p:nvPr/>
        </p:nvSpPr>
        <p:spPr>
          <a:xfrm xmlns:a="http://schemas.openxmlformats.org/drawingml/2006/main">
            <a:off x="684000" y="2448000"/>
            <a:ext cx="3391200" cy="2232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12" name="!!scene-rule-navy"/>
          <p:cNvSpPr/>
          <p:nvPr/>
        </p:nvSpPr>
        <p:spPr>
          <a:xfrm xmlns:a="http://schemas.openxmlformats.org/drawingml/2006/main">
            <a:off x="11509200" y="5148000"/>
            <a:ext cx="18000" cy="72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13" name="!!scene-rule-gold"/>
          <p:cNvSpPr/>
          <p:nvPr/>
        </p:nvSpPr>
        <p:spPr>
          <a:xfrm xmlns:a="http://schemas.openxmlformats.org/drawingml/2006/main">
            <a:off x="684000" y="2052000"/>
            <a:ext cx="7200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14" name="!!scene-dot"/>
          <p:cNvSpPr/>
          <p:nvPr/>
        </p:nvSpPr>
        <p:spPr>
          <a:xfrm xmlns:a="http://schemas.openxmlformats.org/drawingml/2006/main">
            <a:off x="78372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15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16" name="!!#s16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NEXT</a:t>
            </a:r>
          </a:p>
        </p:txBody>
      </p:sp>
      <p:sp>
        <p:nvSpPr>
          <p:cNvPr id="100317" name="!!#s16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Next steps</a:t>
            </a:r>
          </a:p>
        </p:txBody>
      </p:sp>
      <p:sp>
        <p:nvSpPr>
          <p:cNvPr id="100318" name="!!#s16-eye-c0"/>
          <p:cNvSpPr txBox="1"/>
          <p:nvPr/>
        </p:nvSpPr>
        <p:spPr>
          <a:xfrm xmlns:a="http://schemas.openxmlformats.org/drawingml/2006/main">
            <a:off x="936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319" name="!!#s16-chead0"/>
          <p:cNvSpPr txBox="1"/>
          <p:nvPr/>
        </p:nvSpPr>
        <p:spPr>
          <a:xfrm xmlns:a="http://schemas.openxmlformats.org/drawingml/2006/main">
            <a:off x="936000" y="3006000"/>
            <a:ext cx="2887200" cy="65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000" b="1">
                <a:solidFill>
                  <a:srgbClr val="F5F4F2"/>
                </a:solidFill>
                <a:latin typeface="Georgia"/>
                <a:ea typeface="Georgia"/>
              </a:rPr>
              <a:t>A scoping call</a:t>
            </a:r>
          </a:p>
        </p:txBody>
      </p:sp>
      <p:sp>
        <p:nvSpPr>
          <p:cNvPr id="100320" name="!!#s16-cbody0"/>
          <p:cNvSpPr txBox="1"/>
          <p:nvPr/>
        </p:nvSpPr>
        <p:spPr>
          <a:xfrm xmlns:a="http://schemas.openxmlformats.org/drawingml/2006/main">
            <a:off x="936000" y="3801600"/>
            <a:ext cx="2887200" cy="64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Thirty minutes on your close calendar.</a:t>
            </a:r>
          </a:p>
        </p:txBody>
      </p:sp>
      <p:sp>
        <p:nvSpPr>
          <p:cNvPr id="100321" name="!!#s16-card1"/>
          <p:cNvSpPr/>
          <p:nvPr/>
        </p:nvSpPr>
        <p:spPr>
          <a:xfrm xmlns:a="http://schemas.openxmlformats.org/drawingml/2006/main">
            <a:off x="4399200" y="2448000"/>
            <a:ext cx="3391200" cy="2232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22" name="!!#s16-eye-c1"/>
          <p:cNvSpPr txBox="1"/>
          <p:nvPr/>
        </p:nvSpPr>
        <p:spPr>
          <a:xfrm xmlns:a="http://schemas.openxmlformats.org/drawingml/2006/main">
            <a:off x="46512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323" name="!!#s16-chead1"/>
          <p:cNvSpPr txBox="1"/>
          <p:nvPr/>
        </p:nvSpPr>
        <p:spPr>
          <a:xfrm xmlns:a="http://schemas.openxmlformats.org/drawingml/2006/main">
            <a:off x="4651200" y="3006000"/>
            <a:ext cx="2887200" cy="65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000" b="1">
                <a:solidFill>
                  <a:srgbClr val="F5F4F2"/>
                </a:solidFill>
                <a:latin typeface="Georgia"/>
                <a:ea typeface="Georgia"/>
              </a:rPr>
              <a:t>Scope and fee in writing</a:t>
            </a:r>
          </a:p>
        </p:txBody>
      </p:sp>
      <p:sp>
        <p:nvSpPr>
          <p:cNvPr id="100324" name="!!#s16-cbody1"/>
          <p:cNvSpPr txBox="1"/>
          <p:nvPr/>
        </p:nvSpPr>
        <p:spPr>
          <a:xfrm xmlns:a="http://schemas.openxmlformats.org/drawingml/2006/main">
            <a:off x="4651200" y="3801600"/>
            <a:ext cx="2887200" cy="64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What we run, and what it costs.</a:t>
            </a:r>
          </a:p>
        </p:txBody>
      </p:sp>
      <p:sp>
        <p:nvSpPr>
          <p:cNvPr id="100325" name="!!#s16-card2"/>
          <p:cNvSpPr/>
          <p:nvPr/>
        </p:nvSpPr>
        <p:spPr>
          <a:xfrm xmlns:a="http://schemas.openxmlformats.org/drawingml/2006/main">
            <a:off x="8118000" y="2448000"/>
            <a:ext cx="3391200" cy="2232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26" name="!!#s16-eye-c2"/>
          <p:cNvSpPr txBox="1"/>
          <p:nvPr/>
        </p:nvSpPr>
        <p:spPr>
          <a:xfrm xmlns:a="http://schemas.openxmlformats.org/drawingml/2006/main">
            <a:off x="8370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327" name="!!#s16-chead2"/>
          <p:cNvSpPr txBox="1"/>
          <p:nvPr/>
        </p:nvSpPr>
        <p:spPr>
          <a:xfrm xmlns:a="http://schemas.openxmlformats.org/drawingml/2006/main">
            <a:off x="8370000" y="3006000"/>
            <a:ext cx="2887200" cy="65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000" b="1">
                <a:solidFill>
                  <a:srgbClr val="F5F4F2"/>
                </a:solidFill>
                <a:latin typeface="Georgia"/>
                <a:ea typeface="Georgia"/>
              </a:rPr>
              <a:t>Transition</a:t>
            </a:r>
          </a:p>
        </p:txBody>
      </p:sp>
      <p:sp>
        <p:nvSpPr>
          <p:cNvPr id="100328" name="!!#s16-cbody2"/>
          <p:cNvSpPr txBox="1"/>
          <p:nvPr/>
        </p:nvSpPr>
        <p:spPr>
          <a:xfrm xmlns:a="http://schemas.openxmlformats.org/drawingml/2006/main">
            <a:off x="8370000" y="3801600"/>
            <a:ext cx="2887200" cy="64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We run the first close alongside yours.</a:t>
            </a:r>
          </a:p>
        </p:txBody>
      </p:sp>
      <p:sp>
        <p:nvSpPr>
          <p:cNvPr id="100329" name="!!#s16-ctdiv"/>
          <p:cNvSpPr/>
          <p:nvPr/>
        </p:nvSpPr>
        <p:spPr>
          <a:xfrm xmlns:a="http://schemas.openxmlformats.org/drawingml/2006/main">
            <a:off x="684000" y="4932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30" name="!!#s16-eye-ct0"/>
          <p:cNvSpPr txBox="1"/>
          <p:nvPr/>
        </p:nvSpPr>
        <p:spPr>
          <a:xfrm xmlns:a="http://schemas.openxmlformats.org/drawingml/2006/main">
            <a:off x="684000" y="5094000"/>
            <a:ext cx="3391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OFFICES</a:t>
            </a:r>
          </a:p>
        </p:txBody>
      </p:sp>
      <p:sp>
        <p:nvSpPr>
          <p:cNvPr id="100331" name="!!#s16-contact0"/>
          <p:cNvSpPr txBox="1"/>
          <p:nvPr/>
        </p:nvSpPr>
        <p:spPr>
          <a:xfrm xmlns:a="http://schemas.openxmlformats.org/drawingml/2006/main">
            <a:off x="684000" y="5364000"/>
            <a:ext cx="33912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500">
                <a:solidFill>
                  <a:srgbClr val="8A9BBF"/>
                </a:solidFill>
                <a:latin typeface="Arial"/>
                <a:ea typeface="Arial"/>
              </a:rPr>
              <a:t>Bangalore · Chennai</a:t>
            </a:r>
          </a:p>
        </p:txBody>
      </p:sp>
      <p:sp>
        <p:nvSpPr>
          <p:cNvPr id="100332" name="!!#s16-eye-ct1"/>
          <p:cNvSpPr txBox="1"/>
          <p:nvPr/>
        </p:nvSpPr>
        <p:spPr>
          <a:xfrm xmlns:a="http://schemas.openxmlformats.org/drawingml/2006/main">
            <a:off x="4399200" y="5094000"/>
            <a:ext cx="3391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TELEPHONE</a:t>
            </a:r>
          </a:p>
        </p:txBody>
      </p:sp>
      <p:sp>
        <p:nvSpPr>
          <p:cNvPr id="100333" name="!!#s16-contact1"/>
          <p:cNvSpPr txBox="1"/>
          <p:nvPr/>
        </p:nvSpPr>
        <p:spPr>
          <a:xfrm xmlns:a="http://schemas.openxmlformats.org/drawingml/2006/main">
            <a:off x="4399200" y="5364000"/>
            <a:ext cx="33912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500">
                <a:solidFill>
                  <a:srgbClr val="8A9BBF"/>
                </a:solidFill>
                <a:latin typeface="Arial"/>
                <a:ea typeface="Arial"/>
              </a:rPr>
              <a:t>+91 9590360434</a:t>
            </a:r>
          </a:p>
          <a:p xmlns:a="http://schemas.openxmlformats.org/drawingml/2006/main">
            <a:pPr algn="l">
              <a:lnSpc>
                <a:spcPct val="115000"/>
              </a:lnSpc>
            </a:pPr>
            <a:r>
              <a:rPr lang="en-US" sz="1500">
                <a:solidFill>
                  <a:srgbClr val="8A9BBF"/>
                </a:solidFill>
                <a:latin typeface="Arial"/>
                <a:ea typeface="Arial"/>
              </a:rPr>
              <a:t>+91 9740540239</a:t>
            </a:r>
          </a:p>
        </p:txBody>
      </p:sp>
      <p:sp>
        <p:nvSpPr>
          <p:cNvPr id="100334" name="!!#s16-eye-ct2"/>
          <p:cNvSpPr txBox="1"/>
          <p:nvPr/>
        </p:nvSpPr>
        <p:spPr>
          <a:xfrm xmlns:a="http://schemas.openxmlformats.org/drawingml/2006/main">
            <a:off x="8118000" y="5094000"/>
            <a:ext cx="3391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EMAIL</a:t>
            </a:r>
          </a:p>
        </p:txBody>
      </p:sp>
      <p:sp>
        <p:nvSpPr>
          <p:cNvPr id="100335" name="!!#s16-contact2"/>
          <p:cNvSpPr txBox="1"/>
          <p:nvPr/>
        </p:nvSpPr>
        <p:spPr>
          <a:xfrm xmlns:a="http://schemas.openxmlformats.org/drawingml/2006/main">
            <a:off x="8118000" y="5364000"/>
            <a:ext cx="33912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500">
                <a:solidFill>
                  <a:srgbClr val="8A9BBF"/>
                </a:solidFill>
                <a:latin typeface="Arial"/>
                <a:ea typeface="Arial"/>
              </a:rPr>
              <a:t>cahkv@twchartered.com</a:t>
            </a:r>
          </a:p>
          <a:p xmlns:a="http://schemas.openxmlformats.org/drawingml/2006/main">
            <a:pPr algn="l">
              <a:lnSpc>
                <a:spcPct val="115000"/>
              </a:lnSpc>
            </a:pPr>
            <a:r>
              <a:rPr lang="en-US" sz="1500">
                <a:solidFill>
                  <a:srgbClr val="8A9BBF"/>
                </a:solidFill>
                <a:latin typeface="Arial"/>
                <a:ea typeface="Arial"/>
              </a:rPr>
              <a:t>twchartered.com</a:t>
            </a:r>
          </a:p>
        </p:txBody>
      </p:sp>
      <p:sp>
        <p:nvSpPr>
          <p:cNvPr id="100336" name="!!#s16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337" name="!!#s16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16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3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003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317" grpId="0"/>
      <p:bldP spid="100319" grpId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OfficeCLI/1.0.158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2026-10-24T07:50:58Z</dcterms:created>
  <cp:lastModifiedBy>OfficeCLI</cp:lastModifiedBy>
  <dcterms:modified xsi:type="dcterms:W3CDTF">2026-10-24T07:50:58Z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1.0.158</vt:lpwstr>
  </op:property>
  <op:property fmtid="{D5CDD505-2E9C-101B-9397-08002B2CF9AE}" pid="3" name="OfficeCLI.LastModified">
    <vt:lpwstr xmlns:vt="http://schemas.openxmlformats.org/officeDocument/2006/docPropsVTypes">2026-10-24T07:52:12Z</vt:lpwstr>
  </op:property>
</op:Properties>
</file>