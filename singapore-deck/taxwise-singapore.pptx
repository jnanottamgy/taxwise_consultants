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def6225c38d47c8" /><Relationship Type="http://schemas.openxmlformats.org/package/2006/relationships/metadata/core-properties" Target="/docProps/core.xml" Id="R35402a45714f4903" /><Relationship Type="http://schemas.openxmlformats.org/officeDocument/2006/relationships/extended-properties" Target="/docProps/app.xml" Id="Rd883564bfe5b481e" /><Relationship Type="http://schemas.openxmlformats.org/officeDocument/2006/relationships/custom-properties" Target="/docProps/custom.xml" Id="Re208874238c44ed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0494cccf25194aa9"/>
  </p:notesMasterIdLst>
  <p:sldIdLst>
    <p:sldId id="256" r:id="Re1f5868843e84531"/>
    <p:sldId id="257" r:id="Rc94a8e18f3084367"/>
    <p:sldId id="258" r:id="R39e38e0410a548cc"/>
    <p:sldId id="259" r:id="R2a74e1db1faa4046"/>
    <p:sldId id="260" r:id="R90ad741ba341433d"/>
    <p:sldId id="261" r:id="R29fbb77d5c784bb4"/>
    <p:sldId id="262" r:id="R5e679600d0b64b22"/>
    <p:sldId id="263" r:id="R0fa31e3f527c4086"/>
    <p:sldId id="264" r:id="Re1d0a42f7bd34106"/>
    <p:sldId id="265" r:id="Rd0d53df402814f8f"/>
    <p:sldId id="266" r:id="Ra3efbc7a95d24f2f"/>
    <p:sldId id="267" r:id="Reb9530dce13947ff"/>
    <p:sldId id="268" r:id="R54d06356fee94162"/>
    <p:sldId id="269" r:id="R1a86fd3a992e42d6"/>
    <p:sldId id="270" r:id="R67e47d610bab4c57"/>
    <p:sldId id="271" r:id="R967d7af0c437432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e1f5868843e84531" /><Relationship Type="http://schemas.openxmlformats.org/officeDocument/2006/relationships/slide" Target="/ppt/slides/slide2.xml" Id="Rc94a8e18f3084367" /><Relationship Type="http://schemas.openxmlformats.org/officeDocument/2006/relationships/slide" Target="/ppt/slides/slide3.xml" Id="R39e38e0410a548cc" /><Relationship Type="http://schemas.openxmlformats.org/officeDocument/2006/relationships/slide" Target="/ppt/slides/slide4.xml" Id="R2a74e1db1faa4046" /><Relationship Type="http://schemas.openxmlformats.org/officeDocument/2006/relationships/slide" Target="/ppt/slides/slide5.xml" Id="R90ad741ba341433d" /><Relationship Type="http://schemas.openxmlformats.org/officeDocument/2006/relationships/slide" Target="/ppt/slides/slide6.xml" Id="R29fbb77d5c784bb4" /><Relationship Type="http://schemas.openxmlformats.org/officeDocument/2006/relationships/slide" Target="/ppt/slides/slide7.xml" Id="R5e679600d0b64b22" /><Relationship Type="http://schemas.openxmlformats.org/officeDocument/2006/relationships/slide" Target="/ppt/slides/slide8.xml" Id="R0fa31e3f527c4086" /><Relationship Type="http://schemas.openxmlformats.org/officeDocument/2006/relationships/slide" Target="/ppt/slides/slide9.xml" Id="Re1d0a42f7bd34106" /><Relationship Type="http://schemas.openxmlformats.org/officeDocument/2006/relationships/slide" Target="/ppt/slides/slide10.xml" Id="Rd0d53df402814f8f" /><Relationship Type="http://schemas.openxmlformats.org/officeDocument/2006/relationships/slide" Target="/ppt/slides/slide11.xml" Id="Ra3efbc7a95d24f2f" /><Relationship Type="http://schemas.openxmlformats.org/officeDocument/2006/relationships/slide" Target="/ppt/slides/slide12.xml" Id="Reb9530dce13947ff" /><Relationship Type="http://schemas.openxmlformats.org/officeDocument/2006/relationships/slide" Target="/ppt/slides/slide13.xml" Id="R54d06356fee94162" /><Relationship Type="http://schemas.openxmlformats.org/officeDocument/2006/relationships/slide" Target="/ppt/slides/slide14.xml" Id="R1a86fd3a992e42d6" /><Relationship Type="http://schemas.openxmlformats.org/officeDocument/2006/relationships/slide" Target="/ppt/slides/slide15.xml" Id="R67e47d610bab4c57" /><Relationship Type="http://schemas.openxmlformats.org/officeDocument/2006/relationships/slide" Target="/ppt/slides/slide16.xml" Id="R967d7af0c4374323" /><Relationship Type="http://schemas.openxmlformats.org/officeDocument/2006/relationships/notesMaster" Target="/ppt/notesMasters/notesMaster1.xml" Id="R0494cccf2519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b6906a71ac640d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1a598527bce4219" /><Relationship Type="http://schemas.openxmlformats.org/officeDocument/2006/relationships/slide" Target="/ppt/slides/slide2.xml" Id="R04390728d7f14e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beac9e174246eb" /><Relationship Type="http://schemas.openxmlformats.org/officeDocument/2006/relationships/slide" Target="/ppt/slides/slide3.xml" Id="R80c12e6d30134e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81e290bf24b4050" /><Relationship Type="http://schemas.openxmlformats.org/officeDocument/2006/relationships/slide" Target="/ppt/slides/slide4.xml" Id="R902ab483e8d0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aae44c19c2b4d2a" /><Relationship Type="http://schemas.openxmlformats.org/officeDocument/2006/relationships/slide" Target="/ppt/slides/slide5.xml" Id="R6d7ac55853f84b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1c003e1787f4537" /><Relationship Type="http://schemas.openxmlformats.org/officeDocument/2006/relationships/slide" Target="/ppt/slides/slide6.xml" Id="Rbafb318330fb44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7018f39a5b4824" /><Relationship Type="http://schemas.openxmlformats.org/officeDocument/2006/relationships/slide" Target="/ppt/slides/slide7.xml" Id="Rbd93e1263aa6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f6e65077e0243d1" /><Relationship Type="http://schemas.openxmlformats.org/officeDocument/2006/relationships/slide" Target="/ppt/slides/slide8.xml" Id="R84bd2159c3e947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8b2c497dd1f4398" /><Relationship Type="http://schemas.openxmlformats.org/officeDocument/2006/relationships/slide" Target="/ppt/slides/slide9.xml" Id="R7d5bae44b57e49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9c929f6e614976" /><Relationship Type="http://schemas.openxmlformats.org/officeDocument/2006/relationships/slide" Target="/ppt/slides/slide10.xml" Id="R0030ad31d80b41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bb3e88e48fd4b01" /><Relationship Type="http://schemas.openxmlformats.org/officeDocument/2006/relationships/slide" Target="/ppt/slides/slide11.xml" Id="Rcb6b4986dace49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c9d9bb20ba74900" /><Relationship Type="http://schemas.openxmlformats.org/officeDocument/2006/relationships/slide" Target="/ppt/slides/slide12.xml" Id="Rbeb110fc10bf4e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0bdacfcd544469a" /><Relationship Type="http://schemas.openxmlformats.org/officeDocument/2006/relationships/slide" Target="/ppt/slides/slide13.xml" Id="Rf9773eca73574d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81e098bc2f94359" /><Relationship Type="http://schemas.openxmlformats.org/officeDocument/2006/relationships/slide" Target="/ppt/slides/slide14.xml" Id="R41ae78c8668b46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fc9604a1334e7d" /><Relationship Type="http://schemas.openxmlformats.org/officeDocument/2006/relationships/slide" Target="/ppt/slides/slide15.xml" Id="R4f9afb33321f4b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5fa2d4443fb4e89" /><Relationship Type="http://schemas.openxmlformats.org/officeDocument/2006/relationships/slide" Target="/ppt/slides/slide16.xml" Id="R12ae168b9ece4b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Open by establishing that this is an established practice, not a new venture. Ten years, 500 clients, 30 people in-house. Chennai is the second office. Do not rush the four figures — let them land before moving 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These are the three practice lines as published on the website. The point to land is that they are not separate products: one team does the recurring compliance, the management reporting and the transaction work.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Pivot. Everything so far has been India. From here the deck is about Singapore.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qualitative arguments only — there are deliberately no market statistics on this slide. Drop your own research in here if the audience expects numbers; the layout leaves a clean band below the cards for a stat row.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the problem slide. Do not soften it. The cost of a local hire is fixed and it lands before any of the work gets done. Pause on the third point — obligations do not scale down, which is what catches smaller entities out.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Pivot to the offer.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down the four steps in order. Every name on this slide is a real filing: Form F5 is the quarterly GST return, ECI is the estimated chargeable income filing, Form C-S or C is the corporate return, and ACRA takes the annual return plus XBRL accounts. Deliberately no rates or deadlines — those move.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commercial claim. Say plainly that the saving is structural: preparation happens in Bangalore, sign-off happens with a Singapore-qualified CA, and the client carries no headcount. Be ready to substantiate the 50 per cent figure if asked — have a worked comparison to hand.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Pivot to the cross-border work, which is where most of the real engagement sits.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Both poles, then the money movement between them. FEMA governs the India leg on every transaction. ODI covers Indian money going out, FC-GPR covers money coming in, and the India-Singapore treaty governs relief. If the prospect has an existing structure, this is the slide to go off-script 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adjacent work, grouped as the client sees it. Valuation matters most to anyone raising or transferring shares — Rule 11UA and FEMA pricing both bite.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differentiator: all of this is in-house and on one payroll. No sub-contracting and no associate network means one point of accountability. The Singapore-qualified CA is the point to press with this audience.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Unusual for a CA firm and worth dwelling on. Engineers on staff means the practice systems are built around a filing calendar rather than a sales pipeline, and it means we can build a client a tool when they need one.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Partner-led, and say it plainly: the partner who scopes an engagement is the one who reviews it. Four partners, so a Singapore client is never waiting on one person's calendar. Hand over to whichever partner is in the room.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Close on the three steps and leave the contact block up. The ask is a thirty-minute scoping call, nothing larger.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6ad114af84d0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c6e9ed8d446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9c9a4a9124a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2b450bf6f4a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6dbeb97fb4f0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9dd1216ed854ac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3e42158314bbc" /><Relationship Type="http://schemas.openxmlformats.org/officeDocument/2006/relationships/image" Target="/ppt/media/image.png" Id="R26c3c8e54a614d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b07aea0204f39" /><Relationship Type="http://schemas.openxmlformats.org/officeDocument/2006/relationships/notesSlide" Target="/ppt/notesSlides/notesSlide1.xml" Id="R7a5b7737b5c048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65e0f022f4fa7" /><Relationship Type="http://schemas.openxmlformats.org/officeDocument/2006/relationships/notesSlide" Target="/ppt/notesSlides/notesSlide2.xml" Id="R1dd6fc9324ef40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90c6674f247b6" /><Relationship Type="http://schemas.openxmlformats.org/officeDocument/2006/relationships/notesSlide" Target="/ppt/notesSlides/notesSlide3.xml" Id="R0324a0e96172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c553b77b34e61" /><Relationship Type="http://schemas.openxmlformats.org/officeDocument/2006/relationships/notesSlide" Target="/ppt/notesSlides/notesSlide4.xml" Id="Rcd225b6b12f040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dcc74b724937" /><Relationship Type="http://schemas.openxmlformats.org/officeDocument/2006/relationships/notesSlide" Target="/ppt/notesSlides/notesSlide5.xml" Id="Rcea593eb731e49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30d6c486f41b0" /><Relationship Type="http://schemas.openxmlformats.org/officeDocument/2006/relationships/notesSlide" Target="/ppt/notesSlides/notesSlide6.xml" Id="R3ec63405947f4c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9077cbe9c471c" /><Relationship Type="http://schemas.openxmlformats.org/officeDocument/2006/relationships/notesSlide" Target="/ppt/notesSlides/notesSlide7.xml" Id="Rb8ac2994b1d946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73c91756345a4" /><Relationship Type="http://schemas.openxmlformats.org/officeDocument/2006/relationships/notesSlide" Target="/ppt/notesSlides/notesSlide8.xml" Id="R541d081971ac46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a4da274474a11" /><Relationship Type="http://schemas.openxmlformats.org/officeDocument/2006/relationships/notesSlide" Target="/ppt/notesSlides/notesSlide9.xml" Id="Rb51dec81765b4a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8d90372814cd0" /><Relationship Type="http://schemas.openxmlformats.org/officeDocument/2006/relationships/notesSlide" Target="/ppt/notesSlides/notesSlide10.xml" Id="R857b8e1a45974c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18fbb46da47ce" /><Relationship Type="http://schemas.openxmlformats.org/officeDocument/2006/relationships/notesSlide" Target="/ppt/notesSlides/notesSlide11.xml" Id="R63063fce947149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b71ebfac64b24" /><Relationship Type="http://schemas.openxmlformats.org/officeDocument/2006/relationships/notesSlide" Target="/ppt/notesSlides/notesSlide12.xml" Id="Rc8e60eb089fe46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de8f16cfa40f6" /><Relationship Type="http://schemas.openxmlformats.org/officeDocument/2006/relationships/notesSlide" Target="/ppt/notesSlides/notesSlide13.xml" Id="Rce6c0e9482f64d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b5b293c974677" /><Relationship Type="http://schemas.openxmlformats.org/officeDocument/2006/relationships/notesSlide" Target="/ppt/notesSlides/notesSlide14.xml" Id="Rd557364ac24849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ffc268caa47e1" /><Relationship Type="http://schemas.openxmlformats.org/officeDocument/2006/relationships/notesSlide" Target="/ppt/notesSlides/notesSlide15.xml" Id="R13fa43b1e74a4a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00" name="!!scene-orb-gold"/>
          <p:cNvSpPr/>
          <p:nvPr/>
        </p:nvSpPr>
        <p:spPr>
          <a:xfrm xmlns:a="http://schemas.openxmlformats.org/drawingml/2006/main">
            <a:off x="7380000" y="432000"/>
            <a:ext cx="4680000" cy="46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!!scene-orb-steel"/>
          <p:cNvSpPr/>
          <p:nvPr/>
        </p:nvSpPr>
        <p:spPr>
          <a:xfrm xmlns:a="http://schemas.openxmlformats.org/drawingml/2006/main">
            <a:off x="1440000" y="306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!!scene-wash"/>
          <p:cNvSpPr/>
          <p:nvPr/>
        </p:nvSpPr>
        <p:spPr>
          <a:xfrm xmlns:a="http://schemas.openxmlformats.org/drawingml/2006/main">
            <a:off x="0" y="4896000"/>
            <a:ext cx="12193200" cy="196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3" name="!!scene-rule-navy"/>
          <p:cNvSpPr/>
          <p:nvPr/>
        </p:nvSpPr>
        <p:spPr>
          <a:xfrm xmlns:a="http://schemas.openxmlformats.org/drawingml/2006/main">
            <a:off x="11509200" y="4392000"/>
            <a:ext cx="18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!!scene-rule-gold"/>
          <p:cNvSpPr/>
          <p:nvPr/>
        </p:nvSpPr>
        <p:spPr>
          <a:xfrm xmlns:a="http://schemas.openxmlformats.org/drawingml/2006/main">
            <a:off x="5040000" y="4104000"/>
            <a:ext cx="2088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5" name="!!scene-dot"/>
          <p:cNvSpPr/>
          <p:nvPr/>
        </p:nvSpPr>
        <p:spPr>
          <a:xfrm xmlns:a="http://schemas.openxmlformats.org/drawingml/2006/main">
            <a:off x="7081200" y="4068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006" name="Picture 1" descr="TaxWise Consultants shield mark, reversed in off-wh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c3c8e54a614d8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677200" y="1188000"/>
            <a:ext cx="835200" cy="936000"/>
          </a:xfrm>
          <a:prstGeom xmlns:a="http://schemas.openxmlformats.org/drawingml/2006/main" prst="rect">
            <a:avLst/>
          </a:prstGeom>
        </p:spPr>
      </p:pic>
      <p:sp>
        <p:nvSpPr>
          <p:cNvPr id="100007" name="!!#s1-eye-loc"/>
          <p:cNvSpPr txBox="1"/>
          <p:nvPr/>
        </p:nvSpPr>
        <p:spPr>
          <a:xfrm xmlns:a="http://schemas.openxmlformats.org/drawingml/2006/main">
            <a:off x="684000" y="2448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BANGALORE · CHENNAI · SINGAPORE</a:t>
            </a:r>
          </a:p>
        </p:txBody>
      </p:sp>
      <p:sp>
        <p:nvSpPr>
          <p:cNvPr id="100008" name="!!#s1-title"/>
          <p:cNvSpPr txBox="1"/>
          <p:nvPr/>
        </p:nvSpPr>
        <p:spPr>
          <a:xfrm xmlns:a="http://schemas.openxmlformats.org/drawingml/2006/main">
            <a:off x="684000" y="2772000"/>
            <a:ext cx="108252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5800" b="1">
                <a:solidFill>
                  <a:srgbClr val="F5F4F2"/>
                </a:solidFill>
                <a:latin typeface="Georgia"/>
                <a:ea typeface="Georgia"/>
              </a:rPr>
              <a:t>TaxWise Consultants</a:t>
            </a:r>
          </a:p>
        </p:txBody>
      </p:sp>
      <p:sp>
        <p:nvSpPr>
          <p:cNvPr id="100009" name="!!#s1-strap"/>
          <p:cNvSpPr txBox="1"/>
          <p:nvPr/>
        </p:nvSpPr>
        <p:spPr>
          <a:xfrm xmlns:a="http://schemas.openxmlformats.org/drawingml/2006/main">
            <a:off x="1778400" y="5148000"/>
            <a:ext cx="864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</a:pPr>
            <a:r>
              <a:rPr lang="en-US" sz="2000">
                <a:solidFill>
                  <a:srgbClr val="8A9BBF"/>
                </a:solidFill>
                <a:latin typeface="Arial"/>
                <a:ea typeface="Arial"/>
              </a:rPr>
              <a:t>Cross-border finance, tax and compliance for companies operating between India and Singapore.</a:t>
            </a:r>
          </a:p>
        </p:txBody>
      </p:sp>
      <p:sp>
        <p:nvSpPr>
          <p:cNvPr id="100010" name="!!#s1-meta"/>
          <p:cNvSpPr txBox="1"/>
          <p:nvPr/>
        </p:nvSpPr>
        <p:spPr>
          <a:xfrm xmlns:a="http://schemas.openxmlformats.org/drawingml/2006/main">
            <a:off x="684000" y="5976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1100" spc="180">
                <a:solidFill>
                  <a:srgbClr val="8A9BBF"/>
                </a:solidFill>
                <a:latin typeface="Arial"/>
                <a:ea typeface="Arial"/>
              </a:rPr>
              <a:t>SINGAPORE PRACTICE  ·  2026  ·  TWCHARTERED.COM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08" grpId="0"/>
      <p:bldP spid="100009" grpId="1"/>
    </p:bldLst>
  </p:timing>
</p:sld>
</file>

<file path=ppt/slides/slide2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11" name="!!scene-orb-gold"/>
          <p:cNvSpPr/>
          <p:nvPr/>
        </p:nvSpPr>
        <p:spPr>
          <a:xfrm xmlns:a="http://schemas.openxmlformats.org/drawingml/2006/main">
            <a:off x="8640000" y="342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!!scene-orb-steel"/>
          <p:cNvSpPr/>
          <p:nvPr/>
        </p:nvSpPr>
        <p:spPr>
          <a:xfrm xmlns:a="http://schemas.openxmlformats.org/drawingml/2006/main">
            <a:off x="792000" y="3240000"/>
            <a:ext cx="2880000" cy="28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!!scene-wash"/>
          <p:cNvSpPr/>
          <p:nvPr/>
        </p:nvSpPr>
        <p:spPr>
          <a:xfrm xmlns:a="http://schemas.openxmlformats.org/drawingml/2006/main">
            <a:off x="684000" y="4536000"/>
            <a:ext cx="10825200" cy="1404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!!scene-rule-navy"/>
          <p:cNvSpPr/>
          <p:nvPr/>
        </p:nvSpPr>
        <p:spPr>
          <a:xfrm xmlns:a="http://schemas.openxmlformats.org/drawingml/2006/main">
            <a:off x="11509200" y="864000"/>
            <a:ext cx="18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5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!!#s2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THE FIRM</a:t>
            </a:r>
          </a:p>
        </p:txBody>
      </p:sp>
      <p:sp>
        <p:nvSpPr>
          <p:cNvPr id="100019" name="!!#s2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practice today</a:t>
            </a:r>
          </a:p>
        </p:txBody>
      </p:sp>
      <p:sp>
        <p:nvSpPr>
          <p:cNvPr id="100020" name="!!#s2-lead"/>
          <p:cNvSpPr txBox="1"/>
          <p:nvPr/>
        </p:nvSpPr>
        <p:spPr>
          <a:xfrm xmlns:a="http://schemas.openxmlformats.org/drawingml/2006/main">
            <a:off x="684000" y="2376000"/>
            <a:ext cx="6768000" cy="2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900">
                <a:solidFill>
                  <a:srgbClr val="8A9BBF"/>
                </a:solidFill>
                <a:latin typeface="Arial"/>
                <a:ea typeface="Arial"/>
              </a:rPr>
              <a:t>TaxWise Consultants is a chartered accountancy and finance advisory firm headquartered in Bangalore, with a second office in Chennai. We are the finance and compliance function for companies that would rather not build one in-house.</a:t>
            </a:r>
          </a:p>
        </p:txBody>
      </p:sp>
      <p:sp>
        <p:nvSpPr>
          <p:cNvPr id="100021" name="!!#s2-eye-office"/>
          <p:cNvSpPr txBox="1"/>
          <p:nvPr/>
        </p:nvSpPr>
        <p:spPr>
          <a:xfrm xmlns:a="http://schemas.openxmlformats.org/drawingml/2006/main">
            <a:off x="7740000" y="2376000"/>
            <a:ext cx="3769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REGISTERED OFFICE</a:t>
            </a:r>
          </a:p>
        </p:txBody>
      </p:sp>
      <p:sp>
        <p:nvSpPr>
          <p:cNvPr id="100022" name="!!#s2-addr"/>
          <p:cNvSpPr txBox="1"/>
          <p:nvPr/>
        </p:nvSpPr>
        <p:spPr>
          <a:xfrm xmlns:a="http://schemas.openxmlformats.org/drawingml/2006/main">
            <a:off x="7740000" y="2682000"/>
            <a:ext cx="3769200" cy="8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600">
                <a:solidFill>
                  <a:srgbClr val="8A9BBF"/>
                </a:solidFill>
                <a:latin typeface="Arial"/>
                <a:ea typeface="Arial"/>
              </a:rPr>
              <a:t>307, 1st Floor, 14th Main Road, RMV Extension, Sadhashivnagar, Bangalore 560 080</a:t>
            </a:r>
          </a:p>
        </p:txBody>
      </p:sp>
      <p:sp>
        <p:nvSpPr>
          <p:cNvPr id="100023" name="!!#s2-div"/>
          <p:cNvSpPr/>
          <p:nvPr/>
        </p:nvSpPr>
        <p:spPr>
          <a:xfrm xmlns:a="http://schemas.openxmlformats.org/drawingml/2006/main">
            <a:off x="7740000" y="3672000"/>
            <a:ext cx="3769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4" name="!!#s2-eye-office2"/>
          <p:cNvSpPr txBox="1"/>
          <p:nvPr/>
        </p:nvSpPr>
        <p:spPr>
          <a:xfrm xmlns:a="http://schemas.openxmlformats.org/drawingml/2006/main">
            <a:off x="7740000" y="3798000"/>
            <a:ext cx="3769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SECOND OFFICE</a:t>
            </a:r>
          </a:p>
        </p:txBody>
      </p:sp>
      <p:sp>
        <p:nvSpPr>
          <p:cNvPr id="100025" name="!!#s2-addr2"/>
          <p:cNvSpPr txBox="1"/>
          <p:nvPr/>
        </p:nvSpPr>
        <p:spPr>
          <a:xfrm xmlns:a="http://schemas.openxmlformats.org/drawingml/2006/main">
            <a:off x="7740000" y="4086000"/>
            <a:ext cx="37692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600">
                <a:solidFill>
                  <a:srgbClr val="8A9BBF"/>
                </a:solidFill>
                <a:latin typeface="Arial"/>
                <a:ea typeface="Arial"/>
              </a:rPr>
              <a:t>Chennai</a:t>
            </a:r>
          </a:p>
        </p:txBody>
      </p:sp>
      <p:sp>
        <p:nvSpPr>
          <p:cNvPr id="100026" name="!!#s2-kpi0"/>
          <p:cNvSpPr txBox="1"/>
          <p:nvPr/>
        </p:nvSpPr>
        <p:spPr>
          <a:xfrm xmlns:a="http://schemas.openxmlformats.org/drawingml/2006/main">
            <a:off x="936000" y="4752000"/>
            <a:ext cx="22104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C9A84C"/>
                </a:solidFill>
                <a:latin typeface="Georgia"/>
                <a:ea typeface="Georgia"/>
              </a:rPr>
              <a:t>10+</a:t>
            </a:r>
          </a:p>
        </p:txBody>
      </p:sp>
      <p:sp>
        <p:nvSpPr>
          <p:cNvPr id="100027" name="!!#s2-kpisub0"/>
          <p:cNvSpPr txBox="1"/>
          <p:nvPr/>
        </p:nvSpPr>
        <p:spPr>
          <a:xfrm xmlns:a="http://schemas.openxmlformats.org/drawingml/2006/main">
            <a:off x="936000" y="5454000"/>
            <a:ext cx="2210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spc="80">
                <a:solidFill>
                  <a:srgbClr val="8A9BBF"/>
                </a:solidFill>
                <a:latin typeface="Arial"/>
                <a:ea typeface="Arial"/>
              </a:rPr>
              <a:t>Years in practice</a:t>
            </a:r>
          </a:p>
        </p:txBody>
      </p:sp>
      <p:sp>
        <p:nvSpPr>
          <p:cNvPr id="100028" name="!!#s2-kpi1"/>
          <p:cNvSpPr txBox="1"/>
          <p:nvPr/>
        </p:nvSpPr>
        <p:spPr>
          <a:xfrm xmlns:a="http://schemas.openxmlformats.org/drawingml/2006/main">
            <a:off x="3722400" y="4752000"/>
            <a:ext cx="22104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C9A84C"/>
                </a:solidFill>
                <a:latin typeface="Georgia"/>
                <a:ea typeface="Georgia"/>
              </a:rPr>
              <a:t>500+</a:t>
            </a:r>
          </a:p>
        </p:txBody>
      </p:sp>
      <p:sp>
        <p:nvSpPr>
          <p:cNvPr id="100029" name="!!#s2-kpisub1"/>
          <p:cNvSpPr txBox="1"/>
          <p:nvPr/>
        </p:nvSpPr>
        <p:spPr>
          <a:xfrm xmlns:a="http://schemas.openxmlformats.org/drawingml/2006/main">
            <a:off x="3722400" y="5454000"/>
            <a:ext cx="2210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spc="80">
                <a:solidFill>
                  <a:srgbClr val="8A9BBF"/>
                </a:solidFill>
                <a:latin typeface="Arial"/>
                <a:ea typeface="Arial"/>
              </a:rPr>
              <a:t>Clients advised</a:t>
            </a:r>
          </a:p>
        </p:txBody>
      </p:sp>
      <p:sp>
        <p:nvSpPr>
          <p:cNvPr id="100030" name="!!#s2-kpi2"/>
          <p:cNvSpPr txBox="1"/>
          <p:nvPr/>
        </p:nvSpPr>
        <p:spPr>
          <a:xfrm xmlns:a="http://schemas.openxmlformats.org/drawingml/2006/main">
            <a:off x="6508800" y="4752000"/>
            <a:ext cx="22104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C9A84C"/>
                </a:solidFill>
                <a:latin typeface="Georgia"/>
                <a:ea typeface="Georgia"/>
              </a:rPr>
              <a:t>30+</a:t>
            </a:r>
          </a:p>
        </p:txBody>
      </p:sp>
      <p:sp>
        <p:nvSpPr>
          <p:cNvPr id="100031" name="!!#s2-kpisub2"/>
          <p:cNvSpPr txBox="1"/>
          <p:nvPr/>
        </p:nvSpPr>
        <p:spPr>
          <a:xfrm xmlns:a="http://schemas.openxmlformats.org/drawingml/2006/main">
            <a:off x="6508800" y="5454000"/>
            <a:ext cx="2210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spc="80">
                <a:solidFill>
                  <a:srgbClr val="8A9BBF"/>
                </a:solidFill>
                <a:latin typeface="Arial"/>
                <a:ea typeface="Arial"/>
              </a:rPr>
              <a:t>In-house specialists</a:t>
            </a:r>
          </a:p>
        </p:txBody>
      </p:sp>
      <p:sp>
        <p:nvSpPr>
          <p:cNvPr id="100032" name="!!#s2-kpi3"/>
          <p:cNvSpPr txBox="1"/>
          <p:nvPr/>
        </p:nvSpPr>
        <p:spPr>
          <a:xfrm xmlns:a="http://schemas.openxmlformats.org/drawingml/2006/main">
            <a:off x="9298800" y="4752000"/>
            <a:ext cx="2210400" cy="63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C9A84C"/>
                </a:solidFill>
                <a:latin typeface="Georgia"/>
                <a:ea typeface="Georgia"/>
              </a:rPr>
              <a:t>50 Cr+</a:t>
            </a:r>
          </a:p>
        </p:txBody>
      </p:sp>
      <p:sp>
        <p:nvSpPr>
          <p:cNvPr id="100033" name="!!#s2-kpisub3"/>
          <p:cNvSpPr txBox="1"/>
          <p:nvPr/>
        </p:nvSpPr>
        <p:spPr>
          <a:xfrm xmlns:a="http://schemas.openxmlformats.org/drawingml/2006/main">
            <a:off x="9298800" y="5454000"/>
            <a:ext cx="2210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200" spc="80">
                <a:solidFill>
                  <a:srgbClr val="8A9BBF"/>
                </a:solidFill>
                <a:latin typeface="Arial"/>
                <a:ea typeface="Arial"/>
              </a:rPr>
              <a:t>Rupees saved in tax</a:t>
            </a:r>
          </a:p>
        </p:txBody>
      </p:sp>
      <p:sp>
        <p:nvSpPr>
          <p:cNvPr id="100034" name="!!#s2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035" name="!!#s2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02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19" grpId="0"/>
      <p:bldP spid="100020" grpId="1"/>
    </p:bldLst>
  </p:timing>
</p:sld>
</file>

<file path=ppt/slides/slide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36" name="!!scene-orb-gold"/>
          <p:cNvSpPr/>
          <p:nvPr/>
        </p:nvSpPr>
        <p:spPr>
          <a:xfrm xmlns:a="http://schemas.openxmlformats.org/drawingml/2006/main">
            <a:off x="864000" y="2880000"/>
            <a:ext cx="3780000" cy="37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7" name="!!scene-orb-steel"/>
          <p:cNvSpPr/>
          <p:nvPr/>
        </p:nvSpPr>
        <p:spPr>
          <a:xfrm xmlns:a="http://schemas.openxmlformats.org/drawingml/2006/main">
            <a:off x="8100000" y="54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!!scene-wash"/>
          <p:cNvSpPr/>
          <p:nvPr/>
        </p:nvSpPr>
        <p:spPr>
          <a:xfrm xmlns:a="http://schemas.openxmlformats.org/drawingml/2006/main">
            <a:off x="684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9" name="!!scene-rule-navy"/>
          <p:cNvSpPr/>
          <p:nvPr/>
        </p:nvSpPr>
        <p:spPr>
          <a:xfrm xmlns:a="http://schemas.openxmlformats.org/drawingml/2006/main">
            <a:off x="11509200" y="2484000"/>
            <a:ext cx="180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0" name="!!scene-rule-gold"/>
          <p:cNvSpPr/>
          <p:nvPr/>
        </p:nvSpPr>
        <p:spPr>
          <a:xfrm xmlns:a="http://schemas.openxmlformats.org/drawingml/2006/main">
            <a:off x="684000" y="2052000"/>
            <a:ext cx="432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1" name="!!scene-dot"/>
          <p:cNvSpPr/>
          <p:nvPr/>
        </p:nvSpPr>
        <p:spPr>
          <a:xfrm xmlns:a="http://schemas.openxmlformats.org/drawingml/2006/main">
            <a:off x="4957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2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3" name="!!#s3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WHAT WE DO</a:t>
            </a:r>
          </a:p>
        </p:txBody>
      </p:sp>
      <p:sp>
        <p:nvSpPr>
          <p:cNvPr id="100044" name="!!#s3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Three practices, one finance function</a:t>
            </a:r>
          </a:p>
        </p:txBody>
      </p:sp>
      <p:sp>
        <p:nvSpPr>
          <p:cNvPr id="100045" name="!!#s3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46" name="!!#s3-chead0"/>
          <p:cNvSpPr txBox="1"/>
          <p:nvPr/>
        </p:nvSpPr>
        <p:spPr>
          <a:xfrm xmlns:a="http://schemas.openxmlformats.org/drawingml/2006/main">
            <a:off x="936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Core CA Practice</a:t>
            </a:r>
          </a:p>
        </p:txBody>
      </p:sp>
      <p:sp>
        <p:nvSpPr>
          <p:cNvPr id="100047" name="!!#s3-cbody0"/>
          <p:cNvSpPr txBox="1"/>
          <p:nvPr/>
        </p:nvSpPr>
        <p:spPr>
          <a:xfrm xmlns:a="http://schemas.openxmlformats.org/drawingml/2006/main">
            <a:off x="936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Statutory audit, direct tax, GST and ROC filings. Assessments and representation.</a:t>
            </a:r>
          </a:p>
        </p:txBody>
      </p:sp>
      <p:sp>
        <p:nvSpPr>
          <p:cNvPr id="100048" name="!!#s3-card1"/>
          <p:cNvSpPr/>
          <p:nvPr/>
        </p:nvSpPr>
        <p:spPr>
          <a:xfrm xmlns:a="http://schemas.openxmlformats.org/drawingml/2006/main">
            <a:off x="43992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49" name="!!#s3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50" name="!!#s3-chead1"/>
          <p:cNvSpPr txBox="1"/>
          <p:nvPr/>
        </p:nvSpPr>
        <p:spPr>
          <a:xfrm xmlns:a="http://schemas.openxmlformats.org/drawingml/2006/main">
            <a:off x="46512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CFO Advisory</a:t>
            </a:r>
          </a:p>
        </p:txBody>
      </p:sp>
      <p:sp>
        <p:nvSpPr>
          <p:cNvPr id="100051" name="!!#s3-cbody1"/>
          <p:cNvSpPr txBox="1"/>
          <p:nvPr/>
        </p:nvSpPr>
        <p:spPr>
          <a:xfrm xmlns:a="http://schemas.openxmlformats.org/drawingml/2006/main">
            <a:off x="46512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Management reporting, working-capital control, budgeting, internal controls and board packs.</a:t>
            </a:r>
          </a:p>
        </p:txBody>
      </p:sp>
      <p:sp>
        <p:nvSpPr>
          <p:cNvPr id="100052" name="!!#s3-card2"/>
          <p:cNvSpPr/>
          <p:nvPr/>
        </p:nvSpPr>
        <p:spPr>
          <a:xfrm xmlns:a="http://schemas.openxmlformats.org/drawingml/2006/main">
            <a:off x="8118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3" name="!!#s3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054" name="!!#s3-chead2"/>
          <p:cNvSpPr txBox="1"/>
          <p:nvPr/>
        </p:nvSpPr>
        <p:spPr>
          <a:xfrm xmlns:a="http://schemas.openxmlformats.org/drawingml/2006/main">
            <a:off x="8370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Startup Advisory</a:t>
            </a:r>
          </a:p>
        </p:txBody>
      </p:sp>
      <p:sp>
        <p:nvSpPr>
          <p:cNvPr id="100055" name="!!#s3-cbody2"/>
          <p:cNvSpPr txBox="1"/>
          <p:nvPr/>
        </p:nvSpPr>
        <p:spPr>
          <a:xfrm xmlns:a="http://schemas.openxmlformats.org/drawingml/2006/main">
            <a:off x="8370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Incorporation, ESOP structuring, Rule 11UA valuations, due diligence and fundraise support.</a:t>
            </a:r>
          </a:p>
        </p:txBody>
      </p:sp>
      <p:sp>
        <p:nvSpPr>
          <p:cNvPr id="100056" name="!!#s3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057" name="!!#s3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03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44" grpId="0"/>
      <p:bldP spid="100046" grpId="1"/>
    </p:bldLst>
  </p:timing>
</p:sld>
</file>

<file path=ppt/slides/slide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58" name="!!scene-orb-gold"/>
          <p:cNvSpPr/>
          <p:nvPr/>
        </p:nvSpPr>
        <p:spPr>
          <a:xfrm xmlns:a="http://schemas.openxmlformats.org/drawingml/2006/main">
            <a:off x="6840000" y="720000"/>
            <a:ext cx="4680000" cy="46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9" name="!!scene-orb-steel"/>
          <p:cNvSpPr/>
          <p:nvPr/>
        </p:nvSpPr>
        <p:spPr>
          <a:xfrm xmlns:a="http://schemas.openxmlformats.org/drawingml/2006/main">
            <a:off x="1080000" y="3240000"/>
            <a:ext cx="3060000" cy="30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0" name="!!scene-wash"/>
          <p:cNvSpPr/>
          <p:nvPr/>
        </p:nvSpPr>
        <p:spPr>
          <a:xfrm xmlns:a="http://schemas.openxmlformats.org/drawingml/2006/main">
            <a:off x="0" y="0"/>
            <a:ext cx="12193200" cy="93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!!scene-rule-navy"/>
          <p:cNvSpPr/>
          <p:nvPr/>
        </p:nvSpPr>
        <p:spPr>
          <a:xfrm xmlns:a="http://schemas.openxmlformats.org/drawingml/2006/main">
            <a:off x="11509200" y="1080000"/>
            <a:ext cx="1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2" name="!!scene-rule-gold"/>
          <p:cNvSpPr/>
          <p:nvPr/>
        </p:nvSpPr>
        <p:spPr>
          <a:xfrm xmlns:a="http://schemas.openxmlformats.org/drawingml/2006/main">
            <a:off x="684000" y="4752000"/>
            <a:ext cx="648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!!scene-dot"/>
          <p:cNvSpPr/>
          <p:nvPr/>
        </p:nvSpPr>
        <p:spPr>
          <a:xfrm xmlns:a="http://schemas.openxmlformats.org/drawingml/2006/main">
            <a:off x="7117200" y="47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4" name="!!#s4-topbar"/>
          <p:cNvSpPr txBox="1"/>
          <p:nvPr/>
        </p:nvSpPr>
        <p:spPr>
          <a:xfrm xmlns:a="http://schemas.openxmlformats.org/drawingml/2006/main">
            <a:off x="684000" y="342000"/>
            <a:ext cx="86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spc="20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065" name="!!#s4-num"/>
          <p:cNvSpPr txBox="1"/>
          <p:nvPr/>
        </p:nvSpPr>
        <p:spPr>
          <a:xfrm xmlns:a="http://schemas.openxmlformats.org/drawingml/2006/main">
            <a:off x="684000" y="1872000"/>
            <a:ext cx="2160000" cy="15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C9A84C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100066" name="!!#s4-title"/>
          <p:cNvSpPr txBox="1"/>
          <p:nvPr/>
        </p:nvSpPr>
        <p:spPr>
          <a:xfrm xmlns:a="http://schemas.openxmlformats.org/drawingml/2006/main">
            <a:off x="684000" y="3564000"/>
            <a:ext cx="1008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F5F4F2"/>
                </a:solidFill>
                <a:latin typeface="Georgia"/>
                <a:ea typeface="Georgia"/>
              </a:rPr>
              <a:t>Why Singapore</a:t>
            </a:r>
          </a:p>
        </p:txBody>
      </p:sp>
      <p:sp>
        <p:nvSpPr>
          <p:cNvPr id="100067" name="!!#s4-strap"/>
          <p:cNvSpPr txBox="1"/>
          <p:nvPr/>
        </p:nvSpPr>
        <p:spPr>
          <a:xfrm xmlns:a="http://schemas.openxmlformats.org/drawingml/2006/main">
            <a:off x="684000" y="5004000"/>
            <a:ext cx="936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>
                <a:solidFill>
                  <a:srgbClr val="8A9BBF"/>
                </a:solidFill>
                <a:latin typeface="Arial"/>
                <a:ea typeface="Arial"/>
              </a:rPr>
              <a:t>The regional holding seat for Asian operations — and the jurisdiction our clients keep asking about.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66" grpId="0"/>
      <p:bldP spid="100065" grpId="1"/>
    </p:bldLst>
  </p:timing>
</p:sld>
</file>

<file path=ppt/slides/slide5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68" name="!!scene-orb-gold"/>
          <p:cNvSpPr/>
          <p:nvPr/>
        </p:nvSpPr>
        <p:spPr>
          <a:xfrm xmlns:a="http://schemas.openxmlformats.org/drawingml/2006/main">
            <a:off x="9000000" y="360000"/>
            <a:ext cx="3060000" cy="30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9" name="!!scene-orb-steel"/>
          <p:cNvSpPr/>
          <p:nvPr/>
        </p:nvSpPr>
        <p:spPr>
          <a:xfrm xmlns:a="http://schemas.openxmlformats.org/drawingml/2006/main">
            <a:off x="576000" y="3600000"/>
            <a:ext cx="2880000" cy="28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0" name="!!scene-wash"/>
          <p:cNvSpPr/>
          <p:nvPr/>
        </p:nvSpPr>
        <p:spPr>
          <a:xfrm xmlns:a="http://schemas.openxmlformats.org/drawingml/2006/main">
            <a:off x="684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1" name="!!scene-rule-navy"/>
          <p:cNvSpPr/>
          <p:nvPr/>
        </p:nvSpPr>
        <p:spPr>
          <a:xfrm xmlns:a="http://schemas.openxmlformats.org/drawingml/2006/main">
            <a:off x="11509200" y="2736000"/>
            <a:ext cx="18000" cy="27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2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3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4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5" name="!!#s5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01 · WHY SINGAPORE</a:t>
            </a:r>
          </a:p>
        </p:txBody>
      </p:sp>
      <p:sp>
        <p:nvSpPr>
          <p:cNvPr id="100076" name="!!#s5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Singapore opportunity</a:t>
            </a:r>
          </a:p>
        </p:txBody>
      </p:sp>
      <p:sp>
        <p:nvSpPr>
          <p:cNvPr id="100077" name="!!#s5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078" name="!!#s5-chead0"/>
          <p:cNvSpPr txBox="1"/>
          <p:nvPr/>
        </p:nvSpPr>
        <p:spPr>
          <a:xfrm xmlns:a="http://schemas.openxmlformats.org/drawingml/2006/main">
            <a:off x="936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Gateway, not destination</a:t>
            </a:r>
          </a:p>
        </p:txBody>
      </p:sp>
      <p:sp>
        <p:nvSpPr>
          <p:cNvPr id="100079" name="!!#s5-cbody0"/>
          <p:cNvSpPr txBox="1"/>
          <p:nvPr/>
        </p:nvSpPr>
        <p:spPr>
          <a:xfrm xmlns:a="http://schemas.openxmlformats.org/drawingml/2006/main">
            <a:off x="936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A Singapore entity is the holding layer above India, South-East Asia and the Gulf.</a:t>
            </a:r>
          </a:p>
        </p:txBody>
      </p:sp>
      <p:sp>
        <p:nvSpPr>
          <p:cNvPr id="100080" name="!!#s5-card1"/>
          <p:cNvSpPr/>
          <p:nvPr/>
        </p:nvSpPr>
        <p:spPr>
          <a:xfrm xmlns:a="http://schemas.openxmlformats.org/drawingml/2006/main">
            <a:off x="43992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1" name="!!#s5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082" name="!!#s5-chead1"/>
          <p:cNvSpPr txBox="1"/>
          <p:nvPr/>
        </p:nvSpPr>
        <p:spPr>
          <a:xfrm xmlns:a="http://schemas.openxmlformats.org/drawingml/2006/main">
            <a:off x="46512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Rule-of-law premium</a:t>
            </a:r>
          </a:p>
        </p:txBody>
      </p:sp>
      <p:sp>
        <p:nvSpPr>
          <p:cNvPr id="100083" name="!!#s5-cbody1"/>
          <p:cNvSpPr txBox="1"/>
          <p:nvPr/>
        </p:nvSpPr>
        <p:spPr>
          <a:xfrm xmlns:a="http://schemas.openxmlformats.org/drawingml/2006/main">
            <a:off x="46512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Predictable regulation, English-language filing and a deep tax-treaty network.</a:t>
            </a:r>
          </a:p>
        </p:txBody>
      </p:sp>
      <p:sp>
        <p:nvSpPr>
          <p:cNvPr id="100084" name="!!#s5-card2"/>
          <p:cNvSpPr/>
          <p:nvPr/>
        </p:nvSpPr>
        <p:spPr>
          <a:xfrm xmlns:a="http://schemas.openxmlformats.org/drawingml/2006/main">
            <a:off x="8118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85" name="!!#s5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086" name="!!#s5-chead2"/>
          <p:cNvSpPr txBox="1"/>
          <p:nvPr/>
        </p:nvSpPr>
        <p:spPr>
          <a:xfrm xmlns:a="http://schemas.openxmlformats.org/drawingml/2006/main">
            <a:off x="8370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Investor-readable structure</a:t>
            </a:r>
          </a:p>
        </p:txBody>
      </p:sp>
      <p:sp>
        <p:nvSpPr>
          <p:cNvPr id="100087" name="!!#s5-cbody2"/>
          <p:cNvSpPr txBox="1"/>
          <p:nvPr/>
        </p:nvSpPr>
        <p:spPr>
          <a:xfrm xmlns:a="http://schemas.openxmlformats.org/drawingml/2006/main">
            <a:off x="83700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Funds underwrite a Singapore holdco faster than a purely Indian cap table.</a:t>
            </a:r>
          </a:p>
        </p:txBody>
      </p:sp>
      <p:sp>
        <p:nvSpPr>
          <p:cNvPr id="100088" name="!!#s5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089" name="!!#s5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05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76" grpId="0"/>
      <p:bldP spid="100078" grpId="1"/>
    </p:bldLst>
  </p:timing>
</p:sld>
</file>

<file path=ppt/slides/slide6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090" name="!!scene-orb-gold"/>
          <p:cNvSpPr/>
          <p:nvPr/>
        </p:nvSpPr>
        <p:spPr>
          <a:xfrm xmlns:a="http://schemas.openxmlformats.org/drawingml/2006/main">
            <a:off x="540000" y="2160000"/>
            <a:ext cx="4320000" cy="43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1" name="!!scene-orb-steel"/>
          <p:cNvSpPr/>
          <p:nvPr/>
        </p:nvSpPr>
        <p:spPr>
          <a:xfrm xmlns:a="http://schemas.openxmlformats.org/drawingml/2006/main">
            <a:off x="7560000" y="2880000"/>
            <a:ext cx="3780000" cy="37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2" name="!!scene-wash"/>
          <p:cNvSpPr/>
          <p:nvPr/>
        </p:nvSpPr>
        <p:spPr>
          <a:xfrm xmlns:a="http://schemas.openxmlformats.org/drawingml/2006/main">
            <a:off x="684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3" name="!!scene-rule-navy"/>
          <p:cNvSpPr/>
          <p:nvPr/>
        </p:nvSpPr>
        <p:spPr>
          <a:xfrm xmlns:a="http://schemas.openxmlformats.org/drawingml/2006/main">
            <a:off x="11509200" y="2484000"/>
            <a:ext cx="180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4" name="!!scene-rule-gold"/>
          <p:cNvSpPr/>
          <p:nvPr/>
        </p:nvSpPr>
        <p:spPr>
          <a:xfrm xmlns:a="http://schemas.openxmlformats.org/drawingml/2006/main">
            <a:off x="684000" y="2052000"/>
            <a:ext cx="324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5" name="!!scene-dot"/>
          <p:cNvSpPr/>
          <p:nvPr/>
        </p:nvSpPr>
        <p:spPr>
          <a:xfrm xmlns:a="http://schemas.openxmlformats.org/drawingml/2006/main">
            <a:off x="3877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6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97" name="!!#s6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01 · WHY SINGAPORE</a:t>
            </a:r>
          </a:p>
        </p:txBody>
      </p:sp>
      <p:sp>
        <p:nvSpPr>
          <p:cNvPr id="100098" name="!!#s6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cost of compliance</a:t>
            </a:r>
          </a:p>
        </p:txBody>
      </p:sp>
      <p:sp>
        <p:nvSpPr>
          <p:cNvPr id="100099" name="!!#s6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100" name="!!#s6-chead0"/>
          <p:cNvSpPr txBox="1"/>
          <p:nvPr/>
        </p:nvSpPr>
        <p:spPr>
          <a:xfrm xmlns:a="http://schemas.openxmlformats.org/drawingml/2006/main">
            <a:off x="936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A local hire is a fixed cost</a:t>
            </a:r>
          </a:p>
        </p:txBody>
      </p:sp>
      <p:sp>
        <p:nvSpPr>
          <p:cNvPr id="100101" name="!!#s6-cbody0"/>
          <p:cNvSpPr txBox="1"/>
          <p:nvPr/>
        </p:nvSpPr>
        <p:spPr>
          <a:xfrm xmlns:a="http://schemas.openxmlformats.org/drawingml/2006/main">
            <a:off x="936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Closing books, filing GST and signing ACRA returns commands a senior Singapore salary.</a:t>
            </a:r>
          </a:p>
        </p:txBody>
      </p:sp>
      <p:sp>
        <p:nvSpPr>
          <p:cNvPr id="100102" name="!!#s6-card1"/>
          <p:cNvSpPr/>
          <p:nvPr/>
        </p:nvSpPr>
        <p:spPr>
          <a:xfrm xmlns:a="http://schemas.openxmlformats.org/drawingml/2006/main">
            <a:off x="43992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3" name="!!#s6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104" name="!!#s6-chead1"/>
          <p:cNvSpPr txBox="1"/>
          <p:nvPr/>
        </p:nvSpPr>
        <p:spPr>
          <a:xfrm xmlns:a="http://schemas.openxmlformats.org/drawingml/2006/main">
            <a:off x="46512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A CFO is out of reach</a:t>
            </a:r>
          </a:p>
        </p:txBody>
      </p:sp>
      <p:sp>
        <p:nvSpPr>
          <p:cNvPr id="100105" name="!!#s6-cbody1"/>
          <p:cNvSpPr txBox="1"/>
          <p:nvPr/>
        </p:nvSpPr>
        <p:spPr>
          <a:xfrm xmlns:a="http://schemas.openxmlformats.org/drawingml/2006/main">
            <a:off x="46512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At this stage a full-time CFO is not a hiring decision. It is a decision to go without one.</a:t>
            </a:r>
          </a:p>
        </p:txBody>
      </p:sp>
      <p:sp>
        <p:nvSpPr>
          <p:cNvPr id="100106" name="!!#s6-card2"/>
          <p:cNvSpPr/>
          <p:nvPr/>
        </p:nvSpPr>
        <p:spPr>
          <a:xfrm xmlns:a="http://schemas.openxmlformats.org/drawingml/2006/main">
            <a:off x="8118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7" name="!!#s6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108" name="!!#s6-chead2"/>
          <p:cNvSpPr txBox="1"/>
          <p:nvPr/>
        </p:nvSpPr>
        <p:spPr>
          <a:xfrm xmlns:a="http://schemas.openxmlformats.org/drawingml/2006/main">
            <a:off x="8370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The work does not scale down</a:t>
            </a:r>
          </a:p>
        </p:txBody>
      </p:sp>
      <p:sp>
        <p:nvSpPr>
          <p:cNvPr id="100109" name="!!#s6-cbody2"/>
          <p:cNvSpPr txBox="1"/>
          <p:nvPr/>
        </p:nvSpPr>
        <p:spPr>
          <a:xfrm xmlns:a="http://schemas.openxmlformats.org/drawingml/2006/main">
            <a:off x="8370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Obligations are the same for a five-person entity as for a fifty-person one. So is the risk.</a:t>
            </a:r>
          </a:p>
        </p:txBody>
      </p:sp>
      <p:sp>
        <p:nvSpPr>
          <p:cNvPr id="100110" name="!!#s6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111" name="!!#s6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06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098" grpId="0"/>
      <p:bldP spid="100100" grpId="1"/>
    </p:bldLst>
  </p:timing>
</p:sld>
</file>

<file path=ppt/slides/slide7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112" name="!!scene-orb-gold"/>
          <p:cNvSpPr/>
          <p:nvPr/>
        </p:nvSpPr>
        <p:spPr>
          <a:xfrm xmlns:a="http://schemas.openxmlformats.org/drawingml/2006/main">
            <a:off x="7380000" y="1800000"/>
            <a:ext cx="4500000" cy="450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3" name="!!scene-orb-steel"/>
          <p:cNvSpPr/>
          <p:nvPr/>
        </p:nvSpPr>
        <p:spPr>
          <a:xfrm xmlns:a="http://schemas.openxmlformats.org/drawingml/2006/main">
            <a:off x="1260000" y="54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4" name="!!scene-wash"/>
          <p:cNvSpPr/>
          <p:nvPr/>
        </p:nvSpPr>
        <p:spPr>
          <a:xfrm xmlns:a="http://schemas.openxmlformats.org/drawingml/2006/main">
            <a:off x="0" y="0"/>
            <a:ext cx="12193200" cy="93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5" name="!!scene-rule-navy"/>
          <p:cNvSpPr/>
          <p:nvPr/>
        </p:nvSpPr>
        <p:spPr>
          <a:xfrm xmlns:a="http://schemas.openxmlformats.org/drawingml/2006/main">
            <a:off x="11509200" y="1080000"/>
            <a:ext cx="1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6" name="!!scene-rule-gold"/>
          <p:cNvSpPr/>
          <p:nvPr/>
        </p:nvSpPr>
        <p:spPr>
          <a:xfrm xmlns:a="http://schemas.openxmlformats.org/drawingml/2006/main">
            <a:off x="684000" y="4752000"/>
            <a:ext cx="864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7" name="!!scene-dot"/>
          <p:cNvSpPr/>
          <p:nvPr/>
        </p:nvSpPr>
        <p:spPr>
          <a:xfrm xmlns:a="http://schemas.openxmlformats.org/drawingml/2006/main">
            <a:off x="9277200" y="47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18" name="!!#s7-topbar"/>
          <p:cNvSpPr txBox="1"/>
          <p:nvPr/>
        </p:nvSpPr>
        <p:spPr>
          <a:xfrm xmlns:a="http://schemas.openxmlformats.org/drawingml/2006/main">
            <a:off x="684000" y="342000"/>
            <a:ext cx="86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spc="20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119" name="!!#s7-num"/>
          <p:cNvSpPr txBox="1"/>
          <p:nvPr/>
        </p:nvSpPr>
        <p:spPr>
          <a:xfrm xmlns:a="http://schemas.openxmlformats.org/drawingml/2006/main">
            <a:off x="684000" y="1872000"/>
            <a:ext cx="2160000" cy="15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C9A84C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100120" name="!!#s7-title"/>
          <p:cNvSpPr txBox="1"/>
          <p:nvPr/>
        </p:nvSpPr>
        <p:spPr>
          <a:xfrm xmlns:a="http://schemas.openxmlformats.org/drawingml/2006/main">
            <a:off x="684000" y="3564000"/>
            <a:ext cx="1008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F5F4F2"/>
                </a:solidFill>
                <a:latin typeface="Georgia"/>
                <a:ea typeface="Georgia"/>
              </a:rPr>
              <a:t>Where TaxWise comes in</a:t>
            </a:r>
          </a:p>
        </p:txBody>
      </p:sp>
      <p:sp>
        <p:nvSpPr>
          <p:cNvPr id="100121" name="!!#s7-strap"/>
          <p:cNvSpPr txBox="1"/>
          <p:nvPr/>
        </p:nvSpPr>
        <p:spPr>
          <a:xfrm xmlns:a="http://schemas.openxmlformats.org/drawingml/2006/main">
            <a:off x="684000" y="5004000"/>
            <a:ext cx="936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>
                <a:solidFill>
                  <a:srgbClr val="8A9BBF"/>
                </a:solidFill>
                <a:latin typeface="Arial"/>
                <a:ea typeface="Arial"/>
              </a:rPr>
              <a:t>We take the whole finance function — books, filings and the CFO seat — and run it from India, for Singapore.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20" grpId="0"/>
      <p:bldP spid="100119" grpId="1"/>
    </p:bldLst>
  </p:timing>
</p:sld>
</file>

<file path=ppt/slides/slide8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122" name="!!scene-orb-gold"/>
          <p:cNvSpPr/>
          <p:nvPr/>
        </p:nvSpPr>
        <p:spPr>
          <a:xfrm xmlns:a="http://schemas.openxmlformats.org/drawingml/2006/main">
            <a:off x="8460000" y="288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3" name="!!scene-orb-steel"/>
          <p:cNvSpPr/>
          <p:nvPr/>
        </p:nvSpPr>
        <p:spPr>
          <a:xfrm xmlns:a="http://schemas.openxmlformats.org/drawingml/2006/main">
            <a:off x="612000" y="3420000"/>
            <a:ext cx="3060000" cy="30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4" name="!!scene-wash"/>
          <p:cNvSpPr/>
          <p:nvPr/>
        </p:nvSpPr>
        <p:spPr>
          <a:xfrm xmlns:a="http://schemas.openxmlformats.org/drawingml/2006/main">
            <a:off x="684000" y="2448000"/>
            <a:ext cx="10825200" cy="68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5" name="!!scene-rule-navy"/>
          <p:cNvSpPr/>
          <p:nvPr/>
        </p:nvSpPr>
        <p:spPr>
          <a:xfrm xmlns:a="http://schemas.openxmlformats.org/drawingml/2006/main">
            <a:off x="11509200" y="5742000"/>
            <a:ext cx="18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6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7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8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29" name="!!#s8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02 · WHERE TAXWISE COMES IN</a:t>
            </a:r>
          </a:p>
        </p:txBody>
      </p:sp>
      <p:sp>
        <p:nvSpPr>
          <p:cNvPr id="100130" name="!!#s8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compliance stack</a:t>
            </a:r>
          </a:p>
        </p:txBody>
      </p:sp>
      <p:sp>
        <p:nvSpPr>
          <p:cNvPr id="100131" name="!!#s8-chip0"/>
          <p:cNvSpPr/>
          <p:nvPr/>
        </p:nvSpPr>
        <p:spPr>
          <a:xfrm xmlns:a="http://schemas.openxmlformats.org/drawingml/2006/main">
            <a:off x="900000" y="2574000"/>
            <a:ext cx="612000" cy="432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132" name="!!#s8-shead0"/>
          <p:cNvSpPr txBox="1"/>
          <p:nvPr/>
        </p:nvSpPr>
        <p:spPr>
          <a:xfrm xmlns:a="http://schemas.openxmlformats.org/drawingml/2006/main">
            <a:off x="1764000" y="2448000"/>
            <a:ext cx="28800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Bookkeeping &amp; accounting</a:t>
            </a:r>
          </a:p>
        </p:txBody>
      </p:sp>
      <p:sp>
        <p:nvSpPr>
          <p:cNvPr id="100133" name="!!#s8-sbody0"/>
          <p:cNvSpPr txBox="1"/>
          <p:nvPr/>
        </p:nvSpPr>
        <p:spPr>
          <a:xfrm xmlns:a="http://schemas.openxmlformats.org/drawingml/2006/main">
            <a:off x="4752000" y="2448000"/>
            <a:ext cx="67572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Day-to-day ledgers, reconciliations, management accounts and the year-end close.</a:t>
            </a:r>
          </a:p>
        </p:txBody>
      </p:sp>
      <p:sp>
        <p:nvSpPr>
          <p:cNvPr id="100134" name="!!#s8-row1"/>
          <p:cNvSpPr/>
          <p:nvPr/>
        </p:nvSpPr>
        <p:spPr>
          <a:xfrm xmlns:a="http://schemas.openxmlformats.org/drawingml/2006/main">
            <a:off x="684000" y="3297600"/>
            <a:ext cx="10825200" cy="68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5" name="!!#s8-chip1"/>
          <p:cNvSpPr/>
          <p:nvPr/>
        </p:nvSpPr>
        <p:spPr>
          <a:xfrm xmlns:a="http://schemas.openxmlformats.org/drawingml/2006/main">
            <a:off x="900000" y="3423600"/>
            <a:ext cx="612000" cy="432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136" name="!!#s8-shead1"/>
          <p:cNvSpPr txBox="1"/>
          <p:nvPr/>
        </p:nvSpPr>
        <p:spPr>
          <a:xfrm xmlns:a="http://schemas.openxmlformats.org/drawingml/2006/main">
            <a:off x="1764000" y="3297600"/>
            <a:ext cx="28800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GST</a:t>
            </a:r>
          </a:p>
        </p:txBody>
      </p:sp>
      <p:sp>
        <p:nvSpPr>
          <p:cNvPr id="100137" name="!!#s8-sbody1"/>
          <p:cNvSpPr txBox="1"/>
          <p:nvPr/>
        </p:nvSpPr>
        <p:spPr>
          <a:xfrm xmlns:a="http://schemas.openxmlformats.org/drawingml/2006/main">
            <a:off x="4752000" y="3297600"/>
            <a:ext cx="67572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Registration, quarterly Form F5 returns and input-tax review.</a:t>
            </a:r>
          </a:p>
        </p:txBody>
      </p:sp>
      <p:sp>
        <p:nvSpPr>
          <p:cNvPr id="100138" name="!!#s8-row2"/>
          <p:cNvSpPr/>
          <p:nvPr/>
        </p:nvSpPr>
        <p:spPr>
          <a:xfrm xmlns:a="http://schemas.openxmlformats.org/drawingml/2006/main">
            <a:off x="684000" y="4147200"/>
            <a:ext cx="10825200" cy="68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39" name="!!#s8-chip2"/>
          <p:cNvSpPr/>
          <p:nvPr/>
        </p:nvSpPr>
        <p:spPr>
          <a:xfrm xmlns:a="http://schemas.openxmlformats.org/drawingml/2006/main">
            <a:off x="900000" y="4273200"/>
            <a:ext cx="612000" cy="432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140" name="!!#s8-shead2"/>
          <p:cNvSpPr txBox="1"/>
          <p:nvPr/>
        </p:nvSpPr>
        <p:spPr>
          <a:xfrm xmlns:a="http://schemas.openxmlformats.org/drawingml/2006/main">
            <a:off x="1764000" y="4147200"/>
            <a:ext cx="28800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Income tax</a:t>
            </a:r>
          </a:p>
        </p:txBody>
      </p:sp>
      <p:sp>
        <p:nvSpPr>
          <p:cNvPr id="100141" name="!!#s8-sbody2"/>
          <p:cNvSpPr txBox="1"/>
          <p:nvPr/>
        </p:nvSpPr>
        <p:spPr>
          <a:xfrm xmlns:a="http://schemas.openxmlformats.org/drawingml/2006/main">
            <a:off x="4752000" y="4147200"/>
            <a:ext cx="67572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ECI, Form C-S or Form C, and withholding tax on cross-border payments.</a:t>
            </a:r>
          </a:p>
        </p:txBody>
      </p:sp>
      <p:sp>
        <p:nvSpPr>
          <p:cNvPr id="100142" name="!!#s8-row3"/>
          <p:cNvSpPr/>
          <p:nvPr/>
        </p:nvSpPr>
        <p:spPr>
          <a:xfrm xmlns:a="http://schemas.openxmlformats.org/drawingml/2006/main">
            <a:off x="684000" y="4996800"/>
            <a:ext cx="10825200" cy="687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3" name="!!#s8-chip3"/>
          <p:cNvSpPr/>
          <p:nvPr/>
        </p:nvSpPr>
        <p:spPr>
          <a:xfrm xmlns:a="http://schemas.openxmlformats.org/drawingml/2006/main">
            <a:off x="900000" y="5122800"/>
            <a:ext cx="612000" cy="432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C9A84C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00144" name="!!#s8-shead3"/>
          <p:cNvSpPr txBox="1"/>
          <p:nvPr/>
        </p:nvSpPr>
        <p:spPr>
          <a:xfrm xmlns:a="http://schemas.openxmlformats.org/drawingml/2006/main">
            <a:off x="1764000" y="4996800"/>
            <a:ext cx="28800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ACRA</a:t>
            </a:r>
          </a:p>
        </p:txBody>
      </p:sp>
      <p:sp>
        <p:nvSpPr>
          <p:cNvPr id="100145" name="!!#s8-sbody3"/>
          <p:cNvSpPr txBox="1"/>
          <p:nvPr/>
        </p:nvSpPr>
        <p:spPr>
          <a:xfrm xmlns:a="http://schemas.openxmlformats.org/drawingml/2006/main">
            <a:off x="4752000" y="4996800"/>
            <a:ext cx="6757200" cy="6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Annual Return, XBRL financial statements, statutory registers and resolutions.</a:t>
            </a:r>
          </a:p>
        </p:txBody>
      </p:sp>
      <p:cxnSp>
        <p:nvCxnSpPr>
          <p:cNvPr id="100146" name="Connector 1"/>
          <p:cNvCxnSpPr>
            <a:stCxn xmlns:a="http://schemas.openxmlformats.org/drawingml/2006/main" id="100131" idx="0"/>
            <a:endCxn xmlns:a="http://schemas.openxmlformats.org/drawingml/2006/main" id="100135" idx="0"/>
          </p:cNvCxnSpPr>
          <p:nvPr/>
        </p:nvCxnSpPr>
        <p:spPr>
          <a:xfrm xmlns:a="http://schemas.openxmlformats.org/drawingml/2006/main">
            <a:off x="1206000" y="3006000"/>
            <a:ext cx="0" cy="4176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9A84C"/>
            </a:solidFill>
            <a:tailEnd type="triangle"/>
          </a:ln>
        </p:spPr>
      </p:cxnSp>
      <p:cxnSp>
        <p:nvCxnSpPr>
          <p:cNvPr id="100147" name="Connector 2"/>
          <p:cNvCxnSpPr>
            <a:stCxn xmlns:a="http://schemas.openxmlformats.org/drawingml/2006/main" id="100135" idx="0"/>
            <a:endCxn xmlns:a="http://schemas.openxmlformats.org/drawingml/2006/main" id="100139" idx="0"/>
          </p:cNvCxnSpPr>
          <p:nvPr/>
        </p:nvCxnSpPr>
        <p:spPr>
          <a:xfrm xmlns:a="http://schemas.openxmlformats.org/drawingml/2006/main">
            <a:off x="1206000" y="3855600"/>
            <a:ext cx="0" cy="4176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9A84C"/>
            </a:solidFill>
            <a:tailEnd type="triangle"/>
          </a:ln>
        </p:spPr>
      </p:cxnSp>
      <p:cxnSp>
        <p:nvCxnSpPr>
          <p:cNvPr id="100148" name="Connector 3"/>
          <p:cNvCxnSpPr>
            <a:stCxn xmlns:a="http://schemas.openxmlformats.org/drawingml/2006/main" id="100139" idx="0"/>
            <a:endCxn xmlns:a="http://schemas.openxmlformats.org/drawingml/2006/main" id="100143" idx="0"/>
          </p:cNvCxnSpPr>
          <p:nvPr/>
        </p:nvCxnSpPr>
        <p:spPr>
          <a:xfrm xmlns:a="http://schemas.openxmlformats.org/drawingml/2006/main">
            <a:off x="1206000" y="4705200"/>
            <a:ext cx="0" cy="417600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solidFill>
              <a:srgbClr val="C9A84C"/>
            </a:solidFill>
            <a:tailEnd type="triangle"/>
          </a:ln>
        </p:spPr>
      </p:cxnSp>
      <p:sp>
        <p:nvSpPr>
          <p:cNvPr id="100149" name="!!#s8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150" name="!!#s8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08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30" grpId="0"/>
      <p:bldP spid="100132" grpId="1"/>
    </p:bldLst>
  </p:timing>
</p:sld>
</file>

<file path=ppt/slides/slide9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151" name="!!scene-orb-gold"/>
          <p:cNvSpPr/>
          <p:nvPr/>
        </p:nvSpPr>
        <p:spPr>
          <a:xfrm xmlns:a="http://schemas.openxmlformats.org/drawingml/2006/main">
            <a:off x="6480000" y="1620000"/>
            <a:ext cx="5040000" cy="50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2" name="!!scene-orb-steel"/>
          <p:cNvSpPr/>
          <p:nvPr/>
        </p:nvSpPr>
        <p:spPr>
          <a:xfrm xmlns:a="http://schemas.openxmlformats.org/drawingml/2006/main">
            <a:off x="720000" y="72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3" name="!!scene-wash"/>
          <p:cNvSpPr/>
          <p:nvPr/>
        </p:nvSpPr>
        <p:spPr>
          <a:xfrm xmlns:a="http://schemas.openxmlformats.org/drawingml/2006/main">
            <a:off x="684000" y="2448000"/>
            <a:ext cx="51840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4" name="!!scene-rule-navy"/>
          <p:cNvSpPr/>
          <p:nvPr/>
        </p:nvSpPr>
        <p:spPr>
          <a:xfrm xmlns:a="http://schemas.openxmlformats.org/drawingml/2006/main">
            <a:off x="5904000" y="2484000"/>
            <a:ext cx="18000" cy="30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5" name="!!scene-rule-gold"/>
          <p:cNvSpPr/>
          <p:nvPr/>
        </p:nvSpPr>
        <p:spPr>
          <a:xfrm xmlns:a="http://schemas.openxmlformats.org/drawingml/2006/main">
            <a:off x="684000" y="2052000"/>
            <a:ext cx="518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6" name="!!scene-dot"/>
          <p:cNvSpPr/>
          <p:nvPr/>
        </p:nvSpPr>
        <p:spPr>
          <a:xfrm xmlns:a="http://schemas.openxmlformats.org/drawingml/2006/main">
            <a:off x="5821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7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8" name="!!#s9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02 · WHERE TAXWISE COMES IN</a:t>
            </a:r>
          </a:p>
        </p:txBody>
      </p:sp>
      <p:sp>
        <p:nvSpPr>
          <p:cNvPr id="100159" name="!!#s9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Roughly half the cost</a:t>
            </a:r>
          </a:p>
        </p:txBody>
      </p:sp>
      <p:sp>
        <p:nvSpPr>
          <p:cNvPr id="100160" name="!!#s9-eye-diff"/>
          <p:cNvSpPr txBox="1"/>
          <p:nvPr/>
        </p:nvSpPr>
        <p:spPr>
          <a:xfrm xmlns:a="http://schemas.openxmlformats.org/drawingml/2006/main">
            <a:off x="936000" y="2574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THE DIFFERENCE</a:t>
            </a:r>
          </a:p>
        </p:txBody>
      </p:sp>
      <p:sp>
        <p:nvSpPr>
          <p:cNvPr id="100161" name="!!#s9-figure"/>
          <p:cNvSpPr txBox="1"/>
          <p:nvPr/>
        </p:nvSpPr>
        <p:spPr>
          <a:xfrm xmlns:a="http://schemas.openxmlformats.org/drawingml/2006/main">
            <a:off x="936000" y="2862000"/>
            <a:ext cx="4680000" cy="23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5000" b="1">
                <a:solidFill>
                  <a:srgbClr val="E8C97A"/>
                </a:solidFill>
                <a:latin typeface="Georgia"/>
                <a:ea typeface="Georgia"/>
              </a:rPr>
              <a:t>50%</a:t>
            </a:r>
          </a:p>
        </p:txBody>
      </p:sp>
      <p:sp>
        <p:nvSpPr>
          <p:cNvPr id="100162" name="!!#s9-figsub"/>
          <p:cNvSpPr txBox="1"/>
          <p:nvPr/>
        </p:nvSpPr>
        <p:spPr>
          <a:xfrm xmlns:a="http://schemas.openxmlformats.org/drawingml/2006/main">
            <a:off x="936000" y="5220000"/>
            <a:ext cx="46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Less than comparable local cost</a:t>
            </a:r>
          </a:p>
        </p:txBody>
      </p:sp>
      <p:sp>
        <p:nvSpPr>
          <p:cNvPr id="100163" name="!!#s9-lead"/>
          <p:cNvSpPr txBox="1"/>
          <p:nvPr/>
        </p:nvSpPr>
        <p:spPr>
          <a:xfrm xmlns:a="http://schemas.openxmlformats.org/drawingml/2006/main">
            <a:off x="6325200" y="2448000"/>
            <a:ext cx="5184000" cy="13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900">
                <a:solidFill>
                  <a:srgbClr val="8A9BBF"/>
                </a:solidFill>
                <a:latin typeface="Arial"/>
                <a:ea typeface="Arial"/>
              </a:rPr>
              <a:t>Prepared by our team in Bangalore, reviewed by a Singapore-qualified CA before filing. The difference is structural, not a discount.</a:t>
            </a:r>
          </a:p>
        </p:txBody>
      </p:sp>
      <p:sp>
        <p:nvSpPr>
          <p:cNvPr id="100164" name="!!#s9-dash0"/>
          <p:cNvSpPr/>
          <p:nvPr/>
        </p:nvSpPr>
        <p:spPr>
          <a:xfrm xmlns:a="http://schemas.openxmlformats.org/drawingml/2006/main">
            <a:off x="6325200" y="4078800"/>
            <a:ext cx="3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5" name="!!#s9-chip0"/>
          <p:cNvSpPr txBox="1"/>
          <p:nvPr/>
        </p:nvSpPr>
        <p:spPr>
          <a:xfrm xmlns:a="http://schemas.openxmlformats.org/drawingml/2006/main">
            <a:off x="6840000" y="3942000"/>
            <a:ext cx="46692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Prepared in Bangalore by a 30-person team.</a:t>
            </a:r>
          </a:p>
        </p:txBody>
      </p:sp>
      <p:sp>
        <p:nvSpPr>
          <p:cNvPr id="100166" name="!!#s9-dash1"/>
          <p:cNvSpPr/>
          <p:nvPr/>
        </p:nvSpPr>
        <p:spPr>
          <a:xfrm xmlns:a="http://schemas.openxmlformats.org/drawingml/2006/main">
            <a:off x="6325200" y="4780800"/>
            <a:ext cx="3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7" name="!!#s9-chip1"/>
          <p:cNvSpPr txBox="1"/>
          <p:nvPr/>
        </p:nvSpPr>
        <p:spPr>
          <a:xfrm xmlns:a="http://schemas.openxmlformats.org/drawingml/2006/main">
            <a:off x="6840000" y="4644000"/>
            <a:ext cx="46692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Reviewed and signed off by a Singapore CA.</a:t>
            </a:r>
          </a:p>
        </p:txBody>
      </p:sp>
      <p:sp>
        <p:nvSpPr>
          <p:cNvPr id="100168" name="!!#s9-dash2"/>
          <p:cNvSpPr/>
          <p:nvPr/>
        </p:nvSpPr>
        <p:spPr>
          <a:xfrm xmlns:a="http://schemas.openxmlformats.org/drawingml/2006/main">
            <a:off x="6325200" y="5482800"/>
            <a:ext cx="32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69" name="!!#s9-chip2"/>
          <p:cNvSpPr txBox="1"/>
          <p:nvPr/>
        </p:nvSpPr>
        <p:spPr>
          <a:xfrm xmlns:a="http://schemas.openxmlformats.org/drawingml/2006/main">
            <a:off x="6840000" y="5346000"/>
            <a:ext cx="46692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No salary, CPF, software or recruitment cost.</a:t>
            </a:r>
          </a:p>
        </p:txBody>
      </p:sp>
      <p:sp>
        <p:nvSpPr>
          <p:cNvPr id="100170" name="!!#s9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171" name="!!#s9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09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 zoomContents="1">
                                      <p:cBhvr>
                                        <p:cTn id="11" dur="550" fill="hold"/>
                                        <p:tgtEl>
                                          <p:spTgt spid="100161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59" grpId="0"/>
      <p:bldP spid="100161" grpId="1"/>
    </p:bldLst>
  </p:timing>
</p:sld>
</file>

<file path=ppt/slides/slide10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172" name="!!scene-orb-gold"/>
          <p:cNvSpPr/>
          <p:nvPr/>
        </p:nvSpPr>
        <p:spPr>
          <a:xfrm xmlns:a="http://schemas.openxmlformats.org/drawingml/2006/main">
            <a:off x="720000" y="1080000"/>
            <a:ext cx="4680000" cy="468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3" name="!!scene-orb-steel"/>
          <p:cNvSpPr/>
          <p:nvPr/>
        </p:nvSpPr>
        <p:spPr>
          <a:xfrm xmlns:a="http://schemas.openxmlformats.org/drawingml/2006/main">
            <a:off x="7920000" y="2880000"/>
            <a:ext cx="3600000" cy="360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4" name="!!scene-wash"/>
          <p:cNvSpPr/>
          <p:nvPr/>
        </p:nvSpPr>
        <p:spPr>
          <a:xfrm xmlns:a="http://schemas.openxmlformats.org/drawingml/2006/main">
            <a:off x="0" y="0"/>
            <a:ext cx="12193200" cy="93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5" name="!!scene-rule-navy"/>
          <p:cNvSpPr/>
          <p:nvPr/>
        </p:nvSpPr>
        <p:spPr>
          <a:xfrm xmlns:a="http://schemas.openxmlformats.org/drawingml/2006/main">
            <a:off x="11509200" y="1080000"/>
            <a:ext cx="1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6" name="!!scene-rule-gold"/>
          <p:cNvSpPr/>
          <p:nvPr/>
        </p:nvSpPr>
        <p:spPr>
          <a:xfrm xmlns:a="http://schemas.openxmlformats.org/drawingml/2006/main">
            <a:off x="684000" y="4752000"/>
            <a:ext cx="432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7" name="!!scene-dot"/>
          <p:cNvSpPr/>
          <p:nvPr/>
        </p:nvSpPr>
        <p:spPr>
          <a:xfrm xmlns:a="http://schemas.openxmlformats.org/drawingml/2006/main">
            <a:off x="4957200" y="47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78" name="!!#s10-topbar"/>
          <p:cNvSpPr txBox="1"/>
          <p:nvPr/>
        </p:nvSpPr>
        <p:spPr>
          <a:xfrm xmlns:a="http://schemas.openxmlformats.org/drawingml/2006/main">
            <a:off x="684000" y="342000"/>
            <a:ext cx="86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00" spc="20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179" name="!!#s10-num"/>
          <p:cNvSpPr txBox="1"/>
          <p:nvPr/>
        </p:nvSpPr>
        <p:spPr>
          <a:xfrm xmlns:a="http://schemas.openxmlformats.org/drawingml/2006/main">
            <a:off x="684000" y="1872000"/>
            <a:ext cx="2160000" cy="15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C9A84C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00180" name="!!#s10-title"/>
          <p:cNvSpPr txBox="1"/>
          <p:nvPr/>
        </p:nvSpPr>
        <p:spPr>
          <a:xfrm xmlns:a="http://schemas.openxmlformats.org/drawingml/2006/main">
            <a:off x="684000" y="3564000"/>
            <a:ext cx="1008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5200" b="1">
                <a:solidFill>
                  <a:srgbClr val="F5F4F2"/>
                </a:solidFill>
                <a:latin typeface="Georgia"/>
                <a:ea typeface="Georgia"/>
              </a:rPr>
              <a:t>Across the corridor</a:t>
            </a:r>
          </a:p>
        </p:txBody>
      </p:sp>
      <p:sp>
        <p:nvSpPr>
          <p:cNvPr id="100181" name="!!#s10-strap"/>
          <p:cNvSpPr txBox="1"/>
          <p:nvPr/>
        </p:nvSpPr>
        <p:spPr>
          <a:xfrm xmlns:a="http://schemas.openxmlformats.org/drawingml/2006/main">
            <a:off x="684000" y="5004000"/>
            <a:ext cx="936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000">
                <a:solidFill>
                  <a:srgbClr val="8A9BBF"/>
                </a:solidFill>
                <a:latin typeface="Arial"/>
                <a:ea typeface="Arial"/>
              </a:rPr>
              <a:t>Most of our clients are not choosing between India and Singapore. They are operating in both.</a:t>
            </a:r>
          </a:p>
        </p:txBody>
      </p:sp>
      <p:sp>
        <p:nvSpPr>
          <p:cNvPr id="100182" name="!!actor-corridor"/>
          <p:cNvSpPr/>
          <p:nvPr/>
        </p:nvSpPr>
        <p:spPr>
          <a:xfrm xmlns:a="http://schemas.openxmlformats.org/drawingml/2006/main">
            <a:off x="4658400" y="3096000"/>
            <a:ext cx="28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80" grpId="0"/>
      <p:bldP spid="100179" grpId="1"/>
    </p:bldLst>
  </p:timing>
</p:sld>
</file>

<file path=ppt/slides/slide11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183" name="!!scene-orb-gold"/>
          <p:cNvSpPr/>
          <p:nvPr/>
        </p:nvSpPr>
        <p:spPr>
          <a:xfrm xmlns:a="http://schemas.openxmlformats.org/drawingml/2006/main">
            <a:off x="4500000" y="36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4" name="!!scene-orb-steel"/>
          <p:cNvSpPr/>
          <p:nvPr/>
        </p:nvSpPr>
        <p:spPr>
          <a:xfrm xmlns:a="http://schemas.openxmlformats.org/drawingml/2006/main">
            <a:off x="8820000" y="3420000"/>
            <a:ext cx="3060000" cy="30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5" name="!!scene-wash"/>
          <p:cNvSpPr/>
          <p:nvPr/>
        </p:nvSpPr>
        <p:spPr>
          <a:xfrm xmlns:a="http://schemas.openxmlformats.org/drawingml/2006/main">
            <a:off x="684000" y="2412000"/>
            <a:ext cx="5184000" cy="205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6" name="!!scene-rule-navy"/>
          <p:cNvSpPr/>
          <p:nvPr/>
        </p:nvSpPr>
        <p:spPr>
          <a:xfrm xmlns:a="http://schemas.openxmlformats.org/drawingml/2006/main">
            <a:off x="6094800" y="2664000"/>
            <a:ext cx="18000" cy="50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7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8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9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0" name="!!#s11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03 · ACROSS THE CORRIDOR</a:t>
            </a:r>
          </a:p>
        </p:txBody>
      </p:sp>
      <p:sp>
        <p:nvSpPr>
          <p:cNvPr id="100191" name="!!#s11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India–Singapore corridor</a:t>
            </a:r>
          </a:p>
        </p:txBody>
      </p:sp>
      <p:sp>
        <p:nvSpPr>
          <p:cNvPr id="100192" name="!!actor-corridor"/>
          <p:cNvSpPr/>
          <p:nvPr/>
        </p:nvSpPr>
        <p:spPr>
          <a:xfrm xmlns:a="http://schemas.openxmlformats.org/drawingml/2006/main">
            <a:off x="684000" y="4788000"/>
            <a:ext cx="108252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3" name="!!#s11-pole2"/>
          <p:cNvSpPr/>
          <p:nvPr/>
        </p:nvSpPr>
        <p:spPr>
          <a:xfrm xmlns:a="http://schemas.openxmlformats.org/drawingml/2006/main">
            <a:off x="6325200" y="2412000"/>
            <a:ext cx="5184000" cy="205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94" name="!!#s11-eye-pole0"/>
          <p:cNvSpPr txBox="1"/>
          <p:nvPr/>
        </p:nvSpPr>
        <p:spPr>
          <a:xfrm xmlns:a="http://schemas.openxmlformats.org/drawingml/2006/main">
            <a:off x="936000" y="259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INDIA</a:t>
            </a:r>
          </a:p>
        </p:txBody>
      </p:sp>
      <p:sp>
        <p:nvSpPr>
          <p:cNvPr id="100195" name="!!#s11-phead0"/>
          <p:cNvSpPr txBox="1"/>
          <p:nvPr/>
        </p:nvSpPr>
        <p:spPr>
          <a:xfrm xmlns:a="http://schemas.openxmlformats.org/drawingml/2006/main">
            <a:off x="936000" y="2880000"/>
            <a:ext cx="468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Setting up in India</a:t>
            </a:r>
          </a:p>
        </p:txBody>
      </p:sp>
      <p:sp>
        <p:nvSpPr>
          <p:cNvPr id="100196" name="!!#s11-pbody0"/>
          <p:cNvSpPr txBox="1"/>
          <p:nvPr/>
        </p:nvSpPr>
        <p:spPr>
          <a:xfrm xmlns:a="http://schemas.openxmlformats.org/drawingml/2006/main">
            <a:off x="936000" y="3276000"/>
            <a:ext cx="4680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SPICe+ incorporation, PAN and TAN, GST registration, FC-GPR and ROC compliance.</a:t>
            </a:r>
          </a:p>
        </p:txBody>
      </p:sp>
      <p:sp>
        <p:nvSpPr>
          <p:cNvPr id="100197" name="!!#s11-eye-pole1"/>
          <p:cNvSpPr txBox="1"/>
          <p:nvPr/>
        </p:nvSpPr>
        <p:spPr>
          <a:xfrm xmlns:a="http://schemas.openxmlformats.org/drawingml/2006/main">
            <a:off x="6577200" y="25920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SINGAPORE</a:t>
            </a:r>
          </a:p>
        </p:txBody>
      </p:sp>
      <p:sp>
        <p:nvSpPr>
          <p:cNvPr id="100198" name="!!#s11-phead1"/>
          <p:cNvSpPr txBox="1"/>
          <p:nvPr/>
        </p:nvSpPr>
        <p:spPr>
          <a:xfrm xmlns:a="http://schemas.openxmlformats.org/drawingml/2006/main">
            <a:off x="6577200" y="2880000"/>
            <a:ext cx="468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Setting up in Singapore</a:t>
            </a:r>
          </a:p>
        </p:txBody>
      </p:sp>
      <p:sp>
        <p:nvSpPr>
          <p:cNvPr id="100199" name="!!#s11-pbody1"/>
          <p:cNvSpPr txBox="1"/>
          <p:nvPr/>
        </p:nvSpPr>
        <p:spPr>
          <a:xfrm xmlns:a="http://schemas.openxmlformats.org/drawingml/2006/main">
            <a:off x="6577200" y="3276000"/>
            <a:ext cx="4680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ACRA incorporation, resident director, company secretary, bank account and GST.</a:t>
            </a:r>
          </a:p>
        </p:txBody>
      </p:sp>
      <p:sp>
        <p:nvSpPr>
          <p:cNvPr id="100200" name="!!#s11-tag0"/>
          <p:cNvSpPr/>
          <p:nvPr/>
        </p:nvSpPr>
        <p:spPr>
          <a:xfrm xmlns:a="http://schemas.openxmlformats.org/drawingml/2006/main">
            <a:off x="1980000" y="4676400"/>
            <a:ext cx="1512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 spc="160">
                <a:solidFill>
                  <a:srgbClr val="0E1B2F"/>
                </a:solidFill>
                <a:latin typeface="Arial"/>
                <a:ea typeface="Arial"/>
              </a:rPr>
              <a:t>FEMA</a:t>
            </a:r>
          </a:p>
        </p:txBody>
      </p:sp>
      <p:sp>
        <p:nvSpPr>
          <p:cNvPr id="100201" name="!!#s11-tag1"/>
          <p:cNvSpPr/>
          <p:nvPr/>
        </p:nvSpPr>
        <p:spPr>
          <a:xfrm xmlns:a="http://schemas.openxmlformats.org/drawingml/2006/main">
            <a:off x="5342400" y="4676400"/>
            <a:ext cx="1512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 spc="160">
                <a:solidFill>
                  <a:srgbClr val="0E1B2F"/>
                </a:solidFill>
                <a:latin typeface="Arial"/>
                <a:ea typeface="Arial"/>
              </a:rPr>
              <a:t>ODI &amp; FDI</a:t>
            </a:r>
          </a:p>
        </p:txBody>
      </p:sp>
      <p:sp>
        <p:nvSpPr>
          <p:cNvPr id="100202" name="!!#s11-tag2"/>
          <p:cNvSpPr/>
          <p:nvPr/>
        </p:nvSpPr>
        <p:spPr>
          <a:xfrm xmlns:a="http://schemas.openxmlformats.org/drawingml/2006/main">
            <a:off x="8704800" y="4676400"/>
            <a:ext cx="1512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/>
            <a:r>
              <a:rPr lang="en-US" sz="1050" b="1" spc="160">
                <a:solidFill>
                  <a:srgbClr val="0E1B2F"/>
                </a:solidFill>
                <a:latin typeface="Arial"/>
                <a:ea typeface="Arial"/>
              </a:rPr>
              <a:t>DTAA RELIEF</a:t>
            </a:r>
          </a:p>
        </p:txBody>
      </p:sp>
      <p:sp>
        <p:nvSpPr>
          <p:cNvPr id="100203" name="!!#s11-eye-cross"/>
          <p:cNvSpPr txBox="1"/>
          <p:nvPr/>
        </p:nvSpPr>
        <p:spPr>
          <a:xfrm xmlns:a="http://schemas.openxmlformats.org/drawingml/2006/main">
            <a:off x="684000" y="5022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MOVING MONEY BETWEEN THEM</a:t>
            </a:r>
          </a:p>
        </p:txBody>
      </p:sp>
      <p:sp>
        <p:nvSpPr>
          <p:cNvPr id="100204" name="!!#s11-crossb"/>
          <p:cNvSpPr txBox="1"/>
          <p:nvPr/>
        </p:nvSpPr>
        <p:spPr>
          <a:xfrm xmlns:a="http://schemas.openxmlformats.org/drawingml/2006/main">
            <a:off x="684000" y="5310000"/>
            <a:ext cx="108252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Repatriation of funds, dividend and royalty flows, transfer-pricing documentation, and FEMA compliance on every leg.</a:t>
            </a:r>
          </a:p>
        </p:txBody>
      </p:sp>
      <p:sp>
        <p:nvSpPr>
          <p:cNvPr id="100205" name="!!#s11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206" name="!!#s11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11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191" grpId="0"/>
      <p:bldP spid="100195" grpId="1"/>
    </p:bldLst>
  </p:timing>
</p:sld>
</file>

<file path=ppt/slides/slide12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207" name="!!scene-orb-gold"/>
          <p:cNvSpPr/>
          <p:nvPr/>
        </p:nvSpPr>
        <p:spPr>
          <a:xfrm xmlns:a="http://schemas.openxmlformats.org/drawingml/2006/main">
            <a:off x="8640000" y="270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8" name="!!scene-orb-steel"/>
          <p:cNvSpPr/>
          <p:nvPr/>
        </p:nvSpPr>
        <p:spPr>
          <a:xfrm xmlns:a="http://schemas.openxmlformats.org/drawingml/2006/main">
            <a:off x="720000" y="90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09" name="!!scene-wash"/>
          <p:cNvSpPr/>
          <p:nvPr/>
        </p:nvSpPr>
        <p:spPr>
          <a:xfrm xmlns:a="http://schemas.openxmlformats.org/drawingml/2006/main">
            <a:off x="684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0" name="!!scene-rule-navy"/>
          <p:cNvSpPr/>
          <p:nvPr/>
        </p:nvSpPr>
        <p:spPr>
          <a:xfrm xmlns:a="http://schemas.openxmlformats.org/drawingml/2006/main">
            <a:off x="11509200" y="2304000"/>
            <a:ext cx="18000" cy="33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1" name="!!scene-rule-gold"/>
          <p:cNvSpPr/>
          <p:nvPr/>
        </p:nvSpPr>
        <p:spPr>
          <a:xfrm xmlns:a="http://schemas.openxmlformats.org/drawingml/2006/main">
            <a:off x="684000" y="2052000"/>
            <a:ext cx="792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2" name="!!scene-dot"/>
          <p:cNvSpPr/>
          <p:nvPr/>
        </p:nvSpPr>
        <p:spPr>
          <a:xfrm xmlns:a="http://schemas.openxmlformats.org/drawingml/2006/main">
            <a:off x="8557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3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4" name="!!#s12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SECTION 03 · ACROSS THE CORRIDOR</a:t>
            </a:r>
          </a:p>
        </p:txBody>
      </p:sp>
      <p:sp>
        <p:nvSpPr>
          <p:cNvPr id="100215" name="!!#s12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Beyond compliance</a:t>
            </a:r>
          </a:p>
        </p:txBody>
      </p:sp>
      <p:sp>
        <p:nvSpPr>
          <p:cNvPr id="100216" name="!!actor-corridor"/>
          <p:cNvSpPr/>
          <p:nvPr/>
        </p:nvSpPr>
        <p:spPr>
          <a:xfrm xmlns:a="http://schemas.openxmlformats.org/drawingml/2006/main">
            <a:off x="12960000" y="4788000"/>
            <a:ext cx="108252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7" name="!!#s12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218" name="!!#s12-chead0"/>
          <p:cNvSpPr txBox="1"/>
          <p:nvPr/>
        </p:nvSpPr>
        <p:spPr>
          <a:xfrm xmlns:a="http://schemas.openxmlformats.org/drawingml/2006/main">
            <a:off x="936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Mergers &amp; acquisitions</a:t>
            </a:r>
          </a:p>
        </p:txBody>
      </p:sp>
      <p:sp>
        <p:nvSpPr>
          <p:cNvPr id="100219" name="!!#s12-cbody0"/>
          <p:cNvSpPr txBox="1"/>
          <p:nvPr/>
        </p:nvSpPr>
        <p:spPr>
          <a:xfrm xmlns:a="http://schemas.openxmlformats.org/drawingml/2006/main">
            <a:off x="9360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Buy-side and sell-side structuring, financial and tax due diligence, SPA schedules.</a:t>
            </a:r>
          </a:p>
        </p:txBody>
      </p:sp>
      <p:sp>
        <p:nvSpPr>
          <p:cNvPr id="100220" name="!!#s12-card1"/>
          <p:cNvSpPr/>
          <p:nvPr/>
        </p:nvSpPr>
        <p:spPr>
          <a:xfrm xmlns:a="http://schemas.openxmlformats.org/drawingml/2006/main">
            <a:off x="43992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1" name="!!#s12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222" name="!!#s12-chead1"/>
          <p:cNvSpPr txBox="1"/>
          <p:nvPr/>
        </p:nvSpPr>
        <p:spPr>
          <a:xfrm xmlns:a="http://schemas.openxmlformats.org/drawingml/2006/main">
            <a:off x="46512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Valuation</a:t>
            </a:r>
          </a:p>
        </p:txBody>
      </p:sp>
      <p:sp>
        <p:nvSpPr>
          <p:cNvPr id="100223" name="!!#s12-cbody1"/>
          <p:cNvSpPr txBox="1"/>
          <p:nvPr/>
        </p:nvSpPr>
        <p:spPr>
          <a:xfrm xmlns:a="http://schemas.openxmlformats.org/drawingml/2006/main">
            <a:off x="4651200" y="3834000"/>
            <a:ext cx="2887200" cy="159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Rule 11UA and FEMA pricing. Independent reports for funding rounds and transfers.</a:t>
            </a:r>
          </a:p>
        </p:txBody>
      </p:sp>
      <p:sp>
        <p:nvSpPr>
          <p:cNvPr id="100224" name="!!#s12-card2"/>
          <p:cNvSpPr/>
          <p:nvPr/>
        </p:nvSpPr>
        <p:spPr>
          <a:xfrm xmlns:a="http://schemas.openxmlformats.org/drawingml/2006/main">
            <a:off x="8118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25" name="!!#s12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226" name="!!#s12-chead2"/>
          <p:cNvSpPr txBox="1"/>
          <p:nvPr/>
        </p:nvSpPr>
        <p:spPr>
          <a:xfrm xmlns:a="http://schemas.openxmlformats.org/drawingml/2006/main">
            <a:off x="8370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Payroll</a:t>
            </a:r>
          </a:p>
        </p:txBody>
      </p:sp>
      <p:sp>
        <p:nvSpPr>
          <p:cNvPr id="100227" name="!!#s12-cbody2"/>
          <p:cNvSpPr txBox="1"/>
          <p:nvPr/>
        </p:nvSpPr>
        <p:spPr>
          <a:xfrm xmlns:a="http://schemas.openxmlformats.org/drawingml/2006/main">
            <a:off x="83700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CPF, IR8A and IR21 in Singapore; PF, ESI, professional tax and TDS in India.</a:t>
            </a:r>
          </a:p>
        </p:txBody>
      </p:sp>
      <p:sp>
        <p:nvSpPr>
          <p:cNvPr id="100228" name="!!#s12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229" name="!!#s12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12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15" grpId="0"/>
      <p:bldP spid="100218" grpId="1"/>
    </p:bldLst>
  </p:timing>
</p:sld>
</file>

<file path=ppt/slides/slide13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230" name="!!scene-orb-gold"/>
          <p:cNvSpPr/>
          <p:nvPr/>
        </p:nvSpPr>
        <p:spPr>
          <a:xfrm xmlns:a="http://schemas.openxmlformats.org/drawingml/2006/main">
            <a:off x="648000" y="720000"/>
            <a:ext cx="3960000" cy="396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1" name="!!scene-orb-steel"/>
          <p:cNvSpPr/>
          <p:nvPr/>
        </p:nvSpPr>
        <p:spPr>
          <a:xfrm xmlns:a="http://schemas.openxmlformats.org/drawingml/2006/main">
            <a:off x="8280000" y="306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2" name="!!scene-wash"/>
          <p:cNvSpPr/>
          <p:nvPr/>
        </p:nvSpPr>
        <p:spPr>
          <a:xfrm xmlns:a="http://schemas.openxmlformats.org/drawingml/2006/main">
            <a:off x="684000" y="2448000"/>
            <a:ext cx="5184000" cy="129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3" name="!!scene-rule-navy"/>
          <p:cNvSpPr/>
          <p:nvPr/>
        </p:nvSpPr>
        <p:spPr>
          <a:xfrm xmlns:a="http://schemas.openxmlformats.org/drawingml/2006/main">
            <a:off x="6094800" y="2448000"/>
            <a:ext cx="18000" cy="28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4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5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6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37" name="!!#s13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THE FIRM</a:t>
            </a:r>
          </a:p>
        </p:txBody>
      </p:sp>
      <p:sp>
        <p:nvSpPr>
          <p:cNvPr id="100238" name="!!#s13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team behind the work</a:t>
            </a:r>
          </a:p>
        </p:txBody>
      </p:sp>
      <p:sp>
        <p:nvSpPr>
          <p:cNvPr id="100239" name="!!#s13-eye-t0"/>
          <p:cNvSpPr txBox="1"/>
          <p:nvPr/>
        </p:nvSpPr>
        <p:spPr>
          <a:xfrm xmlns:a="http://schemas.openxmlformats.org/drawingml/2006/main">
            <a:off x="936000" y="25272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240" name="!!#s13-thead0"/>
          <p:cNvSpPr txBox="1"/>
          <p:nvPr/>
        </p:nvSpPr>
        <p:spPr>
          <a:xfrm xmlns:a="http://schemas.openxmlformats.org/drawingml/2006/main">
            <a:off x="936000" y="2736000"/>
            <a:ext cx="4680000" cy="3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5F4F2"/>
                </a:solidFill>
                <a:latin typeface="Georgia"/>
                <a:ea typeface="Georgia"/>
              </a:rPr>
              <a:t>Chartered Accountants, India</a:t>
            </a:r>
          </a:p>
        </p:txBody>
      </p:sp>
      <p:sp>
        <p:nvSpPr>
          <p:cNvPr id="100241" name="!!#s13-tbody0"/>
          <p:cNvSpPr txBox="1"/>
          <p:nvPr/>
        </p:nvSpPr>
        <p:spPr>
          <a:xfrm xmlns:a="http://schemas.openxmlformats.org/drawingml/2006/main">
            <a:off x="936000" y="3081600"/>
            <a:ext cx="46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In-house, on our own payroll. Audit, direct tax and GST.</a:t>
            </a:r>
          </a:p>
        </p:txBody>
      </p:sp>
      <p:sp>
        <p:nvSpPr>
          <p:cNvPr id="100242" name="!!#s13-cell1"/>
          <p:cNvSpPr/>
          <p:nvPr/>
        </p:nvSpPr>
        <p:spPr>
          <a:xfrm xmlns:a="http://schemas.openxmlformats.org/drawingml/2006/main">
            <a:off x="6325200" y="2448000"/>
            <a:ext cx="5184000" cy="129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3" name="!!#s13-eye-t1"/>
          <p:cNvSpPr txBox="1"/>
          <p:nvPr/>
        </p:nvSpPr>
        <p:spPr>
          <a:xfrm xmlns:a="http://schemas.openxmlformats.org/drawingml/2006/main">
            <a:off x="6577200" y="25272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244" name="!!#s13-thead1"/>
          <p:cNvSpPr txBox="1"/>
          <p:nvPr/>
        </p:nvSpPr>
        <p:spPr>
          <a:xfrm xmlns:a="http://schemas.openxmlformats.org/drawingml/2006/main">
            <a:off x="6577200" y="2736000"/>
            <a:ext cx="4680000" cy="3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5F4F2"/>
                </a:solidFill>
                <a:latin typeface="Georgia"/>
                <a:ea typeface="Georgia"/>
              </a:rPr>
              <a:t>Chartered Accountant, Singapore</a:t>
            </a:r>
          </a:p>
        </p:txBody>
      </p:sp>
      <p:sp>
        <p:nvSpPr>
          <p:cNvPr id="100245" name="!!#s13-tbody1"/>
          <p:cNvSpPr txBox="1"/>
          <p:nvPr/>
        </p:nvSpPr>
        <p:spPr>
          <a:xfrm xmlns:a="http://schemas.openxmlformats.org/drawingml/2006/main">
            <a:off x="6577200" y="3081600"/>
            <a:ext cx="46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Reviews and signs off every Singapore filing.</a:t>
            </a:r>
          </a:p>
        </p:txBody>
      </p:sp>
      <p:sp>
        <p:nvSpPr>
          <p:cNvPr id="100246" name="!!#s13-cell2"/>
          <p:cNvSpPr/>
          <p:nvPr/>
        </p:nvSpPr>
        <p:spPr>
          <a:xfrm xmlns:a="http://schemas.openxmlformats.org/drawingml/2006/main">
            <a:off x="684000" y="3996000"/>
            <a:ext cx="5184000" cy="129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7" name="!!#s13-eye-t2"/>
          <p:cNvSpPr txBox="1"/>
          <p:nvPr/>
        </p:nvSpPr>
        <p:spPr>
          <a:xfrm xmlns:a="http://schemas.openxmlformats.org/drawingml/2006/main">
            <a:off x="936000" y="40752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248" name="!!#s13-thead2"/>
          <p:cNvSpPr txBox="1"/>
          <p:nvPr/>
        </p:nvSpPr>
        <p:spPr>
          <a:xfrm xmlns:a="http://schemas.openxmlformats.org/drawingml/2006/main">
            <a:off x="936000" y="4284000"/>
            <a:ext cx="4680000" cy="3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5F4F2"/>
                </a:solidFill>
                <a:latin typeface="Georgia"/>
                <a:ea typeface="Georgia"/>
              </a:rPr>
              <a:t>Legal</a:t>
            </a:r>
          </a:p>
        </p:txBody>
      </p:sp>
      <p:sp>
        <p:nvSpPr>
          <p:cNvPr id="100249" name="!!#s13-tbody2"/>
          <p:cNvSpPr txBox="1"/>
          <p:nvPr/>
        </p:nvSpPr>
        <p:spPr>
          <a:xfrm xmlns:a="http://schemas.openxmlformats.org/drawingml/2006/main">
            <a:off x="936000" y="4629600"/>
            <a:ext cx="46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Agreements, SPAs and regulatory correspondence.</a:t>
            </a:r>
          </a:p>
        </p:txBody>
      </p:sp>
      <p:sp>
        <p:nvSpPr>
          <p:cNvPr id="100250" name="!!#s13-cell3"/>
          <p:cNvSpPr/>
          <p:nvPr/>
        </p:nvSpPr>
        <p:spPr>
          <a:xfrm xmlns:a="http://schemas.openxmlformats.org/drawingml/2006/main">
            <a:off x="6325200" y="3996000"/>
            <a:ext cx="5184000" cy="1296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1" name="!!#s13-eye-t3"/>
          <p:cNvSpPr txBox="1"/>
          <p:nvPr/>
        </p:nvSpPr>
        <p:spPr>
          <a:xfrm xmlns:a="http://schemas.openxmlformats.org/drawingml/2006/main">
            <a:off x="6577200" y="4075200"/>
            <a:ext cx="46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04</a:t>
            </a:r>
          </a:p>
        </p:txBody>
      </p:sp>
      <p:sp>
        <p:nvSpPr>
          <p:cNvPr id="100252" name="!!#s13-thead3"/>
          <p:cNvSpPr txBox="1"/>
          <p:nvPr/>
        </p:nvSpPr>
        <p:spPr>
          <a:xfrm xmlns:a="http://schemas.openxmlformats.org/drawingml/2006/main">
            <a:off x="6577200" y="4284000"/>
            <a:ext cx="4680000" cy="30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900" b="1">
                <a:solidFill>
                  <a:srgbClr val="F5F4F2"/>
                </a:solidFill>
                <a:latin typeface="Georgia"/>
                <a:ea typeface="Georgia"/>
              </a:rPr>
              <a:t>Company secretarial</a:t>
            </a:r>
          </a:p>
        </p:txBody>
      </p:sp>
      <p:sp>
        <p:nvSpPr>
          <p:cNvPr id="100253" name="!!#s13-tbody3"/>
          <p:cNvSpPr txBox="1"/>
          <p:nvPr/>
        </p:nvSpPr>
        <p:spPr>
          <a:xfrm xmlns:a="http://schemas.openxmlformats.org/drawingml/2006/main">
            <a:off x="6577200" y="4629600"/>
            <a:ext cx="46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Registers, resolutions and board filings, both jurisdictions.</a:t>
            </a:r>
          </a:p>
        </p:txBody>
      </p:sp>
      <p:sp>
        <p:nvSpPr>
          <p:cNvPr id="100254" name="!!#s13-band"/>
          <p:cNvSpPr/>
          <p:nvPr/>
        </p:nvSpPr>
        <p:spPr>
          <a:xfrm xmlns:a="http://schemas.openxmlformats.org/drawingml/2006/main">
            <a:off x="684000" y="5544000"/>
            <a:ext cx="10825200" cy="468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55" name="!!#s13-bandfig"/>
          <p:cNvSpPr txBox="1"/>
          <p:nvPr/>
        </p:nvSpPr>
        <p:spPr>
          <a:xfrm xmlns:a="http://schemas.openxmlformats.org/drawingml/2006/main">
            <a:off x="936000" y="5544000"/>
            <a:ext cx="1224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3000" b="1">
                <a:solidFill>
                  <a:srgbClr val="C9A84C"/>
                </a:solidFill>
                <a:latin typeface="Georgia"/>
                <a:ea typeface="Georgia"/>
              </a:rPr>
              <a:t>30+</a:t>
            </a:r>
          </a:p>
        </p:txBody>
      </p:sp>
      <p:sp>
        <p:nvSpPr>
          <p:cNvPr id="100256" name="!!#s13-bandtxt"/>
          <p:cNvSpPr txBox="1"/>
          <p:nvPr/>
        </p:nvSpPr>
        <p:spPr>
          <a:xfrm xmlns:a="http://schemas.openxmlformats.org/drawingml/2006/main">
            <a:off x="2232000" y="5544000"/>
            <a:ext cx="90612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people, all on one payroll. No sub-contracting.</a:t>
            </a:r>
          </a:p>
        </p:txBody>
      </p:sp>
      <p:sp>
        <p:nvSpPr>
          <p:cNvPr id="100257" name="!!#s13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258" name="!!#s13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13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38" grpId="0"/>
      <p:bldP spid="100240" grpId="1"/>
    </p:bldLst>
  </p:timing>
</p:sld>
</file>

<file path=ppt/slides/slide14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259" name="!!scene-orb-gold"/>
          <p:cNvSpPr/>
          <p:nvPr/>
        </p:nvSpPr>
        <p:spPr>
          <a:xfrm xmlns:a="http://schemas.openxmlformats.org/drawingml/2006/main">
            <a:off x="7920000" y="900000"/>
            <a:ext cx="4140000" cy="41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0" name="!!scene-orb-steel"/>
          <p:cNvSpPr/>
          <p:nvPr/>
        </p:nvSpPr>
        <p:spPr>
          <a:xfrm xmlns:a="http://schemas.openxmlformats.org/drawingml/2006/main">
            <a:off x="900000" y="3240000"/>
            <a:ext cx="3240000" cy="324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1" name="!!scene-wash"/>
          <p:cNvSpPr/>
          <p:nvPr/>
        </p:nvSpPr>
        <p:spPr>
          <a:xfrm xmlns:a="http://schemas.openxmlformats.org/drawingml/2006/main">
            <a:off x="684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2" name="!!scene-rule-navy"/>
          <p:cNvSpPr/>
          <p:nvPr/>
        </p:nvSpPr>
        <p:spPr>
          <a:xfrm xmlns:a="http://schemas.openxmlformats.org/drawingml/2006/main">
            <a:off x="11509200" y="2592000"/>
            <a:ext cx="18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3" name="!!scene-rule-gold"/>
          <p:cNvSpPr/>
          <p:nvPr/>
        </p:nvSpPr>
        <p:spPr>
          <a:xfrm xmlns:a="http://schemas.openxmlformats.org/drawingml/2006/main">
            <a:off x="684000" y="2052000"/>
            <a:ext cx="57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4" name="!!scene-dot"/>
          <p:cNvSpPr/>
          <p:nvPr/>
        </p:nvSpPr>
        <p:spPr>
          <a:xfrm xmlns:a="http://schemas.openxmlformats.org/drawingml/2006/main">
            <a:off x="6397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5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66" name="!!#s14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THE FIRM</a:t>
            </a:r>
          </a:p>
        </p:txBody>
      </p:sp>
      <p:sp>
        <p:nvSpPr>
          <p:cNvPr id="100267" name="!!#s14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Technology we build ourselves</a:t>
            </a:r>
          </a:p>
        </p:txBody>
      </p:sp>
      <p:sp>
        <p:nvSpPr>
          <p:cNvPr id="100268" name="!!#s14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269" name="!!#s14-chead0"/>
          <p:cNvSpPr txBox="1"/>
          <p:nvPr/>
        </p:nvSpPr>
        <p:spPr>
          <a:xfrm xmlns:a="http://schemas.openxmlformats.org/drawingml/2006/main">
            <a:off x="936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In-house engineering team</a:t>
            </a:r>
          </a:p>
        </p:txBody>
      </p:sp>
      <p:sp>
        <p:nvSpPr>
          <p:cNvPr id="100270" name="!!#s14-cbody0"/>
          <p:cNvSpPr txBox="1"/>
          <p:nvPr/>
        </p:nvSpPr>
        <p:spPr>
          <a:xfrm xmlns:a="http://schemas.openxmlformats.org/drawingml/2006/main">
            <a:off x="9360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Software engineers on staff, working alongside the accountants.</a:t>
            </a:r>
          </a:p>
        </p:txBody>
      </p:sp>
      <p:sp>
        <p:nvSpPr>
          <p:cNvPr id="100271" name="!!#s14-card1"/>
          <p:cNvSpPr/>
          <p:nvPr/>
        </p:nvSpPr>
        <p:spPr>
          <a:xfrm xmlns:a="http://schemas.openxmlformats.org/drawingml/2006/main">
            <a:off x="43992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2" name="!!#s14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273" name="!!#s14-chead1"/>
          <p:cNvSpPr txBox="1"/>
          <p:nvPr/>
        </p:nvSpPr>
        <p:spPr>
          <a:xfrm xmlns:a="http://schemas.openxmlformats.org/drawingml/2006/main">
            <a:off x="46512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Accounting &amp; tax CRM</a:t>
            </a:r>
          </a:p>
        </p:txBody>
      </p:sp>
      <p:sp>
        <p:nvSpPr>
          <p:cNvPr id="100274" name="!!#s14-cbody1"/>
          <p:cNvSpPr txBox="1"/>
          <p:nvPr/>
        </p:nvSpPr>
        <p:spPr>
          <a:xfrm xmlns:a="http://schemas.openxmlformats.org/drawingml/2006/main">
            <a:off x="46512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Systems built around deadlines, engagements, documents and filings.</a:t>
            </a:r>
          </a:p>
        </p:txBody>
      </p:sp>
      <p:sp>
        <p:nvSpPr>
          <p:cNvPr id="100275" name="!!#s14-card2"/>
          <p:cNvSpPr/>
          <p:nvPr/>
        </p:nvSpPr>
        <p:spPr>
          <a:xfrm xmlns:a="http://schemas.openxmlformats.org/drawingml/2006/main">
            <a:off x="8118000" y="2448000"/>
            <a:ext cx="3391200" cy="32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6" name="!!#s14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277" name="!!#s14-chead2"/>
          <p:cNvSpPr txBox="1"/>
          <p:nvPr/>
        </p:nvSpPr>
        <p:spPr>
          <a:xfrm xmlns:a="http://schemas.openxmlformats.org/drawingml/2006/main">
            <a:off x="8370000" y="3006000"/>
            <a:ext cx="2887200" cy="68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100" b="1">
                <a:solidFill>
                  <a:srgbClr val="F5F4F2"/>
                </a:solidFill>
                <a:latin typeface="Georgia"/>
                <a:ea typeface="Georgia"/>
              </a:rPr>
              <a:t>Custom finance software</a:t>
            </a:r>
          </a:p>
        </p:txBody>
      </p:sp>
      <p:sp>
        <p:nvSpPr>
          <p:cNvPr id="100278" name="!!#s14-cbody2"/>
          <p:cNvSpPr txBox="1"/>
          <p:nvPr/>
        </p:nvSpPr>
        <p:spPr>
          <a:xfrm xmlns:a="http://schemas.openxmlformats.org/drawingml/2006/main">
            <a:off x="8370000" y="3834000"/>
            <a:ext cx="2887200" cy="12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Where a finance process needs a tool that does not exist, we build it.</a:t>
            </a:r>
          </a:p>
        </p:txBody>
      </p:sp>
      <p:sp>
        <p:nvSpPr>
          <p:cNvPr id="100279" name="!!#s14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280" name="!!#s14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14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67" grpId="0"/>
      <p:bldP spid="100269" grpId="1"/>
    </p:bldLst>
  </p:timing>
</p:sld>
</file>

<file path=ppt/slides/slide15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281" name="!!scene-orb-gold"/>
          <p:cNvSpPr/>
          <p:nvPr/>
        </p:nvSpPr>
        <p:spPr>
          <a:xfrm xmlns:a="http://schemas.openxmlformats.org/drawingml/2006/main">
            <a:off x="1080000" y="2340000"/>
            <a:ext cx="4320000" cy="43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2" name="!!scene-orb-steel"/>
          <p:cNvSpPr/>
          <p:nvPr/>
        </p:nvSpPr>
        <p:spPr>
          <a:xfrm xmlns:a="http://schemas.openxmlformats.org/drawingml/2006/main">
            <a:off x="7740000" y="72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3" name="!!scene-wash"/>
          <p:cNvSpPr/>
          <p:nvPr/>
        </p:nvSpPr>
        <p:spPr>
          <a:xfrm xmlns:a="http://schemas.openxmlformats.org/drawingml/2006/main">
            <a:off x="684000" y="3672000"/>
            <a:ext cx="2462400" cy="13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4" name="!!scene-rule-navy"/>
          <p:cNvSpPr/>
          <p:nvPr/>
        </p:nvSpPr>
        <p:spPr>
          <a:xfrm xmlns:a="http://schemas.openxmlformats.org/drawingml/2006/main">
            <a:off x="11509200" y="2304000"/>
            <a:ext cx="18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5" name="!!scene-rule-gold"/>
          <p:cNvSpPr/>
          <p:nvPr/>
        </p:nvSpPr>
        <p:spPr>
          <a:xfrm xmlns:a="http://schemas.openxmlformats.org/drawingml/2006/main">
            <a:off x="684000" y="2052000"/>
            <a:ext cx="10825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6" name="!!scene-dot"/>
          <p:cNvSpPr/>
          <p:nvPr/>
        </p:nvSpPr>
        <p:spPr>
          <a:xfrm xmlns:a="http://schemas.openxmlformats.org/drawingml/2006/main">
            <a:off x="114624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7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8" name="!!#s15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THE FIRM</a:t>
            </a:r>
          </a:p>
        </p:txBody>
      </p:sp>
      <p:sp>
        <p:nvSpPr>
          <p:cNvPr id="100289" name="!!#s15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The partners</a:t>
            </a:r>
          </a:p>
        </p:txBody>
      </p:sp>
      <p:sp>
        <p:nvSpPr>
          <p:cNvPr id="100290" name="!!#s15-pull"/>
          <p:cNvSpPr txBox="1"/>
          <p:nvPr/>
        </p:nvSpPr>
        <p:spPr>
          <a:xfrm xmlns:a="http://schemas.openxmlformats.org/drawingml/2006/main">
            <a:off x="684000" y="2304000"/>
            <a:ext cx="93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2400">
                <a:solidFill>
                  <a:srgbClr val="F5F4F2"/>
                </a:solidFill>
                <a:latin typeface="Georgia"/>
                <a:ea typeface="Georgia"/>
              </a:rPr>
              <a:t>Every engagement is scoped and reviewed by a partner, not handed to an account manager.</a:t>
            </a:r>
          </a:p>
        </p:txBody>
      </p:sp>
      <p:sp>
        <p:nvSpPr>
          <p:cNvPr id="100291" name="!!#s15-pdiv"/>
          <p:cNvSpPr/>
          <p:nvPr/>
        </p:nvSpPr>
        <p:spPr>
          <a:xfrm xmlns:a="http://schemas.openxmlformats.org/drawingml/2006/main">
            <a:off x="684000" y="3456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2" name="!!#s15-eye-pr0"/>
          <p:cNvSpPr txBox="1"/>
          <p:nvPr/>
        </p:nvSpPr>
        <p:spPr>
          <a:xfrm xmlns:a="http://schemas.openxmlformats.org/drawingml/2006/main">
            <a:off x="936000" y="3870000"/>
            <a:ext cx="1958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MANAGING PARTNER</a:t>
            </a:r>
          </a:p>
        </p:txBody>
      </p:sp>
      <p:sp>
        <p:nvSpPr>
          <p:cNvPr id="100293" name="!!#s15-pname0"/>
          <p:cNvSpPr txBox="1"/>
          <p:nvPr/>
        </p:nvSpPr>
        <p:spPr>
          <a:xfrm xmlns:a="http://schemas.openxmlformats.org/drawingml/2006/main">
            <a:off x="936000" y="4158000"/>
            <a:ext cx="19584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600" b="1">
                <a:solidFill>
                  <a:srgbClr val="F5F4F2"/>
                </a:solidFill>
                <a:latin typeface="Georgia"/>
                <a:ea typeface="Georgia"/>
              </a:rPr>
              <a:t>HK Vinay</a:t>
            </a:r>
          </a:p>
        </p:txBody>
      </p:sp>
      <p:sp>
        <p:nvSpPr>
          <p:cNvPr id="100294" name="!!#s15-ptick0"/>
          <p:cNvSpPr/>
          <p:nvPr/>
        </p:nvSpPr>
        <p:spPr>
          <a:xfrm xmlns:a="http://schemas.openxmlformats.org/drawingml/2006/main">
            <a:off x="936000" y="4770000"/>
            <a:ext cx="50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5" name="!!#s15-pcard1"/>
          <p:cNvSpPr/>
          <p:nvPr/>
        </p:nvSpPr>
        <p:spPr>
          <a:xfrm xmlns:a="http://schemas.openxmlformats.org/drawingml/2006/main">
            <a:off x="3470400" y="3672000"/>
            <a:ext cx="2462400" cy="13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6" name="!!#s15-eye-pr1"/>
          <p:cNvSpPr txBox="1"/>
          <p:nvPr/>
        </p:nvSpPr>
        <p:spPr>
          <a:xfrm xmlns:a="http://schemas.openxmlformats.org/drawingml/2006/main">
            <a:off x="3722400" y="3870000"/>
            <a:ext cx="1958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PARTNER</a:t>
            </a:r>
          </a:p>
        </p:txBody>
      </p:sp>
      <p:sp>
        <p:nvSpPr>
          <p:cNvPr id="100297" name="!!#s15-pname1"/>
          <p:cNvSpPr txBox="1"/>
          <p:nvPr/>
        </p:nvSpPr>
        <p:spPr>
          <a:xfrm xmlns:a="http://schemas.openxmlformats.org/drawingml/2006/main">
            <a:off x="3722400" y="4158000"/>
            <a:ext cx="19584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600" b="1">
                <a:solidFill>
                  <a:srgbClr val="F5F4F2"/>
                </a:solidFill>
                <a:latin typeface="Georgia"/>
                <a:ea typeface="Georgia"/>
              </a:rPr>
              <a:t>Shabari</a:t>
            </a:r>
          </a:p>
        </p:txBody>
      </p:sp>
      <p:sp>
        <p:nvSpPr>
          <p:cNvPr id="100298" name="!!#s15-ptick1"/>
          <p:cNvSpPr/>
          <p:nvPr/>
        </p:nvSpPr>
        <p:spPr>
          <a:xfrm xmlns:a="http://schemas.openxmlformats.org/drawingml/2006/main">
            <a:off x="3722400" y="4770000"/>
            <a:ext cx="50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99" name="!!#s15-pcard2"/>
          <p:cNvSpPr/>
          <p:nvPr/>
        </p:nvSpPr>
        <p:spPr>
          <a:xfrm xmlns:a="http://schemas.openxmlformats.org/drawingml/2006/main">
            <a:off x="6256800" y="3672000"/>
            <a:ext cx="2462400" cy="13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0" name="!!#s15-eye-pr2"/>
          <p:cNvSpPr txBox="1"/>
          <p:nvPr/>
        </p:nvSpPr>
        <p:spPr>
          <a:xfrm xmlns:a="http://schemas.openxmlformats.org/drawingml/2006/main">
            <a:off x="6508800" y="3870000"/>
            <a:ext cx="1958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PARTNER</a:t>
            </a:r>
          </a:p>
        </p:txBody>
      </p:sp>
      <p:sp>
        <p:nvSpPr>
          <p:cNvPr id="100301" name="!!#s15-pname2"/>
          <p:cNvSpPr txBox="1"/>
          <p:nvPr/>
        </p:nvSpPr>
        <p:spPr>
          <a:xfrm xmlns:a="http://schemas.openxmlformats.org/drawingml/2006/main">
            <a:off x="6508800" y="4158000"/>
            <a:ext cx="19584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600" b="1">
                <a:solidFill>
                  <a:srgbClr val="F5F4F2"/>
                </a:solidFill>
                <a:latin typeface="Georgia"/>
                <a:ea typeface="Georgia"/>
              </a:rPr>
              <a:t>Akshay</a:t>
            </a:r>
          </a:p>
        </p:txBody>
      </p:sp>
      <p:sp>
        <p:nvSpPr>
          <p:cNvPr id="100302" name="!!#s15-ptick2"/>
          <p:cNvSpPr/>
          <p:nvPr/>
        </p:nvSpPr>
        <p:spPr>
          <a:xfrm xmlns:a="http://schemas.openxmlformats.org/drawingml/2006/main">
            <a:off x="6508800" y="4770000"/>
            <a:ext cx="50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3" name="!!#s15-pcard3"/>
          <p:cNvSpPr/>
          <p:nvPr/>
        </p:nvSpPr>
        <p:spPr>
          <a:xfrm xmlns:a="http://schemas.openxmlformats.org/drawingml/2006/main">
            <a:off x="9046800" y="3672000"/>
            <a:ext cx="2462400" cy="13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4" name="!!#s15-eye-pr3"/>
          <p:cNvSpPr txBox="1"/>
          <p:nvPr/>
        </p:nvSpPr>
        <p:spPr>
          <a:xfrm xmlns:a="http://schemas.openxmlformats.org/drawingml/2006/main">
            <a:off x="9298800" y="3870000"/>
            <a:ext cx="19584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PARTNER</a:t>
            </a:r>
          </a:p>
        </p:txBody>
      </p:sp>
      <p:sp>
        <p:nvSpPr>
          <p:cNvPr id="100305" name="!!#s15-pname3"/>
          <p:cNvSpPr txBox="1"/>
          <p:nvPr/>
        </p:nvSpPr>
        <p:spPr>
          <a:xfrm xmlns:a="http://schemas.openxmlformats.org/drawingml/2006/main">
            <a:off x="9298800" y="4158000"/>
            <a:ext cx="19584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2600" b="1">
                <a:solidFill>
                  <a:srgbClr val="F5F4F2"/>
                </a:solidFill>
                <a:latin typeface="Georgia"/>
                <a:ea typeface="Georgia"/>
              </a:rPr>
              <a:t>Vagdev</a:t>
            </a:r>
          </a:p>
        </p:txBody>
      </p:sp>
      <p:sp>
        <p:nvSpPr>
          <p:cNvPr id="100306" name="!!#s15-ptick3"/>
          <p:cNvSpPr/>
          <p:nvPr/>
        </p:nvSpPr>
        <p:spPr>
          <a:xfrm xmlns:a="http://schemas.openxmlformats.org/drawingml/2006/main">
            <a:off x="9298800" y="4770000"/>
            <a:ext cx="504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7" name="!!#s15-band"/>
          <p:cNvSpPr/>
          <p:nvPr/>
        </p:nvSpPr>
        <p:spPr>
          <a:xfrm xmlns:a="http://schemas.openxmlformats.org/drawingml/2006/main">
            <a:off x="684000" y="5364000"/>
            <a:ext cx="10825200" cy="504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08" name="!!#s15-bandtxt"/>
          <p:cNvSpPr txBox="1"/>
          <p:nvPr/>
        </p:nvSpPr>
        <p:spPr>
          <a:xfrm xmlns:a="http://schemas.openxmlformats.org/drawingml/2006/main">
            <a:off x="936000" y="5364000"/>
            <a:ext cx="103212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Ten years in practice  ·  500+ clients advised  ·  Bangalore and Chennai</a:t>
            </a:r>
          </a:p>
        </p:txBody>
      </p:sp>
      <p:sp>
        <p:nvSpPr>
          <p:cNvPr id="100309" name="!!#s15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310" name="!!#s15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15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289" grpId="0"/>
      <p:bldP spid="100290" grpId="1"/>
    </p:bldLst>
  </p:timing>
</p:sld>
</file>

<file path=ppt/slides/slide16.xml><?xml version="1.0" encoding="utf-8"?>
<p:sld xmlns:p159="http://schemas.microsoft.com/office/powerpoint/2015/09/main" xmlns:mc="http://schemas.openxmlformats.org/markup-compatibility/2006" xmlns:p14="http://schemas.microsoft.com/office/powerpoint/2010/main" xmlns:p="http://schemas.openxmlformats.org/presentationml/2006/main" mc:Ignorable="p159">
  <p:cSld>
    <p:bg>
      <p:bgPr>
        <a:solidFill xmlns:a="http://schemas.openxmlformats.org/drawingml/2006/main">
          <a:srgbClr val="0E1B2F"/>
        </a:solidFill>
      </p:bgPr>
    </p:bg>
    <p:spTree>
      <p:nvGrpSpPr>
        <p:cNvPr id="1" name=""/>
        <p:cNvGrpSpPr/>
        <p:nvPr/>
      </p:nvGrpSpPr>
      <p:grpSpPr/>
      <p:sp>
        <p:nvSpPr>
          <p:cNvPr id="100311" name="!!scene-orb-gold"/>
          <p:cNvSpPr/>
          <p:nvPr/>
        </p:nvSpPr>
        <p:spPr>
          <a:xfrm xmlns:a="http://schemas.openxmlformats.org/drawingml/2006/main">
            <a:off x="7560000" y="540000"/>
            <a:ext cx="4320000" cy="43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E2B45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2" name="!!scene-orb-steel"/>
          <p:cNvSpPr/>
          <p:nvPr/>
        </p:nvSpPr>
        <p:spPr>
          <a:xfrm xmlns:a="http://schemas.openxmlformats.org/drawingml/2006/main">
            <a:off x="1080000" y="2880000"/>
            <a:ext cx="3420000" cy="3420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1B2740"/>
              </a:gs>
              <a:gs pos="100000">
                <a:srgbClr val="0E1B2F"/>
              </a:gs>
            </a:gsLst>
            <a:path path="circle">
              <a:fillToRect l="50000" t="50000" r="50000" b="50000"/>
            </a:path>
          </a:gra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3" name="!!scene-wash"/>
          <p:cNvSpPr/>
          <p:nvPr/>
        </p:nvSpPr>
        <p:spPr>
          <a:xfrm xmlns:a="http://schemas.openxmlformats.org/drawingml/2006/main">
            <a:off x="684000" y="2448000"/>
            <a:ext cx="3391200" cy="22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4" name="!!scene-rule-navy"/>
          <p:cNvSpPr/>
          <p:nvPr/>
        </p:nvSpPr>
        <p:spPr>
          <a:xfrm xmlns:a="http://schemas.openxmlformats.org/drawingml/2006/main">
            <a:off x="11509200" y="5148000"/>
            <a:ext cx="18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5" name="!!scene-rule-gold"/>
          <p:cNvSpPr/>
          <p:nvPr/>
        </p:nvSpPr>
        <p:spPr>
          <a:xfrm xmlns:a="http://schemas.openxmlformats.org/drawingml/2006/main">
            <a:off x="684000" y="2052000"/>
            <a:ext cx="720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6" name="!!scene-dot"/>
          <p:cNvSpPr/>
          <p:nvPr/>
        </p:nvSpPr>
        <p:spPr>
          <a:xfrm xmlns:a="http://schemas.openxmlformats.org/drawingml/2006/main">
            <a:off x="7837200" y="2016000"/>
            <a:ext cx="93600" cy="93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7" name="!!scene-footrule"/>
          <p:cNvSpPr/>
          <p:nvPr/>
        </p:nvSpPr>
        <p:spPr>
          <a:xfrm xmlns:a="http://schemas.openxmlformats.org/drawingml/2006/main">
            <a:off x="684000" y="6138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8" name="!!#s16-eye-sec"/>
          <p:cNvSpPr txBox="1"/>
          <p:nvPr/>
        </p:nvSpPr>
        <p:spPr>
          <a:xfrm xmlns:a="http://schemas.openxmlformats.org/drawingml/2006/main">
            <a:off x="684000" y="684000"/>
            <a:ext cx="10825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NEXT</a:t>
            </a:r>
          </a:p>
        </p:txBody>
      </p:sp>
      <p:sp>
        <p:nvSpPr>
          <p:cNvPr id="100319" name="!!#s16-title"/>
          <p:cNvSpPr txBox="1"/>
          <p:nvPr/>
        </p:nvSpPr>
        <p:spPr>
          <a:xfrm xmlns:a="http://schemas.openxmlformats.org/drawingml/2006/main">
            <a:off x="684000" y="1062000"/>
            <a:ext cx="108252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5F4F2"/>
                </a:solidFill>
                <a:latin typeface="Georgia"/>
                <a:ea typeface="Georgia"/>
              </a:rPr>
              <a:t>Next steps</a:t>
            </a:r>
          </a:p>
        </p:txBody>
      </p:sp>
      <p:sp>
        <p:nvSpPr>
          <p:cNvPr id="100320" name="!!#s16-eye-c0"/>
          <p:cNvSpPr txBox="1"/>
          <p:nvPr/>
        </p:nvSpPr>
        <p:spPr>
          <a:xfrm xmlns:a="http://schemas.openxmlformats.org/drawingml/2006/main">
            <a:off x="936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id="100321" name="!!#s16-chead0"/>
          <p:cNvSpPr txBox="1"/>
          <p:nvPr/>
        </p:nvSpPr>
        <p:spPr>
          <a:xfrm xmlns:a="http://schemas.openxmlformats.org/drawingml/2006/main">
            <a:off x="936000" y="3006000"/>
            <a:ext cx="2887200" cy="6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A scoping call</a:t>
            </a:r>
          </a:p>
        </p:txBody>
      </p:sp>
      <p:sp>
        <p:nvSpPr>
          <p:cNvPr id="100322" name="!!#s16-cbody0"/>
          <p:cNvSpPr txBox="1"/>
          <p:nvPr/>
        </p:nvSpPr>
        <p:spPr>
          <a:xfrm xmlns:a="http://schemas.openxmlformats.org/drawingml/2006/main">
            <a:off x="936000" y="3801600"/>
            <a:ext cx="2887200" cy="6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Thirty minutes on your close calendar.</a:t>
            </a:r>
          </a:p>
        </p:txBody>
      </p:sp>
      <p:sp>
        <p:nvSpPr>
          <p:cNvPr id="100323" name="!!#s16-card1"/>
          <p:cNvSpPr/>
          <p:nvPr/>
        </p:nvSpPr>
        <p:spPr>
          <a:xfrm xmlns:a="http://schemas.openxmlformats.org/drawingml/2006/main">
            <a:off x="4399200" y="2448000"/>
            <a:ext cx="3391200" cy="22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4" name="!!#s16-eye-c1"/>
          <p:cNvSpPr txBox="1"/>
          <p:nvPr/>
        </p:nvSpPr>
        <p:spPr>
          <a:xfrm xmlns:a="http://schemas.openxmlformats.org/drawingml/2006/main">
            <a:off x="46512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id="100325" name="!!#s16-chead1"/>
          <p:cNvSpPr txBox="1"/>
          <p:nvPr/>
        </p:nvSpPr>
        <p:spPr>
          <a:xfrm xmlns:a="http://schemas.openxmlformats.org/drawingml/2006/main">
            <a:off x="4651200" y="3006000"/>
            <a:ext cx="2887200" cy="6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Scope and fee in writing</a:t>
            </a:r>
          </a:p>
        </p:txBody>
      </p:sp>
      <p:sp>
        <p:nvSpPr>
          <p:cNvPr id="100326" name="!!#s16-cbody1"/>
          <p:cNvSpPr txBox="1"/>
          <p:nvPr/>
        </p:nvSpPr>
        <p:spPr>
          <a:xfrm xmlns:a="http://schemas.openxmlformats.org/drawingml/2006/main">
            <a:off x="4651200" y="3801600"/>
            <a:ext cx="2887200" cy="6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What we run, and what it costs.</a:t>
            </a:r>
          </a:p>
        </p:txBody>
      </p:sp>
      <p:sp>
        <p:nvSpPr>
          <p:cNvPr id="100327" name="!!#s16-card2"/>
          <p:cNvSpPr/>
          <p:nvPr/>
        </p:nvSpPr>
        <p:spPr>
          <a:xfrm xmlns:a="http://schemas.openxmlformats.org/drawingml/2006/main">
            <a:off x="8118000" y="2448000"/>
            <a:ext cx="3391200" cy="2232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23250">
              <a:alpha val="55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28" name="!!#s16-eye-c2"/>
          <p:cNvSpPr txBox="1"/>
          <p:nvPr/>
        </p:nvSpPr>
        <p:spPr>
          <a:xfrm xmlns:a="http://schemas.openxmlformats.org/drawingml/2006/main">
            <a:off x="8370000" y="2664000"/>
            <a:ext cx="2887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id="100329" name="!!#s16-chead2"/>
          <p:cNvSpPr txBox="1"/>
          <p:nvPr/>
        </p:nvSpPr>
        <p:spPr>
          <a:xfrm xmlns:a="http://schemas.openxmlformats.org/drawingml/2006/main">
            <a:off x="8370000" y="3006000"/>
            <a:ext cx="2887200" cy="6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</a:pPr>
            <a:r>
              <a:rPr lang="en-US" sz="2000" b="1">
                <a:solidFill>
                  <a:srgbClr val="F5F4F2"/>
                </a:solidFill>
                <a:latin typeface="Georgia"/>
                <a:ea typeface="Georgia"/>
              </a:rPr>
              <a:t>Transition</a:t>
            </a:r>
          </a:p>
        </p:txBody>
      </p:sp>
      <p:sp>
        <p:nvSpPr>
          <p:cNvPr id="100330" name="!!#s16-cbody2"/>
          <p:cNvSpPr txBox="1"/>
          <p:nvPr/>
        </p:nvSpPr>
        <p:spPr>
          <a:xfrm xmlns:a="http://schemas.openxmlformats.org/drawingml/2006/main">
            <a:off x="8370000" y="3801600"/>
            <a:ext cx="2887200" cy="6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800">
                <a:solidFill>
                  <a:srgbClr val="8A9BBF"/>
                </a:solidFill>
                <a:latin typeface="Arial"/>
                <a:ea typeface="Arial"/>
              </a:rPr>
              <a:t>We run the first close alongside yours.</a:t>
            </a:r>
          </a:p>
        </p:txBody>
      </p:sp>
      <p:sp>
        <p:nvSpPr>
          <p:cNvPr id="100331" name="!!#s16-ctdiv"/>
          <p:cNvSpPr/>
          <p:nvPr/>
        </p:nvSpPr>
        <p:spPr>
          <a:xfrm xmlns:a="http://schemas.openxmlformats.org/drawingml/2006/main">
            <a:off x="684000" y="4932000"/>
            <a:ext cx="108252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7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32" name="!!#s16-eye-ct0"/>
          <p:cNvSpPr txBox="1"/>
          <p:nvPr/>
        </p:nvSpPr>
        <p:spPr>
          <a:xfrm xmlns:a="http://schemas.openxmlformats.org/drawingml/2006/main">
            <a:off x="684000" y="5094000"/>
            <a:ext cx="27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OFFICES</a:t>
            </a:r>
          </a:p>
        </p:txBody>
      </p:sp>
      <p:sp>
        <p:nvSpPr>
          <p:cNvPr id="100333" name="!!#s16-contact0"/>
          <p:cNvSpPr txBox="1"/>
          <p:nvPr/>
        </p:nvSpPr>
        <p:spPr>
          <a:xfrm xmlns:a="http://schemas.openxmlformats.org/drawingml/2006/main">
            <a:off x="684000" y="5364000"/>
            <a:ext cx="270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>
                <a:solidFill>
                  <a:srgbClr val="8A9BBF"/>
                </a:solidFill>
                <a:latin typeface="Arial"/>
                <a:ea typeface="Arial"/>
              </a:rPr>
              <a:t>Bangalore · Chennai</a:t>
            </a:r>
          </a:p>
        </p:txBody>
      </p:sp>
      <p:sp>
        <p:nvSpPr>
          <p:cNvPr id="100334" name="!!#s16-eye-ct1"/>
          <p:cNvSpPr txBox="1"/>
          <p:nvPr/>
        </p:nvSpPr>
        <p:spPr>
          <a:xfrm xmlns:a="http://schemas.openxmlformats.org/drawingml/2006/main">
            <a:off x="3672000" y="5094000"/>
            <a:ext cx="27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TELEPHONE</a:t>
            </a:r>
          </a:p>
        </p:txBody>
      </p:sp>
      <p:sp>
        <p:nvSpPr>
          <p:cNvPr id="100335" name="!!#s16-contact1"/>
          <p:cNvSpPr txBox="1"/>
          <p:nvPr/>
        </p:nvSpPr>
        <p:spPr>
          <a:xfrm xmlns:a="http://schemas.openxmlformats.org/drawingml/2006/main">
            <a:off x="3672000" y="5364000"/>
            <a:ext cx="270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>
                <a:solidFill>
                  <a:srgbClr val="8A9BBF"/>
                </a:solidFill>
                <a:latin typeface="Arial"/>
                <a:ea typeface="Arial"/>
              </a:rPr>
              <a:t>+91 9590360434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>
                <a:solidFill>
                  <a:srgbClr val="8A9BBF"/>
                </a:solidFill>
                <a:latin typeface="Arial"/>
                <a:ea typeface="Arial"/>
              </a:rPr>
              <a:t>+91 9740540239</a:t>
            </a:r>
          </a:p>
        </p:txBody>
      </p:sp>
      <p:sp>
        <p:nvSpPr>
          <p:cNvPr id="100336" name="!!#s16-eye-ct2"/>
          <p:cNvSpPr txBox="1"/>
          <p:nvPr/>
        </p:nvSpPr>
        <p:spPr>
          <a:xfrm xmlns:a="http://schemas.openxmlformats.org/drawingml/2006/main">
            <a:off x="6696000" y="5094000"/>
            <a:ext cx="48132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/>
            <a:r>
              <a:rPr lang="en-US" sz="1050" b="1" spc="220">
                <a:solidFill>
                  <a:srgbClr val="C9A84C"/>
                </a:solidFill>
                <a:latin typeface="Arial"/>
                <a:ea typeface="Arial"/>
              </a:rPr>
              <a:t>EMAIL</a:t>
            </a:r>
          </a:p>
        </p:txBody>
      </p:sp>
      <p:sp>
        <p:nvSpPr>
          <p:cNvPr id="100337" name="!!#s16-contact2"/>
          <p:cNvSpPr txBox="1"/>
          <p:nvPr/>
        </p:nvSpPr>
        <p:spPr>
          <a:xfrm xmlns:a="http://schemas.openxmlformats.org/drawingml/2006/main">
            <a:off x="6696000" y="5364000"/>
            <a:ext cx="48132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>
                <a:solidFill>
                  <a:srgbClr val="8A9BBF"/>
                </a:solidFill>
                <a:latin typeface="Arial"/>
                <a:ea typeface="Arial"/>
              </a:rPr>
              <a:t>cavinaykarlagere@twchartered.com</a:t>
            </a:r>
          </a:p>
          <a:p xmlns:a="http://schemas.openxmlformats.org/drawingml/2006/main">
            <a:pPr algn="l">
              <a:lnSpc>
                <a:spcPct val="115000"/>
              </a:lnSpc>
            </a:pPr>
            <a:r>
              <a:rPr lang="en-US" sz="1500">
                <a:solidFill>
                  <a:srgbClr val="8A9BBF"/>
                </a:solidFill>
                <a:latin typeface="Arial"/>
                <a:ea typeface="Arial"/>
              </a:rPr>
              <a:t>twchartered.com</a:t>
            </a:r>
          </a:p>
        </p:txBody>
      </p:sp>
      <p:sp>
        <p:nvSpPr>
          <p:cNvPr id="100338" name="!!#s16-foot"/>
          <p:cNvSpPr txBox="1"/>
          <p:nvPr/>
        </p:nvSpPr>
        <p:spPr>
          <a:xfrm xmlns:a="http://schemas.openxmlformats.org/drawingml/2006/main">
            <a:off x="684000" y="6246000"/>
            <a:ext cx="72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TaxWise Consultants  ·  Singapore Practice</a:t>
            </a:r>
          </a:p>
        </p:txBody>
      </p:sp>
      <p:sp>
        <p:nvSpPr>
          <p:cNvPr id="100339" name="!!#s16-pageno"/>
          <p:cNvSpPr txBox="1"/>
          <p:nvPr/>
        </p:nvSpPr>
        <p:spPr>
          <a:xfrm xmlns:a="http://schemas.openxmlformats.org/drawingml/2006/main">
            <a:off x="9709200" y="6246000"/>
            <a:ext cx="1800000" cy="19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00" spc="140">
                <a:solidFill>
                  <a:srgbClr val="8A9BBF"/>
                </a:solidFill>
                <a:latin typeface="Arial"/>
                <a:ea typeface="Arial"/>
              </a:rPr>
              <a:t>16</a:t>
            </a:r>
          </a:p>
        </p:txBody>
      </p:sp>
    </p:spTree>
  </p:cSld>
  <mc:AlternateContent>
    <mc:Choice Requires="p159">
      <p:transition xmlns:p159="http://schemas.microsoft.com/office/powerpoint/2015/09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00"/>
                                        <p:tgtEl>
                                          <p:spTgt spid="100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00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19" grpId="0"/>
      <p:bldP spid="100321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2026-10-24T04:56:49Z</dcterms:created>
  <cp:lastModifiedBy>OfficeCLI</cp:lastModifiedBy>
  <dcterms:modified xsi:type="dcterms:W3CDTF">2026-10-24T04:56:49Z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2026-10-24T04:58:00Z</vt:lpwstr>
  </op:property>
</op:Properties>
</file>